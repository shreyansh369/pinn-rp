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B2-E01_RESULTS.csv (omega_d 129.32 rad/s, full_window_cycles 20.58); B2-E05.md (zeta = gamma/2 = 3.54).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configs/frozen/batch1_hard_tanh2.yaml batch1_result. The number of Batch-1 runs is not stated in the listed sources and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B2-E01_SEED_REPLICATION.md, B2-E02_REPORT.md, B2-E03_REPORT.md, B2-E03_RESULTS.csv. Network capacity: no Batch-2 test in the listed sources, so it is not listed.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B2-E02_RESULTS.csv, B2-E02T_RESULTS.csv, B2-E02_REPORT.md.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B2-E04_REPORT.md; B2-E04/units/FF_b1-640k_s1234.json (rho_nonfund 1.14e-6) and .npz (A_t, A_a, A_a1ex).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B2-E01S_SEED_RESULTS / B2-E01_SEED_REPLICATION.md, B2-E02_RESULTS.csv, B2-E03_RESULTS.csv (fit_decay, seed 1234). Law: sprint/SPRINT_24H_v2_CLAUDE_CODE.md section 0 (proposed, not validated).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sprint/SPRINT_24H_v2_CLAUDE_CODE.md section 1; sprint/exploratory_runs_2026-10-09.csv. Scratch runs, not results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docs/hypotheses/B2-E05.md section 1 (a-priori table); results_batch2/runs/B2-E05-W1000-s1234/results_row.csv; sprint/STATUS.md (W1000 predicted 6.29).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60520"/>
            <a:ext cx="1463040" cy="7315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Archivo"/>
              </a:rPr>
              <a:t>PINN optimisation for damped structural vibration: findings and path to railway predictive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34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869FB2"/>
                </a:solidFill>
                <a:latin typeface="Manrope"/>
              </a:rPr>
              <a:t>Shreyansh  ·  supervisor progress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One objective, three papers: understand PINN failure on a controlled beam, then transfer to railways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2064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Paper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Scope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Status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P1  PINN optimisation (beam)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Why long-window damped-vibration PINNs fail; window law + reference-free rule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Diagnostics done (E01–E04); window sweep paused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P2  Railway transfer + Physics Reference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Verification-labelled physics references for railway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Not started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P3  Railway application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Predictive maintenance use case (axle / bearing / wheel)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Not started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869FB2"/>
                </a:solidFill>
                <a:latin typeface="Manrope"/>
              </a:rPr>
              <a:t>No railway claim is made yet: all evidence so far is on the beam benchmark.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BENCHMARK FE-D-M1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Benchmark: a damped fixed-fixed Euler–Bernoulli beam with an exact analytical solution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7772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Quantity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Value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Boundary conditions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fixed-fixed, mode 1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Damped frequency ω_d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129.32 rad/s (20.58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Window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 s = 20.58 cycles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Exact decay rate 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3.54 1/s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Reference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analytical modal solution (exact)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Success =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full-window persistence (20.58 cycles) + correct decay + low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BATCH 1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Batch 1's best configuration (B1) reproduces the frequency but over-damps and collapses at 8.1 of 20.6 cycles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3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B1 = hard IC/BC + tanh²(ω₁t) + D4 Fourier + exp-decay LR + mini-batch 128 (Z4-20K)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Value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Training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20,000 steps, 2.56M PDE evaluations, 2,290 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L2 (exact)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0.263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Fitted frequency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129.2 rad/s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0.393 s = 8.1 of 20.6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Decay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5.40 vs 3.54 1/s (over-damped)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FAIL: no validated optimised 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HYPOTHESES ELIMINATED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Five candidate explanations were tested at matched compute and eliminated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743200"/>
                <a:gridCol w="402336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chivo"/>
                        </a:rPr>
                        <a:t>Hypothesis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chivo"/>
                        </a:rPr>
                        <a:t>Test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chivo"/>
                        </a:rPr>
                        <a:t>Key number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chivo"/>
                        </a:rPr>
                        <a:t>Verdict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Floating-point precision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FP64 control (E01)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identical L2 0.526 / 0.549 / 0.402 in 3 seeds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not material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4th-order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mixed form, order 2 (E01)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persistence 1.67–2.13 vs B1 3.11–5.10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cheaper, not 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Collocation coverage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resampling / 4× reservoir (E03)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H1 supported in 1/3 seeds only; 4X leaves front stalled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insufficient (CASE D)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Optimiser: full-batch Adam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ADAM-FULL (E03)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H2 falsified 0/3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eliminated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L-BFGS on the full field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Adam→L-BFGS transfer (E02)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worse than B1 in 3/3; L2 ×1.28–1.54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E2A47"/>
                          </a:solidFill>
                          <a:latin typeface="Manrope"/>
                        </a:rPr>
                        <a:t>eliminated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OPTIMISER REVERSAL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The same optimiser solves the modal problem but fails on the full field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3108960"/>
                <a:gridCol w="33832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Seed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Modal Adam→L-BFGS: cycles / L2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Full-field B1: cycles / L2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Full-field Adam→L-BFGS: cycles / L2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1234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20.58 / 0.038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3.15 / 0.526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1.60 / 0.671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20.58 / 0.071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3.11 / 0.549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0.72 / 0.843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1236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20.58 / 0.093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5.10 / 0.402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2.53 / 0.578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•  Modal: full window (20.58 cycles) in 3/3 seeds — but the exact mode shape is supplied (diagnostic, not a method).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•  Full field: worse than B1 in 3/3 seeds (persistence −1.6 to −2.6 cycles).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•  Decision E: the improvement exists only in the modal diagnostic.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B2-E04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Collapse is a loss of first-mode amplitude; no candidate diagnostic leads it (CASE F)</a:t>
            </a:r>
          </a:p>
        </p:txBody>
      </p:sp>
      <p:pic>
        <p:nvPicPr>
          <p:cNvPr id="5" name="Picture 4" descr="c_mode1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5120640" cy="3348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•  Residual energy outside mode 1: 1.1·10⁻⁶ (B1, 640k, seed 1234); higher modes ≤ 5·10⁻⁵ of exact energy in all runs.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•  Collapse = a₁(t) → 0, not growth of higher modes.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•  Spatial/temporal gradient ratio: 1.6–3.4·10⁴ at init, 0.87–2.0 after training (no late imbalance).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•  Verdict: CASE F — no clear mechanism among A–D (B partial, not discriminating).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Every failing arm decays too fast: artificial damping is the common symptom</a:t>
            </a:r>
          </a:p>
        </p:txBody>
      </p:sp>
      <p:pic>
        <p:nvPicPr>
          <p:cNvPr id="5" name="Picture 4" descr="a_decay_per_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6949440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8288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Proposed damping-bias law (long windows):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λ* = √(ζ² + (R / 2ω)²)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R = unresolved residual per unit amplitude [s⁻²], measurable without the reference.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Only the modal L-BFGS arm (3.70) is near the exact 3.54.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E2A47"/>
                </a:solidFill>
                <a:latin typeface="Manrope"/>
              </a:rPr>
              <a:t>Status: hypothesis under test (B2-E05).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EXPLORATORY — SEED 1234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Reweighting the loss moves the damping in both directions, but none beat B1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274320"/>
            <a:ext cx="2194560" cy="384048"/>
          </a:xfrm>
          <a:prstGeom prst="roundRect">
            <a:avLst/>
          </a:prstGeom>
          <a:solidFill>
            <a:srgbClr val="ED5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FFFFFF"/>
                </a:solidFill>
                <a:latin typeface="Archivo"/>
              </a:rPr>
              <a:t>EXPLORATORY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377440"/>
                <a:gridCol w="3749039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Variant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L2_exact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Fitted decay (exact 3.54)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Behaviour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B1 (logged)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0.526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8.98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over-damped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normalised loss (degree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5.48 @2500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amplitude ratio 1.8 / 9.3 / 61 at t = 0.05 / 0.4 / 1.0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fixed exponent p = 0.5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0.818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10.20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late spurious growth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energy-rate loss μ =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4.49 @2500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collapsed to a static 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feedback controller on p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0.604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11.19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sensor latched onto growth; p driven to 0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69FB2"/>
                </a:solidFill>
                <a:latin typeface="Manrope"/>
              </a:rPr>
              <a:t>Takeaway: the loss's amplitude homogeneity sets the sign of the bias; the remaining lever with a quantitative prediction is window length.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WINDOW LAW AND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Window law: shorter windows should cut excess decay; first run W1000 reproduces B1 bit-for-bit</a:t>
            </a:r>
          </a:p>
        </p:txBody>
      </p:sp>
      <p:pic>
        <p:nvPicPr>
          <p:cNvPr id="5" name="Picture 4" descr="b_window_l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5669280" cy="37068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W1000 (1 window, seed 1234): bit-identical to logged B1, L2 0.52639.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Measured excess decay 5.44 1/s vs predicted 6.29 from its measured R (2374 s⁻²).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Prior art: AT-PINN (2024) and AT-PINN-HC (2025) do time-marching with hard constraints on EB beams, but give no relation between segment length and damping error.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E2A47"/>
                </a:solidFill>
                <a:latin typeface="Manrope"/>
              </a:rPr>
              <a:t>Novelty claimed only for the law + reference-free window rule, if validated.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HONEST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Status: diagnostics are validated; the window law is untested beyond one window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29184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Validated (pre-registered, 3 seeds)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Exploratory (seed 1234)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chivo"/>
                        </a:rPr>
                        <a:t>Pending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B1 reproduced bit-exactly in PINN-RP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loss-homogeneity runs (6 variants)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W050 / W100 / W250 sweep: not yet run (W050 interrupted at 11/20 windows)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FP64, mixed, coverage, L-BFGS transfer eliminated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W1000 vs prediction (1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Block-3 gate: prediction vs measurement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Collapse = mode-1 amplitude loss (E04, CASE F)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E2A47"/>
                          </a:solidFill>
                          <a:latin typeface="Manrope"/>
                        </a:rPr>
                        <a:t>Seeds 1235/1236; sweep currently PAUSED awaiting PI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D561B"/>
                </a:solidFill>
                <a:latin typeface="Archivo"/>
              </a:rPr>
              <a:t>No optimised PINN is claimed.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Timeline: P1 manuscript by 20 Oct, P2 and P3 by 20 Nov, each behind a gate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737360"/>
                <a:gridCol w="457200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Milestone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Date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rchivo"/>
                        </a:rPr>
                        <a:t>Gate</a:t>
                      </a:r>
                    </a:p>
                  </a:txBody>
                  <a:tcPr>
                    <a:solidFill>
                      <a:srgbClr val="0E2A4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Window sweep (W050/W100/W250) + Block-3 analysis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on resume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PASS / PARTIAL / FAIL pre-registered in B2-E05.md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P1 manuscript (beam)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20 Oct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PASS → law + rule; FAIL → diagnostic manuscript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P2 railway transfer + Physics Reference Layer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by 20 Nov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supervisor decisions (next slide) + data access</a:t>
                      </a:r>
                    </a:p>
                  </a:txBody>
                  <a:tcPr>
                    <a:solidFill>
                      <a:srgbClr val="EE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P3 railway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by 20 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E2A47"/>
                          </a:solidFill>
                          <a:latin typeface="Manrope"/>
                        </a:rPr>
                        <a:t>validated transfer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PLACEHOLDER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Railway transfer model: axle, bearing and wheel dynamics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869FB2"/>
                </a:solidFill>
                <a:latin typeface="Manrope"/>
              </a:rPr>
              <a:t>to be added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97A7"/>
                </a:solidFill>
                <a:latin typeface="Archiv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E2A47"/>
                </a:solidFill>
                <a:latin typeface="Archivo"/>
              </a:rPr>
              <a:t>Decisions needed from the supervisor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0E2A47"/>
                </a:solidFill>
                <a:latin typeface="Manrope"/>
              </a:rPr>
              <a:t>•  Target vehicle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0E2A47"/>
                </a:solidFill>
                <a:latin typeface="Manrope"/>
              </a:rPr>
              <a:t>•  Sensor scenario: on-board or wayside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0E2A47"/>
                </a:solidFill>
                <a:latin typeface="Manrope"/>
              </a:rPr>
              <a:t>•  Bearing type and drawing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0E2A47"/>
                </a:solidFill>
                <a:latin typeface="Manrope"/>
              </a:rPr>
              <a:t>•  Validation data source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0E2A47"/>
                </a:solidFill>
                <a:latin typeface="Manrope"/>
              </a:rPr>
              <a:t>•  Does a “submitted” paper count for graduation?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