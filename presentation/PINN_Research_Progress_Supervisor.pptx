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7b8e42-d2e5-ae5f-1f22-f4235917230a}">
          <p14:sldIdLst>
            <p14:sldId id="256"/>
            <p14:sldId id="257"/>
            <p14:sldId id="258"/>
          </p14:sldIdLst>
        </p14:section>
        <p14:section name="What we built and tested" id="{083170b0-9a19-de1e-0943-21f10e9d567b}">
          <p14:sldIdLst>
            <p14:sldId id="259"/>
            <p14:sldId id="260"/>
          </p14:sldIdLst>
        </p14:section>
        <p14:section name="Results" id="{7cebed8d-1730-5352-aa54-d213f484c4af}">
          <p14:sldIdLst>
            <p14:sldId id="261"/>
            <p14:sldId id="262"/>
            <p14:sldId id="263"/>
            <p14:sldId id="264"/>
            <p14:sldId id="265"/>
            <p14:sldId id="266"/>
          </p14:sldIdLst>
        </p14:section>
        <p14:section name="Status and next steps" id="{cb8307ce-5b4f-20de-ce41-f0694031e342}">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u(L/2, t) [m]</c:v>
                </c:pt>
              </c:strCache>
            </c:strRef>
          </c:tx>
          <c:spPr>
            <a:solidFill>
              <a:srgbClr val="7FC3DC"/>
            </a:solidFill>
            <a:ln w="15875" cap="flat">
              <a:solidFill>
                <a:srgbClr val="7FC3DC"/>
              </a:solidFill>
              <a:prstDash val="solid"/>
              <a:round/>
            </a:ln>
            <a:effectLst/>
          </c:spPr>
          <c:marker>
            <c:symbol val="none"/>
            <c:size val="6"/>
            <c:spPr>
              <a:solidFill>
                <a:srgbClr val="7FC3DC"/>
              </a:solidFill>
              <a:ln w="9525" cap="flat">
                <a:solidFill>
                  <a:srgbClr val="7FC3DC"/>
                </a:solidFill>
                <a:prstDash val="solid"/>
                <a:round/>
              </a:ln>
              <a:effectLst/>
            </c:spPr>
          </c:marker>
          <c:xVal>
            <c:numRef>
              <c:f>Sheet1!$A$2:$A$302</c:f>
              <c:numCache>
                <c:formatCode>General</c:formatCode>
                <c:ptCount val="301"/>
                <c:pt idx="0">
                  <c:v>0</c:v>
                </c:pt>
                <c:pt idx="1">
                  <c:v>0.00333</c:v>
                </c:pt>
                <c:pt idx="2">
                  <c:v>0.00667</c:v>
                </c:pt>
                <c:pt idx="3">
                  <c:v>0.01</c:v>
                </c:pt>
                <c:pt idx="4">
                  <c:v>0.01333</c:v>
                </c:pt>
                <c:pt idx="5">
                  <c:v>0.01667</c:v>
                </c:pt>
                <c:pt idx="6">
                  <c:v>0.02</c:v>
                </c:pt>
                <c:pt idx="7">
                  <c:v>0.02333</c:v>
                </c:pt>
                <c:pt idx="8">
                  <c:v>0.02667</c:v>
                </c:pt>
                <c:pt idx="9">
                  <c:v>0.03</c:v>
                </c:pt>
                <c:pt idx="10">
                  <c:v>0.03333</c:v>
                </c:pt>
                <c:pt idx="11">
                  <c:v>0.03667</c:v>
                </c:pt>
                <c:pt idx="12">
                  <c:v>0.04</c:v>
                </c:pt>
                <c:pt idx="13">
                  <c:v>0.04333</c:v>
                </c:pt>
                <c:pt idx="14">
                  <c:v>0.04667</c:v>
                </c:pt>
                <c:pt idx="15">
                  <c:v>0.05</c:v>
                </c:pt>
                <c:pt idx="16">
                  <c:v>0.05333</c:v>
                </c:pt>
                <c:pt idx="17">
                  <c:v>0.05667</c:v>
                </c:pt>
                <c:pt idx="18">
                  <c:v>0.06</c:v>
                </c:pt>
                <c:pt idx="19">
                  <c:v>0.06333</c:v>
                </c:pt>
                <c:pt idx="20">
                  <c:v>0.06667</c:v>
                </c:pt>
                <c:pt idx="21">
                  <c:v>0.07</c:v>
                </c:pt>
                <c:pt idx="22">
                  <c:v>0.07333</c:v>
                </c:pt>
                <c:pt idx="23">
                  <c:v>0.07667</c:v>
                </c:pt>
                <c:pt idx="24">
                  <c:v>0.08</c:v>
                </c:pt>
                <c:pt idx="25">
                  <c:v>0.08333</c:v>
                </c:pt>
                <c:pt idx="26">
                  <c:v>0.08667</c:v>
                </c:pt>
                <c:pt idx="27">
                  <c:v>0.09</c:v>
                </c:pt>
                <c:pt idx="28">
                  <c:v>0.09333</c:v>
                </c:pt>
                <c:pt idx="29">
                  <c:v>0.09667</c:v>
                </c:pt>
                <c:pt idx="30">
                  <c:v>0.1</c:v>
                </c:pt>
                <c:pt idx="31">
                  <c:v>0.10333</c:v>
                </c:pt>
                <c:pt idx="32">
                  <c:v>0.10667</c:v>
                </c:pt>
                <c:pt idx="33">
                  <c:v>0.11</c:v>
                </c:pt>
                <c:pt idx="34">
                  <c:v>0.11333</c:v>
                </c:pt>
                <c:pt idx="35">
                  <c:v>0.11667</c:v>
                </c:pt>
                <c:pt idx="36">
                  <c:v>0.12</c:v>
                </c:pt>
                <c:pt idx="37">
                  <c:v>0.12333</c:v>
                </c:pt>
                <c:pt idx="38">
                  <c:v>0.12667</c:v>
                </c:pt>
                <c:pt idx="39">
                  <c:v>0.13</c:v>
                </c:pt>
                <c:pt idx="40">
                  <c:v>0.13333</c:v>
                </c:pt>
                <c:pt idx="41">
                  <c:v>0.13667</c:v>
                </c:pt>
                <c:pt idx="42">
                  <c:v>0.14</c:v>
                </c:pt>
                <c:pt idx="43">
                  <c:v>0.14333</c:v>
                </c:pt>
                <c:pt idx="44">
                  <c:v>0.14667</c:v>
                </c:pt>
                <c:pt idx="45">
                  <c:v>0.15</c:v>
                </c:pt>
                <c:pt idx="46">
                  <c:v>0.15333</c:v>
                </c:pt>
                <c:pt idx="47">
                  <c:v>0.15667</c:v>
                </c:pt>
                <c:pt idx="48">
                  <c:v>0.16</c:v>
                </c:pt>
                <c:pt idx="49">
                  <c:v>0.16333</c:v>
                </c:pt>
                <c:pt idx="50">
                  <c:v>0.16667</c:v>
                </c:pt>
                <c:pt idx="51">
                  <c:v>0.17</c:v>
                </c:pt>
                <c:pt idx="52">
                  <c:v>0.17333</c:v>
                </c:pt>
                <c:pt idx="53">
                  <c:v>0.17667</c:v>
                </c:pt>
                <c:pt idx="54">
                  <c:v>0.18</c:v>
                </c:pt>
                <c:pt idx="55">
                  <c:v>0.18333</c:v>
                </c:pt>
                <c:pt idx="56">
                  <c:v>0.18667</c:v>
                </c:pt>
                <c:pt idx="57">
                  <c:v>0.19</c:v>
                </c:pt>
                <c:pt idx="58">
                  <c:v>0.19333</c:v>
                </c:pt>
                <c:pt idx="59">
                  <c:v>0.19667</c:v>
                </c:pt>
                <c:pt idx="60">
                  <c:v>0.2</c:v>
                </c:pt>
                <c:pt idx="61">
                  <c:v>0.20333</c:v>
                </c:pt>
                <c:pt idx="62">
                  <c:v>0.20667</c:v>
                </c:pt>
                <c:pt idx="63">
                  <c:v>0.21</c:v>
                </c:pt>
                <c:pt idx="64">
                  <c:v>0.21333</c:v>
                </c:pt>
                <c:pt idx="65">
                  <c:v>0.21667</c:v>
                </c:pt>
                <c:pt idx="66">
                  <c:v>0.22</c:v>
                </c:pt>
                <c:pt idx="67">
                  <c:v>0.22333</c:v>
                </c:pt>
                <c:pt idx="68">
                  <c:v>0.22667</c:v>
                </c:pt>
                <c:pt idx="69">
                  <c:v>0.23</c:v>
                </c:pt>
                <c:pt idx="70">
                  <c:v>0.23333</c:v>
                </c:pt>
                <c:pt idx="71">
                  <c:v>0.23667</c:v>
                </c:pt>
                <c:pt idx="72">
                  <c:v>0.24</c:v>
                </c:pt>
                <c:pt idx="73">
                  <c:v>0.24333</c:v>
                </c:pt>
                <c:pt idx="74">
                  <c:v>0.24667</c:v>
                </c:pt>
                <c:pt idx="75">
                  <c:v>0.25</c:v>
                </c:pt>
                <c:pt idx="76">
                  <c:v>0.25333</c:v>
                </c:pt>
                <c:pt idx="77">
                  <c:v>0.25667</c:v>
                </c:pt>
                <c:pt idx="78">
                  <c:v>0.26</c:v>
                </c:pt>
                <c:pt idx="79">
                  <c:v>0.26333</c:v>
                </c:pt>
                <c:pt idx="80">
                  <c:v>0.26667</c:v>
                </c:pt>
                <c:pt idx="81">
                  <c:v>0.27</c:v>
                </c:pt>
                <c:pt idx="82">
                  <c:v>0.27333</c:v>
                </c:pt>
                <c:pt idx="83">
                  <c:v>0.27667</c:v>
                </c:pt>
                <c:pt idx="84">
                  <c:v>0.28</c:v>
                </c:pt>
                <c:pt idx="85">
                  <c:v>0.28333</c:v>
                </c:pt>
                <c:pt idx="86">
                  <c:v>0.28667</c:v>
                </c:pt>
                <c:pt idx="87">
                  <c:v>0.29</c:v>
                </c:pt>
                <c:pt idx="88">
                  <c:v>0.29333</c:v>
                </c:pt>
                <c:pt idx="89">
                  <c:v>0.29667</c:v>
                </c:pt>
                <c:pt idx="90">
                  <c:v>0.3</c:v>
                </c:pt>
                <c:pt idx="91">
                  <c:v>0.30333</c:v>
                </c:pt>
                <c:pt idx="92">
                  <c:v>0.30667</c:v>
                </c:pt>
                <c:pt idx="93">
                  <c:v>0.31</c:v>
                </c:pt>
                <c:pt idx="94">
                  <c:v>0.31333</c:v>
                </c:pt>
                <c:pt idx="95">
                  <c:v>0.31667</c:v>
                </c:pt>
                <c:pt idx="96">
                  <c:v>0.32</c:v>
                </c:pt>
                <c:pt idx="97">
                  <c:v>0.32333</c:v>
                </c:pt>
                <c:pt idx="98">
                  <c:v>0.32667</c:v>
                </c:pt>
                <c:pt idx="99">
                  <c:v>0.33</c:v>
                </c:pt>
                <c:pt idx="100">
                  <c:v>0.33333</c:v>
                </c:pt>
                <c:pt idx="101">
                  <c:v>0.33667</c:v>
                </c:pt>
                <c:pt idx="102">
                  <c:v>0.34</c:v>
                </c:pt>
                <c:pt idx="103">
                  <c:v>0.34333</c:v>
                </c:pt>
                <c:pt idx="104">
                  <c:v>0.34667</c:v>
                </c:pt>
                <c:pt idx="105">
                  <c:v>0.35</c:v>
                </c:pt>
                <c:pt idx="106">
                  <c:v>0.35333</c:v>
                </c:pt>
                <c:pt idx="107">
                  <c:v>0.35667</c:v>
                </c:pt>
                <c:pt idx="108">
                  <c:v>0.36</c:v>
                </c:pt>
                <c:pt idx="109">
                  <c:v>0.36333</c:v>
                </c:pt>
                <c:pt idx="110">
                  <c:v>0.36667</c:v>
                </c:pt>
                <c:pt idx="111">
                  <c:v>0.37</c:v>
                </c:pt>
                <c:pt idx="112">
                  <c:v>0.37333</c:v>
                </c:pt>
                <c:pt idx="113">
                  <c:v>0.37667</c:v>
                </c:pt>
                <c:pt idx="114">
                  <c:v>0.38</c:v>
                </c:pt>
                <c:pt idx="115">
                  <c:v>0.38333</c:v>
                </c:pt>
                <c:pt idx="116">
                  <c:v>0.38667</c:v>
                </c:pt>
                <c:pt idx="117">
                  <c:v>0.39</c:v>
                </c:pt>
                <c:pt idx="118">
                  <c:v>0.39333</c:v>
                </c:pt>
                <c:pt idx="119">
                  <c:v>0.39667</c:v>
                </c:pt>
                <c:pt idx="120">
                  <c:v>0.4</c:v>
                </c:pt>
                <c:pt idx="121">
                  <c:v>0.40333</c:v>
                </c:pt>
                <c:pt idx="122">
                  <c:v>0.40667</c:v>
                </c:pt>
                <c:pt idx="123">
                  <c:v>0.41</c:v>
                </c:pt>
                <c:pt idx="124">
                  <c:v>0.41333</c:v>
                </c:pt>
                <c:pt idx="125">
                  <c:v>0.41667</c:v>
                </c:pt>
                <c:pt idx="126">
                  <c:v>0.42</c:v>
                </c:pt>
                <c:pt idx="127">
                  <c:v>0.42333</c:v>
                </c:pt>
                <c:pt idx="128">
                  <c:v>0.42667</c:v>
                </c:pt>
                <c:pt idx="129">
                  <c:v>0.43</c:v>
                </c:pt>
                <c:pt idx="130">
                  <c:v>0.43333</c:v>
                </c:pt>
                <c:pt idx="131">
                  <c:v>0.43667</c:v>
                </c:pt>
                <c:pt idx="132">
                  <c:v>0.44</c:v>
                </c:pt>
                <c:pt idx="133">
                  <c:v>0.44333</c:v>
                </c:pt>
                <c:pt idx="134">
                  <c:v>0.44667</c:v>
                </c:pt>
                <c:pt idx="135">
                  <c:v>0.45</c:v>
                </c:pt>
                <c:pt idx="136">
                  <c:v>0.45333</c:v>
                </c:pt>
                <c:pt idx="137">
                  <c:v>0.45667</c:v>
                </c:pt>
                <c:pt idx="138">
                  <c:v>0.46</c:v>
                </c:pt>
                <c:pt idx="139">
                  <c:v>0.46333</c:v>
                </c:pt>
                <c:pt idx="140">
                  <c:v>0.46667</c:v>
                </c:pt>
                <c:pt idx="141">
                  <c:v>0.47</c:v>
                </c:pt>
                <c:pt idx="142">
                  <c:v>0.47333</c:v>
                </c:pt>
                <c:pt idx="143">
                  <c:v>0.47667</c:v>
                </c:pt>
                <c:pt idx="144">
                  <c:v>0.48</c:v>
                </c:pt>
                <c:pt idx="145">
                  <c:v>0.48333</c:v>
                </c:pt>
                <c:pt idx="146">
                  <c:v>0.48667</c:v>
                </c:pt>
                <c:pt idx="147">
                  <c:v>0.49</c:v>
                </c:pt>
                <c:pt idx="148">
                  <c:v>0.49333</c:v>
                </c:pt>
                <c:pt idx="149">
                  <c:v>0.49667</c:v>
                </c:pt>
                <c:pt idx="150">
                  <c:v>0.5</c:v>
                </c:pt>
                <c:pt idx="151">
                  <c:v>0.50333</c:v>
                </c:pt>
                <c:pt idx="152">
                  <c:v>0.50667</c:v>
                </c:pt>
                <c:pt idx="153">
                  <c:v>0.51</c:v>
                </c:pt>
                <c:pt idx="154">
                  <c:v>0.51333</c:v>
                </c:pt>
                <c:pt idx="155">
                  <c:v>0.51667</c:v>
                </c:pt>
                <c:pt idx="156">
                  <c:v>0.52</c:v>
                </c:pt>
                <c:pt idx="157">
                  <c:v>0.52333</c:v>
                </c:pt>
                <c:pt idx="158">
                  <c:v>0.52667</c:v>
                </c:pt>
                <c:pt idx="159">
                  <c:v>0.53</c:v>
                </c:pt>
                <c:pt idx="160">
                  <c:v>0.53333</c:v>
                </c:pt>
                <c:pt idx="161">
                  <c:v>0.53667</c:v>
                </c:pt>
                <c:pt idx="162">
                  <c:v>0.54</c:v>
                </c:pt>
                <c:pt idx="163">
                  <c:v>0.54333</c:v>
                </c:pt>
                <c:pt idx="164">
                  <c:v>0.54667</c:v>
                </c:pt>
                <c:pt idx="165">
                  <c:v>0.55</c:v>
                </c:pt>
                <c:pt idx="166">
                  <c:v>0.55333</c:v>
                </c:pt>
                <c:pt idx="167">
                  <c:v>0.55667</c:v>
                </c:pt>
                <c:pt idx="168">
                  <c:v>0.56</c:v>
                </c:pt>
                <c:pt idx="169">
                  <c:v>0.56333</c:v>
                </c:pt>
                <c:pt idx="170">
                  <c:v>0.56667</c:v>
                </c:pt>
                <c:pt idx="171">
                  <c:v>0.57</c:v>
                </c:pt>
                <c:pt idx="172">
                  <c:v>0.57333</c:v>
                </c:pt>
                <c:pt idx="173">
                  <c:v>0.57667</c:v>
                </c:pt>
                <c:pt idx="174">
                  <c:v>0.58</c:v>
                </c:pt>
                <c:pt idx="175">
                  <c:v>0.58333</c:v>
                </c:pt>
                <c:pt idx="176">
                  <c:v>0.58667</c:v>
                </c:pt>
                <c:pt idx="177">
                  <c:v>0.59</c:v>
                </c:pt>
                <c:pt idx="178">
                  <c:v>0.59333</c:v>
                </c:pt>
                <c:pt idx="179">
                  <c:v>0.59667</c:v>
                </c:pt>
                <c:pt idx="180">
                  <c:v>0.6</c:v>
                </c:pt>
                <c:pt idx="181">
                  <c:v>0.60333</c:v>
                </c:pt>
                <c:pt idx="182">
                  <c:v>0.60667</c:v>
                </c:pt>
                <c:pt idx="183">
                  <c:v>0.61</c:v>
                </c:pt>
                <c:pt idx="184">
                  <c:v>0.61333</c:v>
                </c:pt>
                <c:pt idx="185">
                  <c:v>0.61667</c:v>
                </c:pt>
                <c:pt idx="186">
                  <c:v>0.62</c:v>
                </c:pt>
                <c:pt idx="187">
                  <c:v>0.62333</c:v>
                </c:pt>
                <c:pt idx="188">
                  <c:v>0.62667</c:v>
                </c:pt>
                <c:pt idx="189">
                  <c:v>0.63</c:v>
                </c:pt>
                <c:pt idx="190">
                  <c:v>0.63333</c:v>
                </c:pt>
                <c:pt idx="191">
                  <c:v>0.63667</c:v>
                </c:pt>
                <c:pt idx="192">
                  <c:v>0.64</c:v>
                </c:pt>
                <c:pt idx="193">
                  <c:v>0.64333</c:v>
                </c:pt>
                <c:pt idx="194">
                  <c:v>0.64667</c:v>
                </c:pt>
                <c:pt idx="195">
                  <c:v>0.65</c:v>
                </c:pt>
                <c:pt idx="196">
                  <c:v>0.65333</c:v>
                </c:pt>
                <c:pt idx="197">
                  <c:v>0.65667</c:v>
                </c:pt>
                <c:pt idx="198">
                  <c:v>0.66</c:v>
                </c:pt>
                <c:pt idx="199">
                  <c:v>0.66333</c:v>
                </c:pt>
                <c:pt idx="200">
                  <c:v>0.66667</c:v>
                </c:pt>
                <c:pt idx="201">
                  <c:v>0.67</c:v>
                </c:pt>
                <c:pt idx="202">
                  <c:v>0.67333</c:v>
                </c:pt>
                <c:pt idx="203">
                  <c:v>0.67667</c:v>
                </c:pt>
                <c:pt idx="204">
                  <c:v>0.68</c:v>
                </c:pt>
                <c:pt idx="205">
                  <c:v>0.68333</c:v>
                </c:pt>
                <c:pt idx="206">
                  <c:v>0.68667</c:v>
                </c:pt>
                <c:pt idx="207">
                  <c:v>0.69</c:v>
                </c:pt>
                <c:pt idx="208">
                  <c:v>0.69333</c:v>
                </c:pt>
                <c:pt idx="209">
                  <c:v>0.69667</c:v>
                </c:pt>
                <c:pt idx="210">
                  <c:v>0.7</c:v>
                </c:pt>
                <c:pt idx="211">
                  <c:v>0.70333</c:v>
                </c:pt>
                <c:pt idx="212">
                  <c:v>0.70667</c:v>
                </c:pt>
                <c:pt idx="213">
                  <c:v>0.71</c:v>
                </c:pt>
                <c:pt idx="214">
                  <c:v>0.71333</c:v>
                </c:pt>
                <c:pt idx="215">
                  <c:v>0.71667</c:v>
                </c:pt>
                <c:pt idx="216">
                  <c:v>0.72</c:v>
                </c:pt>
                <c:pt idx="217">
                  <c:v>0.72333</c:v>
                </c:pt>
                <c:pt idx="218">
                  <c:v>0.72667</c:v>
                </c:pt>
                <c:pt idx="219">
                  <c:v>0.73</c:v>
                </c:pt>
                <c:pt idx="220">
                  <c:v>0.73333</c:v>
                </c:pt>
                <c:pt idx="221">
                  <c:v>0.73667</c:v>
                </c:pt>
                <c:pt idx="222">
                  <c:v>0.74</c:v>
                </c:pt>
                <c:pt idx="223">
                  <c:v>0.74333</c:v>
                </c:pt>
                <c:pt idx="224">
                  <c:v>0.74667</c:v>
                </c:pt>
                <c:pt idx="225">
                  <c:v>0.75</c:v>
                </c:pt>
                <c:pt idx="226">
                  <c:v>0.75333</c:v>
                </c:pt>
                <c:pt idx="227">
                  <c:v>0.75667</c:v>
                </c:pt>
                <c:pt idx="228">
                  <c:v>0.76</c:v>
                </c:pt>
                <c:pt idx="229">
                  <c:v>0.76333</c:v>
                </c:pt>
                <c:pt idx="230">
                  <c:v>0.76667</c:v>
                </c:pt>
                <c:pt idx="231">
                  <c:v>0.77</c:v>
                </c:pt>
                <c:pt idx="232">
                  <c:v>0.77333</c:v>
                </c:pt>
                <c:pt idx="233">
                  <c:v>0.77667</c:v>
                </c:pt>
                <c:pt idx="234">
                  <c:v>0.78</c:v>
                </c:pt>
                <c:pt idx="235">
                  <c:v>0.78333</c:v>
                </c:pt>
                <c:pt idx="236">
                  <c:v>0.78667</c:v>
                </c:pt>
                <c:pt idx="237">
                  <c:v>0.79</c:v>
                </c:pt>
                <c:pt idx="238">
                  <c:v>0.79333</c:v>
                </c:pt>
                <c:pt idx="239">
                  <c:v>0.79667</c:v>
                </c:pt>
                <c:pt idx="240">
                  <c:v>0.8</c:v>
                </c:pt>
                <c:pt idx="241">
                  <c:v>0.80333</c:v>
                </c:pt>
                <c:pt idx="242">
                  <c:v>0.80667</c:v>
                </c:pt>
                <c:pt idx="243">
                  <c:v>0.81</c:v>
                </c:pt>
                <c:pt idx="244">
                  <c:v>0.81333</c:v>
                </c:pt>
                <c:pt idx="245">
                  <c:v>0.81667</c:v>
                </c:pt>
                <c:pt idx="246">
                  <c:v>0.82</c:v>
                </c:pt>
                <c:pt idx="247">
                  <c:v>0.82333</c:v>
                </c:pt>
                <c:pt idx="248">
                  <c:v>0.82667</c:v>
                </c:pt>
                <c:pt idx="249">
                  <c:v>0.83</c:v>
                </c:pt>
                <c:pt idx="250">
                  <c:v>0.83333</c:v>
                </c:pt>
                <c:pt idx="251">
                  <c:v>0.83667</c:v>
                </c:pt>
                <c:pt idx="252">
                  <c:v>0.84</c:v>
                </c:pt>
                <c:pt idx="253">
                  <c:v>0.84333</c:v>
                </c:pt>
                <c:pt idx="254">
                  <c:v>0.84667</c:v>
                </c:pt>
                <c:pt idx="255">
                  <c:v>0.85</c:v>
                </c:pt>
                <c:pt idx="256">
                  <c:v>0.85333</c:v>
                </c:pt>
                <c:pt idx="257">
                  <c:v>0.85667</c:v>
                </c:pt>
                <c:pt idx="258">
                  <c:v>0.86</c:v>
                </c:pt>
                <c:pt idx="259">
                  <c:v>0.86333</c:v>
                </c:pt>
                <c:pt idx="260">
                  <c:v>0.86667</c:v>
                </c:pt>
                <c:pt idx="261">
                  <c:v>0.87</c:v>
                </c:pt>
                <c:pt idx="262">
                  <c:v>0.87333</c:v>
                </c:pt>
                <c:pt idx="263">
                  <c:v>0.87667</c:v>
                </c:pt>
                <c:pt idx="264">
                  <c:v>0.88</c:v>
                </c:pt>
                <c:pt idx="265">
                  <c:v>0.88333</c:v>
                </c:pt>
                <c:pt idx="266">
                  <c:v>0.88667</c:v>
                </c:pt>
                <c:pt idx="267">
                  <c:v>0.89</c:v>
                </c:pt>
                <c:pt idx="268">
                  <c:v>0.89333</c:v>
                </c:pt>
                <c:pt idx="269">
                  <c:v>0.89667</c:v>
                </c:pt>
                <c:pt idx="270">
                  <c:v>0.9</c:v>
                </c:pt>
                <c:pt idx="271">
                  <c:v>0.90333</c:v>
                </c:pt>
                <c:pt idx="272">
                  <c:v>0.90667</c:v>
                </c:pt>
                <c:pt idx="273">
                  <c:v>0.91</c:v>
                </c:pt>
                <c:pt idx="274">
                  <c:v>0.91333</c:v>
                </c:pt>
                <c:pt idx="275">
                  <c:v>0.91667</c:v>
                </c:pt>
                <c:pt idx="276">
                  <c:v>0.92</c:v>
                </c:pt>
                <c:pt idx="277">
                  <c:v>0.92333</c:v>
                </c:pt>
                <c:pt idx="278">
                  <c:v>0.92667</c:v>
                </c:pt>
                <c:pt idx="279">
                  <c:v>0.93</c:v>
                </c:pt>
                <c:pt idx="280">
                  <c:v>0.93333</c:v>
                </c:pt>
                <c:pt idx="281">
                  <c:v>0.93667</c:v>
                </c:pt>
                <c:pt idx="282">
                  <c:v>0.94</c:v>
                </c:pt>
                <c:pt idx="283">
                  <c:v>0.94333</c:v>
                </c:pt>
                <c:pt idx="284">
                  <c:v>0.94667</c:v>
                </c:pt>
                <c:pt idx="285">
                  <c:v>0.95</c:v>
                </c:pt>
                <c:pt idx="286">
                  <c:v>0.95333</c:v>
                </c:pt>
                <c:pt idx="287">
                  <c:v>0.95667</c:v>
                </c:pt>
                <c:pt idx="288">
                  <c:v>0.96</c:v>
                </c:pt>
                <c:pt idx="289">
                  <c:v>0.96333</c:v>
                </c:pt>
                <c:pt idx="290">
                  <c:v>0.96667</c:v>
                </c:pt>
                <c:pt idx="291">
                  <c:v>0.97</c:v>
                </c:pt>
                <c:pt idx="292">
                  <c:v>0.97333</c:v>
                </c:pt>
                <c:pt idx="293">
                  <c:v>0.97667</c:v>
                </c:pt>
                <c:pt idx="294">
                  <c:v>0.98</c:v>
                </c:pt>
                <c:pt idx="295">
                  <c:v>0.98333</c:v>
                </c:pt>
                <c:pt idx="296">
                  <c:v>0.98667</c:v>
                </c:pt>
                <c:pt idx="297">
                  <c:v>0.99</c:v>
                </c:pt>
                <c:pt idx="298">
                  <c:v>0.99333</c:v>
                </c:pt>
                <c:pt idx="299">
                  <c:v>0.99667</c:v>
                </c:pt>
                <c:pt idx="300">
                  <c:v>1</c:v>
                </c:pt>
              </c:numCache>
            </c:numRef>
          </c:xVal>
          <c:yVal>
            <c:numRef>
              <c:f>Sheet1!$B$2:$B$302</c:f>
              <c:numCache>
                <c:formatCode>General</c:formatCode>
                <c:ptCount val="301"/>
                <c:pt idx="0">
                  <c:v>0.08</c:v>
                </c:pt>
                <c:pt idx="1">
                  <c:v>0.072733</c:v>
                </c:pt>
                <c:pt idx="2">
                  <c:v>0.052473</c:v>
                </c:pt>
                <c:pt idx="3">
                  <c:v>0.02319</c:v>
                </c:pt>
                <c:pt idx="4">
                  <c:v>-0.009606</c:v>
                </c:pt>
                <c:pt idx="5">
                  <c:v>-0.039899</c:v>
                </c:pt>
                <c:pt idx="6">
                  <c:v>-0.062265</c:v>
                </c:pt>
                <c:pt idx="7">
                  <c:v>-0.072842</c:v>
                </c:pt>
                <c:pt idx="8">
                  <c:v>-0.069991</c:v>
                </c:pt>
                <c:pt idx="9">
                  <c:v>-0.05454</c:v>
                </c:pt>
                <c:pt idx="10">
                  <c:v>-0.02958</c:v>
                </c:pt>
                <c:pt idx="11">
                  <c:v>0.000151</c:v>
                </c:pt>
                <c:pt idx="12">
                  <c:v>0.029161</c:v>
                </c:pt>
                <c:pt idx="13">
                  <c:v>0.052217</c:v>
                </c:pt>
                <c:pt idx="14">
                  <c:v>0.065287</c:v>
                </c:pt>
                <c:pt idx="15">
                  <c:v>0.066237</c:v>
                </c:pt>
                <c:pt idx="16">
                  <c:v>0.055178</c:v>
                </c:pt>
                <c:pt idx="17">
                  <c:v>0.034392</c:v>
                </c:pt>
                <c:pt idx="18">
                  <c:v>0.007867</c:v>
                </c:pt>
                <c:pt idx="19">
                  <c:v>-0.019462</c:v>
                </c:pt>
                <c:pt idx="20">
                  <c:v>-0.042633</c:v>
                </c:pt>
                <c:pt idx="21">
                  <c:v>-0.057548</c:v>
                </c:pt>
                <c:pt idx="22">
                  <c:v>-0.061701</c:v>
                </c:pt>
                <c:pt idx="23">
                  <c:v>-0.054592</c:v>
                </c:pt>
                <c:pt idx="24">
                  <c:v>-0.037769</c:v>
                </c:pt>
                <c:pt idx="25">
                  <c:v>-0.014504</c:v>
                </c:pt>
                <c:pt idx="26">
                  <c:v>0.010843</c:v>
                </c:pt>
                <c:pt idx="27">
                  <c:v>0.033637</c:v>
                </c:pt>
                <c:pt idx="28">
                  <c:v>0.049812</c:v>
                </c:pt>
                <c:pt idx="29">
                  <c:v>0.056596</c:v>
                </c:pt>
                <c:pt idx="30">
                  <c:v>0.052979</c:v>
                </c:pt>
                <c:pt idx="31">
                  <c:v>0.03986</c:v>
                </c:pt>
                <c:pt idx="32">
                  <c:v>0.019834</c:v>
                </c:pt>
                <c:pt idx="33">
                  <c:v>-0.003315</c:v>
                </c:pt>
                <c:pt idx="34">
                  <c:v>-0.025323</c:v>
                </c:pt>
                <c:pt idx="35">
                  <c:v>-0.042236</c:v>
                </c:pt>
                <c:pt idx="36">
                  <c:v>-0.051111</c:v>
                </c:pt>
                <c:pt idx="37">
                  <c:v>-0.05053</c:v>
                </c:pt>
                <c:pt idx="38">
                  <c:v>-0.040819</c:v>
                </c:pt>
                <c:pt idx="39">
                  <c:v>-0.023947</c:v>
                </c:pt>
                <c:pt idx="40">
                  <c:v>-0.003135</c:v>
                </c:pt>
                <c:pt idx="41">
                  <c:v>0.017759</c:v>
                </c:pt>
                <c:pt idx="42">
                  <c:v>0.034951</c:v>
                </c:pt>
                <c:pt idx="43">
                  <c:v>0.045418</c:v>
                </c:pt>
                <c:pt idx="44">
                  <c:v>0.047422</c:v>
                </c:pt>
                <c:pt idx="45">
                  <c:v>0.040797</c:v>
                </c:pt>
                <c:pt idx="46">
                  <c:v>0.026944</c:v>
                </c:pt>
                <c:pt idx="47">
                  <c:v>0.008539</c:v>
                </c:pt>
                <c:pt idx="48">
                  <c:v>-0.010983</c:v>
                </c:pt>
                <c:pt idx="49">
                  <c:v>-0.028062</c:v>
                </c:pt>
                <c:pt idx="50">
                  <c:v>-0.039664</c:v>
                </c:pt>
                <c:pt idx="51">
                  <c:v>-0.043818</c:v>
                </c:pt>
                <c:pt idx="52">
                  <c:v>-0.039946</c:v>
                </c:pt>
                <c:pt idx="53">
                  <c:v>-0.028935</c:v>
                </c:pt>
                <c:pt idx="54">
                  <c:v>-0.012945</c:v>
                </c:pt>
                <c:pt idx="55">
                  <c:v>0.005015</c:v>
                </c:pt>
                <c:pt idx="56">
                  <c:v>0.021648</c:v>
                </c:pt>
                <c:pt idx="57">
                  <c:v>0.033976</c:v>
                </c:pt>
                <c:pt idx="58">
                  <c:v>0.039868</c:v>
                </c:pt>
                <c:pt idx="59">
                  <c:v>0.038408</c:v>
                </c:pt>
                <c:pt idx="60">
                  <c:v>0.030031</c:v>
                </c:pt>
                <c:pt idx="61">
                  <c:v>0.016416</c:v>
                </c:pt>
                <c:pt idx="62">
                  <c:v>0.000147</c:v>
                </c:pt>
                <c:pt idx="63">
                  <c:v>-0.015769</c:v>
                </c:pt>
                <c:pt idx="64">
                  <c:v>-0.02846</c:v>
                </c:pt>
                <c:pt idx="65">
                  <c:v>-0.035705</c:v>
                </c:pt>
                <c:pt idx="66">
                  <c:v>-0.036319</c:v>
                </c:pt>
                <c:pt idx="67">
                  <c:v>-0.030347</c:v>
                </c:pt>
                <c:pt idx="68">
                  <c:v>-0.019023</c:v>
                </c:pt>
                <c:pt idx="69">
                  <c:v>-0.00452</c:v>
                </c:pt>
                <c:pt idx="70">
                  <c:v>0.010463</c:v>
                </c:pt>
                <c:pt idx="71">
                  <c:v>0.023202</c:v>
                </c:pt>
                <c:pt idx="72">
                  <c:v>0.031446</c:v>
                </c:pt>
                <c:pt idx="73">
                  <c:v>0.033807</c:v>
                </c:pt>
                <c:pt idx="74">
                  <c:v>0.029995</c:v>
                </c:pt>
                <c:pt idx="75">
                  <c:v>0.020844</c:v>
                </c:pt>
                <c:pt idx="76">
                  <c:v>0.008134</c:v>
                </c:pt>
                <c:pt idx="77">
                  <c:v>-0.005751</c:v>
                </c:pt>
                <c:pt idx="78">
                  <c:v>-0.018272</c:v>
                </c:pt>
                <c:pt idx="79">
                  <c:v>-0.027194</c:v>
                </c:pt>
                <c:pt idx="80">
                  <c:v>-0.030987</c:v>
                </c:pt>
                <c:pt idx="81">
                  <c:v>-0.029084</c:v>
                </c:pt>
                <c:pt idx="82">
                  <c:v>-0.021962</c:v>
                </c:pt>
                <c:pt idx="83">
                  <c:v>-0.011032</c:v>
                </c:pt>
                <c:pt idx="84">
                  <c:v>0.001639</c:v>
                </c:pt>
                <c:pt idx="85">
                  <c:v>0.013718</c:v>
                </c:pt>
                <c:pt idx="86">
                  <c:v>0.023033</c:v>
                </c:pt>
                <c:pt idx="87">
                  <c:v>0.027963</c:v>
                </c:pt>
                <c:pt idx="88">
                  <c:v>0.027717</c:v>
                </c:pt>
                <c:pt idx="89">
                  <c:v>0.022462</c:v>
                </c:pt>
                <c:pt idx="90">
                  <c:v>0.013264</c:v>
                </c:pt>
                <c:pt idx="91">
                  <c:v>0.00188</c:v>
                </c:pt>
                <c:pt idx="92">
                  <c:v>-0.009578</c:v>
                </c:pt>
                <c:pt idx="93">
                  <c:v>-0.019036</c:v>
                </c:pt>
                <c:pt idx="94">
                  <c:v>-0.024828</c:v>
                </c:pt>
                <c:pt idx="95">
                  <c:v>-0.025992</c:v>
                </c:pt>
                <c:pt idx="96">
                  <c:v>-0.022426</c:v>
                </c:pt>
                <c:pt idx="97">
                  <c:v>-0.014884</c:v>
                </c:pt>
                <c:pt idx="98">
                  <c:v>-0.004825</c:v>
                </c:pt>
                <c:pt idx="99">
                  <c:v>0.005873</c:v>
                </c:pt>
                <c:pt idx="100">
                  <c:v>0.015258</c:v>
                </c:pt>
                <c:pt idx="101">
                  <c:v>0.021664</c:v>
                </c:pt>
                <c:pt idx="102">
                  <c:v>0.023999</c:v>
                </c:pt>
                <c:pt idx="103">
                  <c:v>0.021938</c:v>
                </c:pt>
                <c:pt idx="104">
                  <c:v>0.015954</c:v>
                </c:pt>
                <c:pt idx="105">
                  <c:v>0.007223</c:v>
                </c:pt>
                <c:pt idx="106">
                  <c:v>-0.002612</c:v>
                </c:pt>
                <c:pt idx="107">
                  <c:v>-0.011744</c:v>
                </c:pt>
                <c:pt idx="108">
                  <c:v>-0.018538</c:v>
                </c:pt>
                <c:pt idx="109">
                  <c:v>-0.02182</c:v>
                </c:pt>
                <c:pt idx="110">
                  <c:v>-0.021076</c:v>
                </c:pt>
                <c:pt idx="111">
                  <c:v>-0.016535</c:v>
                </c:pt>
                <c:pt idx="112">
                  <c:v>-0.009108</c:v>
                </c:pt>
                <c:pt idx="113">
                  <c:v>-0.000206</c:v>
                </c:pt>
                <c:pt idx="114">
                  <c:v>0.008525</c:v>
                </c:pt>
                <c:pt idx="115">
                  <c:v>0.01551</c:v>
                </c:pt>
                <c:pt idx="116">
                  <c:v>0.019526</c:v>
                </c:pt>
                <c:pt idx="117">
                  <c:v>0.019914</c:v>
                </c:pt>
                <c:pt idx="118">
                  <c:v>0.01669</c:v>
                </c:pt>
                <c:pt idx="119">
                  <c:v>0.01052</c:v>
                </c:pt>
                <c:pt idx="120">
                  <c:v>0.002591</c:v>
                </c:pt>
                <c:pt idx="121">
                  <c:v>-0.005622</c:v>
                </c:pt>
                <c:pt idx="122">
                  <c:v>-0.012627</c:v>
                </c:pt>
                <c:pt idx="123">
                  <c:v>-0.017183</c:v>
                </c:pt>
                <c:pt idx="124">
                  <c:v>-0.018523</c:v>
                </c:pt>
                <c:pt idx="125">
                  <c:v>-0.01648</c:v>
                </c:pt>
                <c:pt idx="126">
                  <c:v>-0.011502</c:v>
                </c:pt>
                <c:pt idx="127">
                  <c:v>-0.004559</c:v>
                </c:pt>
                <c:pt idx="128">
                  <c:v>0.003047</c:v>
                </c:pt>
                <c:pt idx="129">
                  <c:v>0.009924</c:v>
                </c:pt>
                <c:pt idx="130">
                  <c:v>0.014845</c:v>
                </c:pt>
                <c:pt idx="131">
                  <c:v>0.016965</c:v>
                </c:pt>
                <c:pt idx="132">
                  <c:v>0.015965</c:v>
                </c:pt>
                <c:pt idx="133">
                  <c:v>0.0121</c:v>
                </c:pt>
                <c:pt idx="134">
                  <c:v>0.006135</c:v>
                </c:pt>
                <c:pt idx="135">
                  <c:v>-0.000801</c:v>
                </c:pt>
                <c:pt idx="136">
                  <c:v>-0.00743</c:v>
                </c:pt>
                <c:pt idx="137">
                  <c:v>-0.01256</c:v>
                </c:pt>
                <c:pt idx="138">
                  <c:v>-0.015298</c:v>
                </c:pt>
                <c:pt idx="139">
                  <c:v>-0.015203</c:v>
                </c:pt>
                <c:pt idx="140">
                  <c:v>-0.012359</c:v>
                </c:pt>
                <c:pt idx="141">
                  <c:v>-0.007345</c:v>
                </c:pt>
                <c:pt idx="142">
                  <c:v>-0.001119</c:v>
                </c:pt>
                <c:pt idx="143">
                  <c:v>0.005164</c:v>
                </c:pt>
                <c:pt idx="144">
                  <c:v>0.010367</c:v>
                </c:pt>
                <c:pt idx="145">
                  <c:v>0.013572</c:v>
                </c:pt>
                <c:pt idx="146">
                  <c:v>0.014246</c:v>
                </c:pt>
                <c:pt idx="147">
                  <c:v>0.012327</c:v>
                </c:pt>
                <c:pt idx="148">
                  <c:v>0.008221</c:v>
                </c:pt>
                <c:pt idx="149">
                  <c:v>0.002724</c:v>
                </c:pt>
                <c:pt idx="150">
                  <c:v>-0.003138</c:v>
                </c:pt>
                <c:pt idx="151">
                  <c:v>-0.008296</c:v>
                </c:pt>
                <c:pt idx="152">
                  <c:v>-0.011832</c:v>
                </c:pt>
                <c:pt idx="153">
                  <c:v>-0.013144</c:v>
                </c:pt>
                <c:pt idx="154">
                  <c:v>-0.012047</c:v>
                </c:pt>
                <c:pt idx="155">
                  <c:v>-0.008796</c:v>
                </c:pt>
                <c:pt idx="156">
                  <c:v>-0.004029</c:v>
                </c:pt>
                <c:pt idx="157">
                  <c:v>0.001356</c:v>
                </c:pt>
                <c:pt idx="158">
                  <c:v>0.00637</c:v>
                </c:pt>
                <c:pt idx="159">
                  <c:v>0.010115</c:v>
                </c:pt>
                <c:pt idx="160">
                  <c:v>0.011941</c:v>
                </c:pt>
                <c:pt idx="161">
                  <c:v>0.011564</c:v>
                </c:pt>
                <c:pt idx="162">
                  <c:v>0.009104</c:v>
                </c:pt>
                <c:pt idx="163">
                  <c:v>0.005053</c:v>
                </c:pt>
                <c:pt idx="164">
                  <c:v>0.000182</c:v>
                </c:pt>
                <c:pt idx="165">
                  <c:v>-0.004608</c:v>
                </c:pt>
                <c:pt idx="166">
                  <c:v>-0.008453</c:v>
                </c:pt>
                <c:pt idx="167">
                  <c:v>-0.010678</c:v>
                </c:pt>
                <c:pt idx="168">
                  <c:v>-0.010919</c:v>
                </c:pt>
                <c:pt idx="169">
                  <c:v>-0.009178</c:v>
                </c:pt>
                <c:pt idx="170">
                  <c:v>-0.005817</c:v>
                </c:pt>
                <c:pt idx="171">
                  <c:v>-0.001482</c:v>
                </c:pt>
                <c:pt idx="172">
                  <c:v>0.00302</c:v>
                </c:pt>
                <c:pt idx="173">
                  <c:v>0.006871</c:v>
                </c:pt>
                <c:pt idx="174">
                  <c:v>0.009388</c:v>
                </c:pt>
                <c:pt idx="175">
                  <c:v>0.010148</c:v>
                </c:pt>
                <c:pt idx="176">
                  <c:v>0.009054</c:v>
                </c:pt>
                <c:pt idx="177">
                  <c:v>0.006347</c:v>
                </c:pt>
                <c:pt idx="178">
                  <c:v>0.002554</c:v>
                </c:pt>
                <c:pt idx="179">
                  <c:v>-0.001612</c:v>
                </c:pt>
                <c:pt idx="180">
                  <c:v>-0.00539</c:v>
                </c:pt>
                <c:pt idx="181">
                  <c:v>-0.008104</c:v>
                </c:pt>
                <c:pt idx="182">
                  <c:v>-0.009288</c:v>
                </c:pt>
                <c:pt idx="183">
                  <c:v>-0.008764</c:v>
                </c:pt>
                <c:pt idx="184">
                  <c:v>-0.006666</c:v>
                </c:pt>
                <c:pt idx="185">
                  <c:v>-0.003411</c:v>
                </c:pt>
                <c:pt idx="186">
                  <c:v>0.000386</c:v>
                </c:pt>
                <c:pt idx="187">
                  <c:v>0.004024</c:v>
                </c:pt>
                <c:pt idx="188">
                  <c:v>0.006849</c:v>
                </c:pt>
                <c:pt idx="189">
                  <c:v>0.008369</c:v>
                </c:pt>
                <c:pt idx="190">
                  <c:v>0.008339</c:v>
                </c:pt>
                <c:pt idx="191">
                  <c:v>0.0068</c:v>
                </c:pt>
                <c:pt idx="192">
                  <c:v>0.004067</c:v>
                </c:pt>
                <c:pt idx="193">
                  <c:v>0.000662</c:v>
                </c:pt>
                <c:pt idx="194">
                  <c:v>-0.002784</c:v>
                </c:pt>
                <c:pt idx="195">
                  <c:v>-0.005645</c:v>
                </c:pt>
                <c:pt idx="196">
                  <c:v>-0.007419</c:v>
                </c:pt>
                <c:pt idx="197">
                  <c:v>-0.007808</c:v>
                </c:pt>
                <c:pt idx="198">
                  <c:v>-0.006775</c:v>
                </c:pt>
                <c:pt idx="199">
                  <c:v>-0.004541</c:v>
                </c:pt>
                <c:pt idx="200">
                  <c:v>-0.001536</c:v>
                </c:pt>
                <c:pt idx="201">
                  <c:v>0.001676</c:v>
                </c:pt>
                <c:pt idx="202">
                  <c:v>0.00451</c:v>
                </c:pt>
                <c:pt idx="203">
                  <c:v>0.006462</c:v>
                </c:pt>
                <c:pt idx="204">
                  <c:v>0.007199</c:v>
                </c:pt>
                <c:pt idx="205">
                  <c:v>0.006616</c:v>
                </c:pt>
                <c:pt idx="206">
                  <c:v>0.004849</c:v>
                </c:pt>
                <c:pt idx="207">
                  <c:v>0.002246</c:v>
                </c:pt>
                <c:pt idx="208">
                  <c:v>-0.000702</c:v>
                </c:pt>
                <c:pt idx="209">
                  <c:v>-0.003455</c:v>
                </c:pt>
                <c:pt idx="210">
                  <c:v>-0.005518</c:v>
                </c:pt>
                <c:pt idx="211">
                  <c:v>-0.006535</c:v>
                </c:pt>
                <c:pt idx="212">
                  <c:v>-0.006345</c:v>
                </c:pt>
                <c:pt idx="213">
                  <c:v>-0.005012</c:v>
                </c:pt>
                <c:pt idx="214">
                  <c:v>-0.002802</c:v>
                </c:pt>
                <c:pt idx="215">
                  <c:v>-0.000137</c:v>
                </c:pt>
                <c:pt idx="216">
                  <c:v>0.00249</c:v>
                </c:pt>
                <c:pt idx="217">
                  <c:v>0.004606</c:v>
                </c:pt>
                <c:pt idx="218">
                  <c:v>0.005839</c:v>
                </c:pt>
                <c:pt idx="219">
                  <c:v>0.005986</c:v>
                </c:pt>
                <c:pt idx="220">
                  <c:v>0.005047</c:v>
                </c:pt>
                <c:pt idx="221">
                  <c:v>0.003216</c:v>
                </c:pt>
                <c:pt idx="222">
                  <c:v>0.000846</c:v>
                </c:pt>
                <c:pt idx="223">
                  <c:v>-0.001622</c:v>
                </c:pt>
                <c:pt idx="224">
                  <c:v>-0.003738</c:v>
                </c:pt>
                <c:pt idx="225">
                  <c:v>-0.00513</c:v>
                </c:pt>
                <c:pt idx="226">
                  <c:v>-0.00556</c:v>
                </c:pt>
                <c:pt idx="227">
                  <c:v>-0.004974</c:v>
                </c:pt>
                <c:pt idx="228">
                  <c:v>-0.003502</c:v>
                </c:pt>
                <c:pt idx="229">
                  <c:v>-0.00143</c:v>
                </c:pt>
                <c:pt idx="230">
                  <c:v>0.000852</c:v>
                </c:pt>
                <c:pt idx="231">
                  <c:v>0.002927</c:v>
                </c:pt>
                <c:pt idx="232">
                  <c:v>0.004423</c:v>
                </c:pt>
                <c:pt idx="233">
                  <c:v>0.005085</c:v>
                </c:pt>
                <c:pt idx="234">
                  <c:v>0.00481</c:v>
                </c:pt>
                <c:pt idx="235">
                  <c:v>0.003672</c:v>
                </c:pt>
                <c:pt idx="236">
                  <c:v>0.001896</c:v>
                </c:pt>
                <c:pt idx="237">
                  <c:v>-0.000182</c:v>
                </c:pt>
                <c:pt idx="238">
                  <c:v>-0.002179</c:v>
                </c:pt>
                <c:pt idx="239">
                  <c:v>-0.003734</c:v>
                </c:pt>
                <c:pt idx="240">
                  <c:v>-0.004578</c:v>
                </c:pt>
                <c:pt idx="241">
                  <c:v>-0.004573</c:v>
                </c:pt>
                <c:pt idx="242">
                  <c:v>-0.003741</c:v>
                </c:pt>
                <c:pt idx="243">
                  <c:v>-0.002252</c:v>
                </c:pt>
                <c:pt idx="244">
                  <c:v>-0.000389</c:v>
                </c:pt>
                <c:pt idx="245">
                  <c:v>0.0015</c:v>
                </c:pt>
                <c:pt idx="246">
                  <c:v>0.003074</c:v>
                </c:pt>
                <c:pt idx="247">
                  <c:v>0.004055</c:v>
                </c:pt>
                <c:pt idx="248">
                  <c:v>0.004279</c:v>
                </c:pt>
                <c:pt idx="249">
                  <c:v>0.003724</c:v>
                </c:pt>
                <c:pt idx="250">
                  <c:v>0.002508</c:v>
                </c:pt>
                <c:pt idx="251">
                  <c:v>0.000866</c:v>
                </c:pt>
                <c:pt idx="252">
                  <c:v>-0.000894</c:v>
                </c:pt>
                <c:pt idx="253">
                  <c:v>-0.002451</c:v>
                </c:pt>
                <c:pt idx="254">
                  <c:v>-0.003529</c:v>
                </c:pt>
                <c:pt idx="255">
                  <c:v>-0.003942</c:v>
                </c:pt>
                <c:pt idx="256">
                  <c:v>-0.003633</c:v>
                </c:pt>
                <c:pt idx="257">
                  <c:v>-0.002673</c:v>
                </c:pt>
                <c:pt idx="258">
                  <c:v>-0.001252</c:v>
                </c:pt>
                <c:pt idx="259">
                  <c:v>0.000362</c:v>
                </c:pt>
                <c:pt idx="260">
                  <c:v>0.001874</c:v>
                </c:pt>
                <c:pt idx="261">
                  <c:v>0.003011</c:v>
                </c:pt>
                <c:pt idx="262">
                  <c:v>0.003576</c:v>
                </c:pt>
                <c:pt idx="263">
                  <c:v>0.003481</c:v>
                </c:pt>
                <c:pt idx="264">
                  <c:v>0.002759</c:v>
                </c:pt>
                <c:pt idx="265">
                  <c:v>0.001554</c:v>
                </c:pt>
                <c:pt idx="266">
                  <c:v>0.000096</c:v>
                </c:pt>
                <c:pt idx="267">
                  <c:v>-0.001345</c:v>
                </c:pt>
                <c:pt idx="268">
                  <c:v>-0.00251</c:v>
                </c:pt>
                <c:pt idx="269">
                  <c:v>-0.003193</c:v>
                </c:pt>
                <c:pt idx="270">
                  <c:v>-0.003282</c:v>
                </c:pt>
                <c:pt idx="271">
                  <c:v>-0.002775</c:v>
                </c:pt>
                <c:pt idx="272">
                  <c:v>-0.001778</c:v>
                </c:pt>
                <c:pt idx="273">
                  <c:v>-0.000482</c:v>
                </c:pt>
                <c:pt idx="274">
                  <c:v>0.00087</c:v>
                </c:pt>
                <c:pt idx="275">
                  <c:v>0.002034</c:v>
                </c:pt>
                <c:pt idx="276">
                  <c:v>0.002802</c:v>
                </c:pt>
                <c:pt idx="277">
                  <c:v>0.003046</c:v>
                </c:pt>
                <c:pt idx="278">
                  <c:v>0.002732</c:v>
                </c:pt>
                <c:pt idx="279">
                  <c:v>0.001932</c:v>
                </c:pt>
                <c:pt idx="280">
                  <c:v>0.0008</c:v>
                </c:pt>
                <c:pt idx="281">
                  <c:v>-0.00045</c:v>
                </c:pt>
                <c:pt idx="282">
                  <c:v>-0.001589</c:v>
                </c:pt>
                <c:pt idx="283">
                  <c:v>-0.002414</c:v>
                </c:pt>
                <c:pt idx="284">
                  <c:v>-0.002784</c:v>
                </c:pt>
                <c:pt idx="285">
                  <c:v>-0.00264</c:v>
                </c:pt>
                <c:pt idx="286">
                  <c:v>-0.002023</c:v>
                </c:pt>
                <c:pt idx="287">
                  <c:v>-0.001053</c:v>
                </c:pt>
                <c:pt idx="288">
                  <c:v>0.000084</c:v>
                </c:pt>
                <c:pt idx="289">
                  <c:v>0.001179</c:v>
                </c:pt>
                <c:pt idx="290">
                  <c:v>0.002036</c:v>
                </c:pt>
                <c:pt idx="291">
                  <c:v>0.002504</c:v>
                </c:pt>
                <c:pt idx="292">
                  <c:v>0.002508</c:v>
                </c:pt>
                <c:pt idx="293">
                  <c:v>0.002058</c:v>
                </c:pt>
                <c:pt idx="294">
                  <c:v>0.001246</c:v>
                </c:pt>
                <c:pt idx="295">
                  <c:v>0.000228</c:v>
                </c:pt>
                <c:pt idx="296">
                  <c:v>-0.000808</c:v>
                </c:pt>
                <c:pt idx="297">
                  <c:v>-0.001674</c:v>
                </c:pt>
                <c:pt idx="298">
                  <c:v>-0.002216</c:v>
                </c:pt>
                <c:pt idx="299">
                  <c:v>-0.002345</c:v>
                </c:pt>
                <c:pt idx="300">
                  <c:v>-0.002047</c:v>
                </c:pt>
              </c:numCache>
            </c:numRef>
          </c:yVal>
          <c:smooth val="0"/>
        </c:ser>
        <c:dLbls>
          <c:numFmt formatCode="General"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1"/>
        <c:axPos val="b"/>
        <c:numFmt formatCode="0.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9FB6C4"/>
                </a:solidFill>
                <a:latin typeface="+mn-lt"/>
              </a:defRPr>
            </a:pPr>
            <a:endParaRPr lang="en-US"/>
          </a:p>
        </c:txPr>
        <c:crossAx val="2094734552"/>
        <c:crosses val="autoZero"/>
        <c:auto val="1"/>
        <c:lblAlgn val="ctr"/>
        <c:noMultiLvlLbl val="1"/>
        <c:majorUnit val="0.2"/>
      </c:valAx>
      <c:valAx>
        <c:axId val="2094734552"/>
        <c:scaling>
          <c:orientation val="minMax"/>
          <c:max val="0.1"/>
          <c:min val="-0.1"/>
        </c:scaling>
        <c:delete val="0"/>
        <c:axPos val="l"/>
        <c:title>
          <c:tx>
            <c:rich>
              <a:bodyPr/>
              <a:lstStyle/>
              <a:p>
                <a:pPr>
                  <a:defRPr sz="1100" b="0" i="0" u="none" strike="noStrike">
                    <a:solidFill>
                      <a:srgbClr val="9FB6C4"/>
                    </a:solidFill>
                    <a:latin typeface="+mn-lt"/>
                  </a:defRPr>
                </a:pPr>
                <a:r>
                  <a:rPr sz="1100" b="0" i="0" u="none" strike="noStrike">
                    <a:solidFill>
                      <a:srgbClr val="9FB6C4"/>
                    </a:solidFill>
                    <a:latin typeface="+mn-lt"/>
                  </a:rPr>
                  <a:t>u(L/2, t) [m]</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9FB6C4"/>
                </a:solidFill>
                <a:latin typeface="+mn-lt"/>
              </a:defRPr>
            </a:pPr>
            <a:endParaRPr lang="en-US"/>
          </a:p>
        </c:txPr>
        <c:crossAx val="2094734554"/>
        <c:crossesAt val="-0.1"/>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Relative L2 error, Batch-1 progression (lower is better)</a:t>
            </a:r>
          </a:p>
        </c:rich>
      </c:tx>
      <c:layout/>
      <c:overlay val="0"/>
    </c:title>
    <c:autoTitleDeleted val="0"/>
    <c:plotArea>
      <c:layout/>
      <c:barChart>
        <c:barDir val="col"/>
        <c:grouping val="clustered"/>
        <c:varyColors val="0"/>
        <c:ser>
          <c:idx val="0"/>
          <c:order val="0"/>
          <c:tx>
            <c:strRef>
              <c:f>Sheet1!$B$1</c:f>
              <c:strCache>
                <c:ptCount val="1"/>
                <c:pt idx="0">
                  <c:v>relative L2 (exact)</c:v>
                </c:pt>
              </c:strCache>
            </c:strRef>
          </c:tx>
          <c:spPr>
            <a:solidFill>
              <a:srgbClr val="1F6F8B"/>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C0 (640k)</c:v>
                  </c:pt>
                  <c:pt idx="1">
                    <c:v>E4 (160k)</c:v>
                  </c:pt>
                  <c:pt idx="2">
                    <c:v>X2 (160k)</c:v>
                  </c:pt>
                  <c:pt idx="3">
                    <c:v>Y1 (160k)</c:v>
                  </c:pt>
                  <c:pt idx="4">
                    <c:v>Z4 (640k)</c:v>
                  </c:pt>
                  <c:pt idx="5">
                    <c:v>Z4-20K (2.56M)</c:v>
                  </c:pt>
                </c:lvl>
              </c:multiLvlStrCache>
            </c:multiLvlStrRef>
          </c:cat>
          <c:val>
            <c:numRef>
              <c:f>Sheet1!$B$2:$B$7</c:f>
              <c:numCache>
                <c:formatCode>General</c:formatCode>
                <c:ptCount val="6"/>
                <c:pt idx="0">
                  <c:v>3.259</c:v>
                </c:pt>
                <c:pt idx="1">
                  <c:v>2.827</c:v>
                </c:pt>
                <c:pt idx="2">
                  <c:v>0.909</c:v>
                </c:pt>
                <c:pt idx="3">
                  <c:v>0.774</c:v>
                </c:pt>
                <c:pt idx="4">
                  <c:v>0.526</c:v>
                </c:pt>
                <c:pt idx="5">
                  <c:v>0.263</c:v>
                </c:pt>
              </c:numCache>
            </c:numRef>
          </c:val>
        </c:ser>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E6B7A"/>
                    </a:solidFill>
                    <a:latin typeface="+mn-lt"/>
                  </a:defRPr>
                </a:pPr>
                <a:r>
                  <a:rPr sz="1100" b="0" i="0" u="none" strike="noStrike">
                    <a:solidFill>
                      <a:srgbClr val="5E6B7A"/>
                    </a:solidFill>
                    <a:latin typeface="+mn-lt"/>
                  </a:rPr>
                  <a:t>configuration (PDE evaluations)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635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Persistence [cycles before collapse] by arm and seed</a:t>
            </a:r>
          </a:p>
        </c:rich>
      </c:tx>
      <c:layout/>
      <c:overlay val="0"/>
    </c:title>
    <c:autoTitleDeleted val="0"/>
    <c:plotArea>
      <c:layout/>
      <c:barChart>
        <c:barDir val="col"/>
        <c:grouping val="clustered"/>
        <c:varyColors val="0"/>
        <c:ser>
          <c:idx val="0"/>
          <c:order val="0"/>
          <c:tx>
            <c:strRef>
              <c:f>Sheet1!$B$1</c:f>
              <c:strCache>
                <c:ptCount val="1"/>
                <c:pt idx="0">
                  <c:v>seed 1234</c:v>
                </c:pt>
              </c:strCache>
            </c:strRef>
          </c:tx>
          <c:spPr>
            <a:solidFill>
              <a:srgbClr val="1F6F8B"/>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B1</c:v>
                  </c:pt>
                  <c:pt idx="1">
                    <c:v>B1 FP64</c:v>
                  </c:pt>
                  <c:pt idx="2">
                    <c:v>Mixed</c:v>
                  </c:pt>
                  <c:pt idx="3">
                    <c:v>Modal (diag.)</c:v>
                  </c:pt>
                </c:lvl>
              </c:multiLvlStrCache>
            </c:multiLvlStrRef>
          </c:cat>
          <c:val>
            <c:numRef>
              <c:f>Sheet1!$B$2:$B$5</c:f>
              <c:numCache>
                <c:formatCode>General</c:formatCode>
                <c:ptCount val="4"/>
                <c:pt idx="0">
                  <c:v>3.15</c:v>
                </c:pt>
                <c:pt idx="1">
                  <c:v>3.15</c:v>
                </c:pt>
                <c:pt idx="2">
                  <c:v>1.67</c:v>
                </c:pt>
                <c:pt idx="3">
                  <c:v>7.62</c:v>
                </c:pt>
              </c:numCache>
            </c:numRef>
          </c:val>
        </c:ser>
        <c:ser>
          <c:idx val="1"/>
          <c:order val="1"/>
          <c:tx>
            <c:strRef>
              <c:f>Sheet1!$C$1</c:f>
              <c:strCache>
                <c:ptCount val="1"/>
                <c:pt idx="0">
                  <c:v>seed 1235</c:v>
                </c:pt>
              </c:strCache>
            </c:strRef>
          </c:tx>
          <c:spPr>
            <a:solidFill>
              <a:srgbClr val="7FA7BA"/>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B1</c:v>
                  </c:pt>
                  <c:pt idx="1">
                    <c:v>B1 FP64</c:v>
                  </c:pt>
                  <c:pt idx="2">
                    <c:v>Mixed</c:v>
                  </c:pt>
                  <c:pt idx="3">
                    <c:v>Modal (diag.)</c:v>
                  </c:pt>
                </c:lvl>
              </c:multiLvlStrCache>
            </c:multiLvlStrRef>
          </c:cat>
          <c:val>
            <c:numRef>
              <c:f>Sheet1!$C$2:$C$5</c:f>
              <c:numCache>
                <c:formatCode>General</c:formatCode>
                <c:ptCount val="4"/>
                <c:pt idx="0">
                  <c:v>3.11</c:v>
                </c:pt>
                <c:pt idx="1">
                  <c:v>3.11</c:v>
                </c:pt>
                <c:pt idx="2">
                  <c:v>2.13</c:v>
                </c:pt>
                <c:pt idx="3">
                  <c:v>6.62</c:v>
                </c:pt>
              </c:numCache>
            </c:numRef>
          </c:val>
        </c:ser>
        <c:ser>
          <c:idx val="2"/>
          <c:order val="2"/>
          <c:tx>
            <c:strRef>
              <c:f>Sheet1!$D$1</c:f>
              <c:strCache>
                <c:ptCount val="1"/>
                <c:pt idx="0">
                  <c:v>seed 1236</c:v>
                </c:pt>
              </c:strCache>
            </c:strRef>
          </c:tx>
          <c:spPr>
            <a:solidFill>
              <a:srgbClr val="B7C9D3"/>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B1</c:v>
                  </c:pt>
                  <c:pt idx="1">
                    <c:v>B1 FP64</c:v>
                  </c:pt>
                  <c:pt idx="2">
                    <c:v>Mixed</c:v>
                  </c:pt>
                  <c:pt idx="3">
                    <c:v>Modal (diag.)</c:v>
                  </c:pt>
                </c:lvl>
              </c:multiLvlStrCache>
            </c:multiLvlStrRef>
          </c:cat>
          <c:val>
            <c:numRef>
              <c:f>Sheet1!$D$2:$D$5</c:f>
              <c:numCache>
                <c:formatCode>General</c:formatCode>
                <c:ptCount val="4"/>
                <c:pt idx="0">
                  <c:v>5.1</c:v>
                </c:pt>
                <c:pt idx="1">
                  <c:v>5.1</c:v>
                </c:pt>
                <c:pt idx="2">
                  <c:v>2.13</c:v>
                </c:pt>
                <c:pt idx="3">
                  <c:v>6.09</c:v>
                </c:pt>
              </c:numCache>
            </c:numRef>
          </c:val>
        </c:ser>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635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3"/>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Full field: persistence vs training progress (switch at 320k)</a:t>
            </a:r>
          </a:p>
        </c:rich>
      </c:tx>
      <c:layout/>
      <c:overlay val="0"/>
    </c:title>
    <c:autoTitleDeleted val="0"/>
    <c:plotArea>
      <c:layout/>
      <c:lineChart>
        <c:varyColors val="0"/>
        <c:ser>
          <c:idx val="0"/>
          <c:order val="0"/>
          <c:tx>
            <c:strRef>
              <c:f>Sheet1!$B$1</c:f>
              <c:strCache>
                <c:ptCount val="1"/>
                <c:pt idx="0">
                  <c:v>B1 s1234</c:v>
                </c:pt>
              </c:strCache>
            </c:strRef>
          </c:tx>
          <c:spPr>
            <a:solidFill>
              <a:srgbClr val="1F6F8B"/>
            </a:solidFill>
            <a:ln w="25400" cap="flat">
              <a:solidFill>
                <a:srgbClr val="1F6F8B"/>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1F6F8B"/>
              </a:solidFill>
              <a:ln w="9525" cap="flat">
                <a:solidFill>
                  <a:srgbClr val="1F6F8B"/>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Sheet1!$B$2:$B$6</c:f>
              <c:numCache>
                <c:formatCode>General</c:formatCode>
                <c:ptCount val="5"/>
                <c:pt idx="0">
                  <c:v>0.71</c:v>
                </c:pt>
                <c:pt idx="1">
                  <c:v>1.63</c:v>
                </c:pt>
                <c:pt idx="2">
                  <c:v>2.16</c:v>
                </c:pt>
                <c:pt idx="3">
                  <c:v>2.68</c:v>
                </c:pt>
                <c:pt idx="4">
                  <c:v>3.15</c:v>
                </c:pt>
              </c:numCache>
            </c:numRef>
          </c:val>
          <c:smooth val="0"/>
        </c:ser>
        <c:ser>
          <c:idx val="1"/>
          <c:order val="1"/>
          <c:tx>
            <c:strRef>
              <c:f>Sheet1!$C$1</c:f>
              <c:strCache>
                <c:ptCount val="1"/>
                <c:pt idx="0">
                  <c:v>B1 s1235</c:v>
                </c:pt>
              </c:strCache>
            </c:strRef>
          </c:tx>
          <c:spPr>
            <a:solidFill>
              <a:srgbClr val="1F6F8B"/>
            </a:solidFill>
            <a:ln w="25400" cap="flat">
              <a:solidFill>
                <a:srgbClr val="1F6F8B"/>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1F6F8B"/>
              </a:solidFill>
              <a:ln w="9525" cap="flat">
                <a:solidFill>
                  <a:srgbClr val="1F6F8B"/>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Sheet1!$C$2:$C$6</c:f>
              <c:numCache>
                <c:formatCode>General</c:formatCode>
                <c:ptCount val="5"/>
                <c:pt idx="0">
                  <c:v>0.71</c:v>
                </c:pt>
                <c:pt idx="1">
                  <c:v>0.71</c:v>
                </c:pt>
                <c:pt idx="2">
                  <c:v>1.61</c:v>
                </c:pt>
                <c:pt idx="3">
                  <c:v>2.16</c:v>
                </c:pt>
                <c:pt idx="4">
                  <c:v>3.11</c:v>
                </c:pt>
              </c:numCache>
            </c:numRef>
          </c:val>
          <c:smooth val="0"/>
        </c:ser>
        <c:ser>
          <c:idx val="2"/>
          <c:order val="2"/>
          <c:tx>
            <c:strRef>
              <c:f>Sheet1!$D$1</c:f>
              <c:strCache>
                <c:ptCount val="1"/>
                <c:pt idx="0">
                  <c:v>B1 s1236</c:v>
                </c:pt>
              </c:strCache>
            </c:strRef>
          </c:tx>
          <c:spPr>
            <a:solidFill>
              <a:srgbClr val="1F6F8B"/>
            </a:solidFill>
            <a:ln w="25400" cap="flat">
              <a:solidFill>
                <a:srgbClr val="1F6F8B"/>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1F6F8B"/>
              </a:solidFill>
              <a:ln w="9525" cap="flat">
                <a:solidFill>
                  <a:srgbClr val="1F6F8B"/>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Sheet1!$D$2:$D$6</c:f>
              <c:numCache>
                <c:formatCode>General</c:formatCode>
                <c:ptCount val="5"/>
                <c:pt idx="0">
                  <c:v>1.12</c:v>
                </c:pt>
                <c:pt idx="1">
                  <c:v>2.14</c:v>
                </c:pt>
                <c:pt idx="2">
                  <c:v>2.65</c:v>
                </c:pt>
                <c:pt idx="3">
                  <c:v>3.64</c:v>
                </c:pt>
                <c:pt idx="4">
                  <c:v>5.1</c:v>
                </c:pt>
              </c:numCache>
            </c:numRef>
          </c:val>
          <c:smooth val="0"/>
        </c:ser>
        <c:ser>
          <c:idx val="3"/>
          <c:order val="3"/>
          <c:tx>
            <c:strRef>
              <c:f>Sheet1!$E$1</c:f>
              <c:strCache>
                <c:ptCount val="1"/>
                <c:pt idx="0">
                  <c:v>Adam→L-BFGS s1234</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B03A2E"/>
              </a:solidFill>
              <a:ln w="9525" cap="flat">
                <a:solidFill>
                  <a:srgbClr val="B03A2E"/>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Sheet1!$E$2:$E$6</c:f>
              <c:numCache>
                <c:formatCode>General</c:formatCode>
                <c:ptCount val="5"/>
                <c:pt idx="0">
                  <c:v>0.71</c:v>
                </c:pt>
                <c:pt idx="1">
                  <c:v>1.63</c:v>
                </c:pt>
                <c:pt idx="2">
                  <c:v>1.65</c:v>
                </c:pt>
                <c:pt idx="3">
                  <c:v>1.61</c:v>
                </c:pt>
                <c:pt idx="4">
                  <c:v>1.6</c:v>
                </c:pt>
              </c:numCache>
            </c:numRef>
          </c:val>
          <c:smooth val="0"/>
        </c:ser>
        <c:ser>
          <c:idx val="4"/>
          <c:order val="4"/>
          <c:tx>
            <c:strRef>
              <c:f>Sheet1!$F$1</c:f>
              <c:strCache>
                <c:ptCount val="1"/>
                <c:pt idx="0">
                  <c:v>Adam→L-BFGS s1235</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B03A2E"/>
              </a:solidFill>
              <a:ln w="9525" cap="flat">
                <a:solidFill>
                  <a:srgbClr val="B03A2E"/>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Sheet1!$F$2:$F$6</c:f>
              <c:numCache>
                <c:formatCode>General</c:formatCode>
                <c:ptCount val="5"/>
                <c:pt idx="0">
                  <c:v>0.71</c:v>
                </c:pt>
                <c:pt idx="1">
                  <c:v>0.71</c:v>
                </c:pt>
                <c:pt idx="2">
                  <c:v>0.73</c:v>
                </c:pt>
                <c:pt idx="3">
                  <c:v>0.73</c:v>
                </c:pt>
                <c:pt idx="4">
                  <c:v>0.72</c:v>
                </c:pt>
              </c:numCache>
            </c:numRef>
          </c:val>
          <c:smooth val="0"/>
        </c:ser>
        <c:ser>
          <c:idx val="5"/>
          <c:order val="5"/>
          <c:tx>
            <c:strRef>
              <c:f>Sheet1!$G$1</c:f>
              <c:strCache>
                <c:ptCount val="1"/>
                <c:pt idx="0">
                  <c:v>Adam→L-BFGS s1236</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c:symbol val="circle"/>
            <c:size val="6"/>
            <c:spPr>
              <a:solidFill>
                <a:srgbClr val="B03A2E"/>
              </a:solidFill>
              <a:ln w="9525" cap="flat">
                <a:solidFill>
                  <a:srgbClr val="B03A2E"/>
                </a:solidFill>
                <a:prstDash val="solid"/>
                <a:round/>
              </a:ln>
              <a:effectLst/>
            </c:spPr>
          </c:marker>
          <c:cat>
            <c:multiLvlStrRef>
              <c:f>Sheet1!$A$2:$A$6</c:f>
              <c:multiLvlStrCache>
                <c:ptCount val="5"/>
                <c:lvl>
                  <c:pt idx="0">
                    <c:v>128k</c:v>
                  </c:pt>
                  <c:pt idx="1">
                    <c:v>256k</c:v>
                  </c:pt>
                  <c:pt idx="2">
                    <c:v>384k</c:v>
                  </c:pt>
                  <c:pt idx="3">
                    <c:v>512k</c:v>
                  </c:pt>
                  <c:pt idx="4">
                    <c:v>end</c:v>
                  </c:pt>
                </c:lvl>
              </c:multiLvlStrCache>
            </c:multiLvlStrRef>
          </c:cat>
          <c:val>
            <c:numRef>
              <c:f>Sheet1!$G$2:$G$6</c:f>
              <c:numCache>
                <c:formatCode>General</c:formatCode>
                <c:ptCount val="5"/>
                <c:pt idx="0">
                  <c:v>1.12</c:v>
                </c:pt>
                <c:pt idx="1">
                  <c:v>2.14</c:v>
                </c:pt>
                <c:pt idx="2">
                  <c:v>2.16</c:v>
                </c:pt>
                <c:pt idx="3">
                  <c:v>2.18</c:v>
                </c:pt>
                <c:pt idx="4">
                  <c:v>2.53</c:v>
                </c:pt>
              </c:numCache>
            </c:numRef>
          </c:val>
          <c:smooth val="0"/>
        </c:ser>
        <c:dLbls>
          <c:numFmt formatCode="#,##0" sourceLinked="0"/>
          <c:txPr>
            <a:bodyPr/>
            <a:lstStyle/>
            <a:p>
              <a:pPr>
                <a:defRPr b="0" i="0" strike="noStrike" sz="10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B7A"/>
                    </a:solidFill>
                    <a:latin typeface="+mn-lt"/>
                  </a:defRPr>
                </a:pPr>
                <a:r>
                  <a:rPr sz="1100" b="0" i="0" u="none" strike="noStrike">
                    <a:solidFill>
                      <a:srgbClr val="5E6B7A"/>
                    </a:solidFill>
                    <a:latin typeface="+mn-lt"/>
                  </a:rPr>
                  <a:t>PDE evaluations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9E0E6"/>
              </a:solidFill>
              <a:prstDash val="solid"/>
              <a:round/>
            </a:ln>
          </c:spPr>
        </c:majorGridlines>
        <c:title>
          <c:tx>
            <c:rich>
              <a:bodyPr/>
              <a:lstStyle/>
              <a:p>
                <a:pPr>
                  <a:defRPr sz="1100" b="0" i="0" u="none" strike="noStrike">
                    <a:solidFill>
                      <a:srgbClr val="5E6B7A"/>
                    </a:solidFill>
                    <a:latin typeface="+mn-lt"/>
                  </a:defRPr>
                </a:pPr>
                <a:r>
                  <a:rPr sz="1100" b="0" i="0" u="none" strike="noStrike">
                    <a:solidFill>
                      <a:srgbClr val="5E6B7A"/>
                    </a:solidFill>
                    <a:latin typeface="+mn-lt"/>
                  </a:rPr>
                  <a:t>persistence [cycles]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Residual gap G = dense / training residual (log scale)</a:t>
            </a:r>
          </a:p>
        </c:rich>
      </c:tx>
      <c:layout/>
      <c:overlay val="0"/>
    </c:title>
    <c:autoTitleDeleted val="0"/>
    <c:plotArea>
      <c:layout/>
      <c:barChart>
        <c:barDir val="col"/>
        <c:grouping val="clustered"/>
        <c:varyColors val="0"/>
        <c:ser>
          <c:idx val="0"/>
          <c:order val="0"/>
          <c:tx>
            <c:strRef>
              <c:f>Sheet1!$B$1</c:f>
              <c:strCache>
                <c:ptCount val="1"/>
                <c:pt idx="0">
                  <c:v>seed 1234</c:v>
                </c:pt>
              </c:strCache>
            </c:strRef>
          </c:tx>
          <c:spPr>
            <a:solidFill>
              <a:srgbClr val="1F6F8B"/>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Sheet1!$B$2:$B$6</c:f>
              <c:numCache>
                <c:formatCode>General</c:formatCode>
                <c:ptCount val="5"/>
                <c:pt idx="0">
                  <c:v>35.3</c:v>
                </c:pt>
                <c:pt idx="1">
                  <c:v>4</c:v>
                </c:pt>
                <c:pt idx="2">
                  <c:v>1.8</c:v>
                </c:pt>
                <c:pt idx="3">
                  <c:v/>
                </c:pt>
                <c:pt idx="4">
                  <c:v>1.1</c:v>
                </c:pt>
              </c:numCache>
            </c:numRef>
          </c:val>
        </c:ser>
        <c:ser>
          <c:idx val="1"/>
          <c:order val="1"/>
          <c:tx>
            <c:strRef>
              <c:f>Sheet1!$C$1</c:f>
              <c:strCache>
                <c:ptCount val="1"/>
                <c:pt idx="0">
                  <c:v>seed 1235</c:v>
                </c:pt>
              </c:strCache>
            </c:strRef>
          </c:tx>
          <c:spPr>
            <a:solidFill>
              <a:srgbClr val="7FA7BA"/>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Sheet1!$C$2:$C$6</c:f>
              <c:numCache>
                <c:formatCode>General</c:formatCode>
                <c:ptCount val="5"/>
                <c:pt idx="0">
                  <c:v>76.3</c:v>
                </c:pt>
                <c:pt idx="1">
                  <c:v>5.7</c:v>
                </c:pt>
                <c:pt idx="2">
                  <c:v>2.8</c:v>
                </c:pt>
                <c:pt idx="3">
                  <c:v>1.2</c:v>
                </c:pt>
                <c:pt idx="4">
                  <c:v>1.1</c:v>
                </c:pt>
              </c:numCache>
            </c:numRef>
          </c:val>
        </c:ser>
        <c:ser>
          <c:idx val="2"/>
          <c:order val="2"/>
          <c:tx>
            <c:strRef>
              <c:f>Sheet1!$D$1</c:f>
              <c:strCache>
                <c:ptCount val="1"/>
                <c:pt idx="0">
                  <c:v>seed 1236</c:v>
                </c:pt>
              </c:strCache>
            </c:strRef>
          </c:tx>
          <c:spPr>
            <a:solidFill>
              <a:srgbClr val="B7C9D3"/>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Sheet1!$D$2:$D$6</c:f>
              <c:numCache>
                <c:formatCode>General</c:formatCode>
                <c:ptCount val="5"/>
                <c:pt idx="0">
                  <c:v>43.2</c:v>
                </c:pt>
                <c:pt idx="1">
                  <c:v>6.3</c:v>
                </c:pt>
                <c:pt idx="2">
                  <c:v>2</c:v>
                </c:pt>
                <c:pt idx="3">
                  <c:v>1.4</c:v>
                </c:pt>
                <c:pt idx="4">
                  <c:v>1.1</c:v>
                </c:pt>
              </c:numCache>
            </c:numRef>
          </c:val>
        </c:ser>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catAx>
      <c:valAx>
        <c:axId val="2094734552"/>
        <c:scaling>
          <c:logBase val="10"/>
          <c:orientation val="minMax"/>
          <c:max val="100"/>
          <c:min val="1"/>
        </c:scaling>
        <c:delete val="0"/>
        <c:axPos val="l"/>
        <c:majorGridlines>
          <c:spPr>
            <a:ln w="635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Persistence at end of training [cycles]</a:t>
            </a:r>
          </a:p>
        </c:rich>
      </c:tx>
      <c:layout/>
      <c:overlay val="0"/>
    </c:title>
    <c:autoTitleDeleted val="0"/>
    <c:plotArea>
      <c:layout/>
      <c:barChart>
        <c:barDir val="col"/>
        <c:grouping val="clustered"/>
        <c:varyColors val="0"/>
        <c:ser>
          <c:idx val="0"/>
          <c:order val="0"/>
          <c:tx>
            <c:strRef>
              <c:f>Sheet1!$B$1</c:f>
              <c:strCache>
                <c:ptCount val="1"/>
                <c:pt idx="0">
                  <c:v>seed 1234</c:v>
                </c:pt>
              </c:strCache>
            </c:strRef>
          </c:tx>
          <c:spPr>
            <a:solidFill>
              <a:srgbClr val="1F6F8B"/>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Sheet1!$B$2:$B$6</c:f>
              <c:numCache>
                <c:formatCode>General</c:formatCode>
                <c:ptCount val="5"/>
                <c:pt idx="0">
                  <c:v>1.6</c:v>
                </c:pt>
                <c:pt idx="1">
                  <c:v>1.67</c:v>
                </c:pt>
                <c:pt idx="2">
                  <c:v>3.6</c:v>
                </c:pt>
                <c:pt idx="3">
                  <c:v/>
                </c:pt>
                <c:pt idx="4">
                  <c:v>3.15</c:v>
                </c:pt>
              </c:numCache>
            </c:numRef>
          </c:val>
        </c:ser>
        <c:ser>
          <c:idx val="1"/>
          <c:order val="1"/>
          <c:tx>
            <c:strRef>
              <c:f>Sheet1!$C$1</c:f>
              <c:strCache>
                <c:ptCount val="1"/>
                <c:pt idx="0">
                  <c:v>seed 1235</c:v>
                </c:pt>
              </c:strCache>
            </c:strRef>
          </c:tx>
          <c:spPr>
            <a:solidFill>
              <a:srgbClr val="7FA7BA"/>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Sheet1!$C$2:$C$6</c:f>
              <c:numCache>
                <c:formatCode>General</c:formatCode>
                <c:ptCount val="5"/>
                <c:pt idx="0">
                  <c:v>0.72</c:v>
                </c:pt>
                <c:pt idx="1">
                  <c:v>1.12</c:v>
                </c:pt>
                <c:pt idx="2">
                  <c:v>1.19</c:v>
                </c:pt>
                <c:pt idx="3">
                  <c:v>0.69</c:v>
                </c:pt>
                <c:pt idx="4">
                  <c:v>3.11</c:v>
                </c:pt>
              </c:numCache>
            </c:numRef>
          </c:val>
        </c:ser>
        <c:ser>
          <c:idx val="2"/>
          <c:order val="2"/>
          <c:tx>
            <c:strRef>
              <c:f>Sheet1!$D$1</c:f>
              <c:strCache>
                <c:ptCount val="1"/>
                <c:pt idx="0">
                  <c:v>seed 1236</c:v>
                </c:pt>
              </c:strCache>
            </c:strRef>
          </c:tx>
          <c:spPr>
            <a:solidFill>
              <a:srgbClr val="B7C9D3"/>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L-BFGS fixed 640</c:v>
                  </c:pt>
                  <c:pt idx="1">
                    <c:v>Adam fixed 640</c:v>
                  </c:pt>
                  <c:pt idx="2">
                    <c:v>L-BFGS resampled</c:v>
                  </c:pt>
                  <c:pt idx="3">
                    <c:v>L-BFGS 2,560 pool</c:v>
                  </c:pt>
                  <c:pt idx="4">
                    <c:v>B1</c:v>
                  </c:pt>
                </c:lvl>
              </c:multiLvlStrCache>
            </c:multiLvlStrRef>
          </c:cat>
          <c:val>
            <c:numRef>
              <c:f>Sheet1!$D$2:$D$6</c:f>
              <c:numCache>
                <c:formatCode>General</c:formatCode>
                <c:ptCount val="5"/>
                <c:pt idx="0">
                  <c:v>2.52</c:v>
                </c:pt>
                <c:pt idx="1">
                  <c:v>2.17</c:v>
                </c:pt>
                <c:pt idx="2">
                  <c:v>3.16</c:v>
                </c:pt>
                <c:pt idx="3">
                  <c:v>2.14</c:v>
                </c:pt>
                <c:pt idx="4">
                  <c:v>5.1</c:v>
                </c:pt>
              </c:numCache>
            </c:numRef>
          </c:val>
        </c:ser>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9E0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Presenter name and institution are placeholders: the repository metadata does not identify the presenter, so they were not guessed. The curve is the closed-form analytical reference solution (exact root of the clamped-beam eigenproblem), not a network prediction. Scope: only completed experiments through B2-E03 (commit cdd87b5) are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not a lower training loss but correct physics per unit compute. Every run reports PDE residual, frequency and decay error, persistence (cycles before the local amplitude falls below 50 % of exact), memory and wall-clock. The trace is the real B1 control (seed 1234): the first cycles are right, then the response is over-damped and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reports relative L2 = 4.64e-4 with Fourier features + NTK weighting. In our controlled implementation at our budget (2.2 % of the paper's evaluation count), the paper-faithful configuration C0 settled on a static field (L2 3.26) while the NTK weights grew to ~1e14–1e15. This is an observation under our budget, not a claim that the paper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is a result in itself: every number in this deck is reproducible from a registered run, a frozen evaluator and a committed pre-registration. ROOT (the Batch-1 repository) is frozen at d31864a and was verified byte-identical after every phase. 168 tests passed at the B2-E03 completion commit (re-verified from a clean export of cdd87b5).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rules (from the registry and the Batch-1 leaderboard, not estimated): a run = one completed training run. Distinct configurations count seed replicates once (Batch 1: Z2 = Y1 at seed 1235) and bit-exact control re-runs once (B2-E02 M0 = B2-E01 modal; B2-E02T B1 and B2-E03 B1 = B2-E01 B1). Batch-2 B1 is the Batch-1 Z4 configuration, so Batch 2 adds 10 new configurations. The 35 configurations include the vanilla baseline and three supervised representation checks, which are controls and are not counted as intervention families. The superseded legacy notebook study is not counted. Batch-1 runs are single-seed (1234; one run at 1235).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1 (single seed) moved the full-field PINN from a static field to sustained early oscillation. Hard constraints make IC/BC exact; tanh²(ω₁t) removes an ill-conditioned target (required N* ≈ −ω²/2 = −8,369 with (t/T)² vs −1.9 to −0.16 with tanh²). LR decay, mini-batch 128 and more budget progressively extend persistence. Supervised controls show the network can represent the 20.6 Hz solution. Unsuccessful interventions are reported as 'did not solve this benchmark failure under the tested budget', not as generally ineffective. Best Batch-1 run (Z4-20K): L2 0.263, 8.09 of 20.58 cycles at 2.56M evaluations, still over-damped and collapsing at 0.393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FP64 and mixed are labelled 'failed on this benchmark': they did not improve the physical solution here. FP64 is identical to FP32 to the reported digits at 1.71× the wall-clock. Mixed halves the cost per step but its displacement violates the beam equation (u-residual 2.57). Modal supplies the exact spatial mode shape and learns only q(t): it is a diagnostic, not a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 across seeds: FP64 is not material; mixed is cheaper but never more accurate; modal has longer persistence than B1 in every seed, but the magnitude varies (seed 1236 gain is within the pre-registered comparability band, because B1 itself persisted longest there). The modal front reaches its best state at 384k–512k evaluations and then retreats: a reproducible late-training degradation. Not presented as a universal result: one benchmark,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modal screen, three seeds, same initialisation and budget. Adam for 320k evaluations, then full-batch L-BFGS on a fixed 640-point set: full-window persistence in all seeds, L2 down 3.5–7×, decay close to exact (3.54). Causal weighting was worse in every seed. Wall-clock ratios are within-batch. This result uses the exact spatial mode shape: it shows the temporal sub-problem is solvable by better optimization, not that the full-field PINN is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Adam → L-BFGS controller, same accounting, applied to the frozen full-field B1 configuration (pre-registered transfer test). It fails the transfer criteria in every seed: persistence −1.6 to −2.6 cycles, L2 ×1.28–1.54, u-residual ×1.22–2.38 relative to B1. After the switch the L-BFGS front stops advancing while B1 keeps advancing. Decision E: the improvement exists only in the modal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single-change arms from the identical 320k state: L-BFGS on the fixed set, L-BFGS with fresh points every 50 closures, L-BFGS on a 4× larger pool, and full-batch Adam on the fixed set. The gap between dense-grid and training residual is a coverage × optimizer interaction (35–76× only with fixed points AND L-BFGS). Yet the 2,560-point pool has almost no gap and still stalls or diverges, and Adam on the fixed set also stalls. Resampled L-BFGS advanced in 2/3 seeds and matched B1 in only one. Value: it stopped us from optimizing collocation density, which would have been the wrong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completion percentage is given because there is no defensible way to compute one. The validated full-field reference is still B1 at matched compute. The modal diagnostic shows what correct temporal learning looks like when the spatial mode is supplied; achieving comparable dynamics while learning the spatial field, without extra compute, is the open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Railway is the intended first vertical application. The beam benchmark is the controlled step: exact physics, measurable fidelity. Moving to wheelset/axle/bearing vibration and condition monitoring requires (1) a validated full-field method, (2) real railway data and (3) more complex dynamics. None of these steps has been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message: we progressed from reproducing a difficult PINN benchmark to systematically identifying why it fails; tested multiple formulation and optimization strategies; demonstrated substantial gains in an isolated diagnostic problem; and narrowed the remaining problem to achieving those gains on the coupled full-field physics without increasing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949440" cy="17373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640080" y="3246120"/>
            <a:ext cx="6949440" cy="640080"/>
          </a:xfrm>
          <a:prstGeom prst="rect">
            <a:avLst/>
          </a:prstGeom>
          <a:noFill/>
          <a:ln/>
        </p:spPr>
        <p:txBody>
          <a:bodyPr wrap="square" rtlCol="0"/>
          <a:lstStyle>
            <a:lvl1pPr algn="l" indent="0" marL="0">
              <a:buNone/>
              <a:defRPr lang="en-US" sz="2200" dirty="0">
                <a:solidFill>
                  <a:srgbClr val="C9DCE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640080" y="6382512"/>
            <a:ext cx="10424160" cy="329184"/>
          </a:xfrm>
          <a:prstGeom prst="rect">
            <a:avLst/>
          </a:prstGeom>
          <a:noFill/>
          <a:ln/>
        </p:spPr>
        <p:txBody>
          <a:bodyPr wrap="square" rtlCol="0"/>
          <a:lstStyle>
            <a:lvl1pPr algn="l" indent="0" marL="0">
              <a:buNone/>
              <a:defRPr lang="en-US" sz="1000" dirty="0">
                <a:solidFill>
                  <a:srgbClr val="C9DCE6"/>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C9DCE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949440" cy="173736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Towards a Compute-Efficient Physics-Informed Neural Network</a:t>
            </a:r>
            <a:endParaRPr lang="en-US" sz="3600" dirty="0"/>
          </a:p>
        </p:txBody>
      </p:sp>
      <p:sp>
        <p:nvSpPr>
          <p:cNvPr id="3" name="Text 0"/>
          <p:cNvSpPr/>
          <p:nvPr>
            <p:ph idx="101" type="body" hasCustomPrompt="1"/>
          </p:nvPr>
        </p:nvSpPr>
        <p:spPr>
          <a:xfrm>
            <a:off x="640080" y="3246120"/>
            <a:ext cx="6949440" cy="640080"/>
          </a:xfrm>
          <a:prstGeom prst="rect">
            <a:avLst/>
          </a:prstGeom>
          <a:noFill/>
          <a:ln/>
        </p:spPr>
        <p:txBody>
          <a:bodyPr wrap="square" lIns="0" tIns="0" rIns="0" bIns="0" rtlCol="0"/>
          <a:lstStyle/>
          <a:p>
            <a:pPr algn="l" indent="0" marL="0">
              <a:buNone/>
            </a:pPr>
            <a:r>
              <a:rPr lang="en-US" sz="2200" dirty="0">
                <a:solidFill>
                  <a:srgbClr val="C9DCE6"/>
                </a:solidFill>
              </a:rPr>
              <a:t>From Beam-Vibration Benchmark to Railway Physics</a:t>
            </a:r>
            <a:endParaRPr lang="en-US" sz="2200" dirty="0"/>
          </a:p>
        </p:txBody>
      </p:sp>
      <p:sp>
        <p:nvSpPr>
          <p:cNvPr id="4" name="presenter"/>
          <p:cNvSpPr txBox="1"/>
          <p:nvPr/>
        </p:nvSpPr>
        <p:spPr>
          <a:xfrm>
            <a:off x="640080" y="4160520"/>
            <a:ext cx="5943600" cy="731520"/>
          </a:xfrm>
          <a:prstGeom prst="rect">
            <a:avLst/>
          </a:prstGeom>
          <a:noFill/>
          <a:ln/>
        </p:spPr>
        <p:txBody>
          <a:bodyPr wrap="square" lIns="0" tIns="0" rIns="0" bIns="0" rtlCol="0" anchor="ctr"/>
          <a:lstStyle/>
          <a:p>
            <a:pPr indent="0" marL="0">
              <a:buNone/>
            </a:pPr>
            <a:r>
              <a:rPr lang="en-US" sz="1600" b="1" dirty="0">
                <a:solidFill>
                  <a:schemeClr val="bg1"/>
                </a:solidFill>
              </a:rPr>
              <a:t>[Presenter name]</a:t>
            </a:r>
            <a:endParaRPr lang="en-US" sz="1600" dirty="0"/>
          </a:p>
          <a:p>
            <a:pPr indent="0" marL="0">
              <a:buNone/>
            </a:pPr>
            <a:r>
              <a:rPr lang="en-US" sz="1600" dirty="0">
                <a:solidFill>
                  <a:srgbClr val="C9DCE6"/>
                </a:solidFill>
              </a:rPr>
              <a:t>[Programme / institution]</a:t>
            </a:r>
            <a:endParaRPr lang="en-US" sz="1600" dirty="0"/>
          </a:p>
        </p:txBody>
      </p:sp>
      <p:sp>
        <p:nvSpPr>
          <p:cNvPr id="5" name="Text 3"/>
          <p:cNvSpPr txBox="1"/>
          <p:nvPr/>
        </p:nvSpPr>
        <p:spPr>
          <a:xfrm>
            <a:off x="640080" y="5074920"/>
            <a:ext cx="6949440" cy="457200"/>
          </a:xfrm>
          <a:prstGeom prst="rect">
            <a:avLst/>
          </a:prstGeom>
          <a:noFill/>
          <a:ln/>
        </p:spPr>
        <p:txBody>
          <a:bodyPr wrap="square" lIns="0" tIns="0" rIns="0" bIns="0" rtlCol="0" anchor="ctr"/>
          <a:lstStyle/>
          <a:p>
            <a:pPr indent="0" marL="0">
              <a:buNone/>
            </a:pPr>
            <a:r>
              <a:rPr lang="en-US" sz="1400" dirty="0">
                <a:solidFill>
                  <a:srgbClr val="C9DCE6"/>
                </a:solidFill>
              </a:rPr>
              <a:t>Physics-informed neural networks · Euler–Bernoulli beam vibration · Railway engineering (target application)</a:t>
            </a:r>
            <a:endParaRPr lang="en-US" sz="1400" dirty="0"/>
          </a:p>
        </p:txBody>
      </p:sp>
      <p:sp>
        <p:nvSpPr>
          <p:cNvPr id="6" name="Text 4"/>
          <p:cNvSpPr txBox="1"/>
          <p:nvPr/>
        </p:nvSpPr>
        <p:spPr>
          <a:xfrm>
            <a:off x="640080" y="5623560"/>
            <a:ext cx="6949440" cy="365760"/>
          </a:xfrm>
          <a:prstGeom prst="rect">
            <a:avLst/>
          </a:prstGeom>
          <a:noFill/>
          <a:ln/>
        </p:spPr>
        <p:txBody>
          <a:bodyPr wrap="square" lIns="0" tIns="0" rIns="0" bIns="0" rtlCol="0" anchor="ctr"/>
          <a:lstStyle/>
          <a:p>
            <a:pPr indent="0" marL="0">
              <a:buNone/>
            </a:pPr>
            <a:r>
              <a:rPr lang="en-US" sz="1200" dirty="0">
                <a:solidFill>
                  <a:srgbClr val="9FB6C4"/>
                </a:solidFill>
              </a:rPr>
              <a:t>Progress report · completed experiments through B2-E03 · PINN-RP commit cdd87b5</a:t>
            </a:r>
            <a:endParaRPr lang="en-US" sz="1200" dirty="0"/>
          </a:p>
        </p:txBody>
      </p:sp>
      <p:sp>
        <p:nvSpPr>
          <p:cNvPr id="7" name="Text 5"/>
          <p:cNvSpPr txBox="1"/>
          <p:nvPr/>
        </p:nvSpPr>
        <p:spPr>
          <a:xfrm>
            <a:off x="8001000" y="1417320"/>
            <a:ext cx="3657600" cy="548640"/>
          </a:xfrm>
          <a:prstGeom prst="rect">
            <a:avLst/>
          </a:prstGeom>
          <a:noFill/>
          <a:ln/>
        </p:spPr>
        <p:txBody>
          <a:bodyPr wrap="square" lIns="0" tIns="0" rIns="0" bIns="0" rtlCol="0" anchor="ctr"/>
          <a:lstStyle/>
          <a:p>
            <a:pPr indent="0" marL="0">
              <a:buNone/>
            </a:pPr>
            <a:r>
              <a:rPr lang="en-US" sz="1200" dirty="0">
                <a:solidFill>
                  <a:srgbClr val="C9DCE6"/>
                </a:solidFill>
              </a:rPr>
              <a:t>Analytical reference: mid-span displacement of the damped fixed–fixed beam (Mode 1)</a:t>
            </a:r>
            <a:endParaRPr lang="en-US" sz="1200" dirty="0"/>
          </a:p>
        </p:txBody>
      </p:sp>
      <p:graphicFrame>
        <p:nvGraphicFramePr>
          <p:cNvPr id="8" name="Chart 0" descr=""/>
          <p:cNvGraphicFramePr/>
          <p:nvPr/>
        </p:nvGraphicFramePr>
        <p:xfrm>
          <a:off x="7863840" y="1965960"/>
          <a:ext cx="384048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8001000" y="4681728"/>
            <a:ext cx="3657600" cy="274320"/>
          </a:xfrm>
          <a:prstGeom prst="rect">
            <a:avLst/>
          </a:prstGeom>
          <a:noFill/>
          <a:ln/>
        </p:spPr>
        <p:txBody>
          <a:bodyPr wrap="square" lIns="0" tIns="0" rIns="0" bIns="0" rtlCol="0" anchor="ctr"/>
          <a:lstStyle/>
          <a:p>
            <a:pPr algn="ctr" indent="0" marL="0">
              <a:buNone/>
            </a:pPr>
            <a:r>
              <a:rPr lang="en-US" sz="1100" dirty="0">
                <a:solidFill>
                  <a:srgbClr val="9FB6C4"/>
                </a:solidFill>
              </a:rPr>
              <a:t>t from 0 to 1 s</a:t>
            </a:r>
            <a:endParaRPr lang="en-US" sz="1100" dirty="0"/>
          </a:p>
        </p:txBody>
      </p:sp>
      <p:sp>
        <p:nvSpPr>
          <p:cNvPr id="10" name="Text 7"/>
          <p:cNvSpPr txBox="1"/>
          <p:nvPr/>
        </p:nvSpPr>
        <p:spPr>
          <a:xfrm>
            <a:off x="8001000" y="5029200"/>
            <a:ext cx="3657600" cy="365760"/>
          </a:xfrm>
          <a:prstGeom prst="rect">
            <a:avLst/>
          </a:prstGeom>
          <a:noFill/>
          <a:ln/>
        </p:spPr>
        <p:txBody>
          <a:bodyPr wrap="square" lIns="0" tIns="0" rIns="0" bIns="0" rtlCol="0" anchor="ctr"/>
          <a:lstStyle/>
          <a:p>
            <a:pPr indent="0" marL="0">
              <a:buNone/>
            </a:pPr>
            <a:r>
              <a:rPr lang="en-US" sz="1200" dirty="0">
                <a:solidFill>
                  <a:srgbClr val="C9DCE6"/>
                </a:solidFill>
              </a:rPr>
              <a:t>20.58 Hz · 20.58 cycles in 1 s · decay 3.54 s⁻¹</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problem: accurate dynamics at low compute</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analytical reference (src/beampinn/physics); B2-E01 B1 seed 1234 (results_batch2/tables/B2-E01_RESULTS.csv, figures/B2-E01_displacement_trace.png) · commit cdd87b5</a:t>
            </a:r>
            <a:endParaRPr lang="en-US" sz="1000" dirty="0"/>
          </a:p>
        </p:txBody>
      </p:sp>
      <p:sp>
        <p:nvSpPr>
          <p:cNvPr id="4" name="objective"/>
          <p:cNvSpPr/>
          <p:nvPr/>
        </p:nvSpPr>
        <p:spPr>
          <a:xfrm>
            <a:off x="548640" y="1280160"/>
            <a:ext cx="5212080" cy="1417320"/>
          </a:xfrm>
          <a:prstGeom prst="roundRect">
            <a:avLst>
              <a:gd name="adj" fmla="val 5161"/>
            </a:avLst>
          </a:prstGeom>
          <a:solidFill>
            <a:schemeClr val="bg2"/>
          </a:solidFill>
          <a:ln/>
        </p:spPr>
      </p:sp>
      <p:sp>
        <p:nvSpPr>
          <p:cNvPr id="5" name="Text 3"/>
          <p:cNvSpPr txBox="1"/>
          <p:nvPr/>
        </p:nvSpPr>
        <p:spPr>
          <a:xfrm>
            <a:off x="777240" y="1371600"/>
            <a:ext cx="4754880" cy="320040"/>
          </a:xfrm>
          <a:prstGeom prst="rect">
            <a:avLst/>
          </a:prstGeom>
          <a:noFill/>
          <a:ln/>
        </p:spPr>
        <p:txBody>
          <a:bodyPr wrap="square" lIns="0" tIns="0" rIns="0" bIns="0" rtlCol="0" anchor="ctr"/>
          <a:lstStyle/>
          <a:p>
            <a:pPr indent="0" marL="0">
              <a:buNone/>
            </a:pPr>
            <a:r>
              <a:rPr lang="en-US" sz="1400" b="1" dirty="0">
                <a:solidFill>
                  <a:schemeClr val="accent1"/>
                </a:solidFill>
              </a:rPr>
              <a:t>Objective</a:t>
            </a:r>
            <a:endParaRPr lang="en-US" sz="1400" dirty="0"/>
          </a:p>
        </p:txBody>
      </p:sp>
      <p:sp>
        <p:nvSpPr>
          <p:cNvPr id="6" name="Shape 4"/>
          <p:cNvSpPr/>
          <p:nvPr/>
        </p:nvSpPr>
        <p:spPr>
          <a:xfrm>
            <a:off x="777240" y="1783080"/>
            <a:ext cx="1481328" cy="731520"/>
          </a:xfrm>
          <a:prstGeom prst="roundRect">
            <a:avLst>
              <a:gd name="adj" fmla="val 10000"/>
            </a:avLst>
          </a:prstGeom>
          <a:solidFill>
            <a:schemeClr val="bg1"/>
          </a:solidFill>
          <a:ln w="12700">
            <a:solidFill>
              <a:schemeClr val="accent1"/>
            </a:solidFill>
            <a:prstDash val="solid"/>
          </a:ln>
        </p:spPr>
      </p:sp>
      <p:sp>
        <p:nvSpPr>
          <p:cNvPr id="7" name="Text 5"/>
          <p:cNvSpPr txBox="1"/>
          <p:nvPr/>
        </p:nvSpPr>
        <p:spPr>
          <a:xfrm>
            <a:off x="777240" y="1783080"/>
            <a:ext cx="1481328" cy="73152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Lower physical error</a:t>
            </a:r>
            <a:endParaRPr lang="en-US" sz="1400" dirty="0"/>
          </a:p>
        </p:txBody>
      </p:sp>
      <p:sp>
        <p:nvSpPr>
          <p:cNvPr id="8" name="Text 6"/>
          <p:cNvSpPr txBox="1"/>
          <p:nvPr/>
        </p:nvSpPr>
        <p:spPr>
          <a:xfrm>
            <a:off x="2258568" y="1783080"/>
            <a:ext cx="182880" cy="73152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9" name="Shape 7"/>
          <p:cNvSpPr/>
          <p:nvPr/>
        </p:nvSpPr>
        <p:spPr>
          <a:xfrm>
            <a:off x="2441448" y="1783080"/>
            <a:ext cx="1481328" cy="731520"/>
          </a:xfrm>
          <a:prstGeom prst="roundRect">
            <a:avLst>
              <a:gd name="adj" fmla="val 10000"/>
            </a:avLst>
          </a:prstGeom>
          <a:solidFill>
            <a:schemeClr val="bg1"/>
          </a:solidFill>
          <a:ln w="12700">
            <a:solidFill>
              <a:schemeClr val="accent1"/>
            </a:solidFill>
            <a:prstDash val="solid"/>
          </a:ln>
        </p:spPr>
      </p:sp>
      <p:sp>
        <p:nvSpPr>
          <p:cNvPr id="10" name="Text 8"/>
          <p:cNvSpPr txBox="1"/>
          <p:nvPr/>
        </p:nvSpPr>
        <p:spPr>
          <a:xfrm>
            <a:off x="2441448" y="1783080"/>
            <a:ext cx="1481328" cy="73152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Better dynamic fidelity</a:t>
            </a:r>
            <a:endParaRPr lang="en-US" sz="1400" dirty="0"/>
          </a:p>
        </p:txBody>
      </p:sp>
      <p:sp>
        <p:nvSpPr>
          <p:cNvPr id="11" name="Text 9"/>
          <p:cNvSpPr txBox="1"/>
          <p:nvPr/>
        </p:nvSpPr>
        <p:spPr>
          <a:xfrm>
            <a:off x="3922776" y="1783080"/>
            <a:ext cx="182880" cy="73152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12" name="Shape 10"/>
          <p:cNvSpPr/>
          <p:nvPr/>
        </p:nvSpPr>
        <p:spPr>
          <a:xfrm>
            <a:off x="4105656" y="1783080"/>
            <a:ext cx="1481328" cy="731520"/>
          </a:xfrm>
          <a:prstGeom prst="roundRect">
            <a:avLst>
              <a:gd name="adj" fmla="val 10000"/>
            </a:avLst>
          </a:prstGeom>
          <a:solidFill>
            <a:schemeClr val="bg1"/>
          </a:solidFill>
          <a:ln w="12700">
            <a:solidFill>
              <a:schemeClr val="accent1"/>
            </a:solidFill>
            <a:prstDash val="solid"/>
          </a:ln>
        </p:spPr>
      </p:sp>
      <p:sp>
        <p:nvSpPr>
          <p:cNvPr id="13" name="Text 11"/>
          <p:cNvSpPr txBox="1"/>
          <p:nvPr/>
        </p:nvSpPr>
        <p:spPr>
          <a:xfrm>
            <a:off x="4105656" y="1783080"/>
            <a:ext cx="1481328" cy="73152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Lower computational cost</a:t>
            </a:r>
            <a:endParaRPr lang="en-US" sz="1400" dirty="0"/>
          </a:p>
        </p:txBody>
      </p:sp>
      <p:sp>
        <p:nvSpPr>
          <p:cNvPr id="14" name="Text 12"/>
          <p:cNvSpPr txBox="1"/>
          <p:nvPr/>
        </p:nvSpPr>
        <p:spPr>
          <a:xfrm>
            <a:off x="548640" y="2926080"/>
            <a:ext cx="5212080" cy="320040"/>
          </a:xfrm>
          <a:prstGeom prst="rect">
            <a:avLst/>
          </a:prstGeom>
          <a:noFill/>
          <a:ln/>
        </p:spPr>
        <p:txBody>
          <a:bodyPr wrap="square" lIns="0" tIns="0" rIns="0" bIns="0" rtlCol="0" anchor="ctr"/>
          <a:lstStyle/>
          <a:p>
            <a:pPr indent="0" marL="0">
              <a:buNone/>
            </a:pPr>
            <a:r>
              <a:rPr lang="en-US" sz="1400" b="1" dirty="0">
                <a:solidFill>
                  <a:schemeClr val="tx2"/>
                </a:solidFill>
              </a:rPr>
              <a:t>Tracked on every run</a:t>
            </a:r>
            <a:endParaRPr lang="en-US" sz="1400" dirty="0"/>
          </a:p>
        </p:txBody>
      </p:sp>
      <p:sp>
        <p:nvSpPr>
          <p:cNvPr id="15" name="Shape 13"/>
          <p:cNvSpPr/>
          <p:nvPr/>
        </p:nvSpPr>
        <p:spPr>
          <a:xfrm>
            <a:off x="548640" y="3337560"/>
            <a:ext cx="438912" cy="438912"/>
          </a:xfrm>
          <a:prstGeom prst="ellipse">
            <a:avLst/>
          </a:prstGeom>
          <a:solidFill>
            <a:schemeClr val="accent1"/>
          </a:solidFill>
          <a:ln/>
        </p:spPr>
      </p:sp>
      <p:pic>
        <p:nvPicPr>
          <p:cNvPr id="16" name="Image 0" descr="preencoded.png">    </p:cNvPr>
          <p:cNvPicPr>
            <a:picLocks noChangeAspect="1"/>
          </p:cNvPicPr>
          <p:nvPr/>
        </p:nvPicPr>
        <p:blipFill>
          <a:blip r:embed="rId1"/>
          <a:stretch>
            <a:fillRect/>
          </a:stretch>
        </p:blipFill>
        <p:spPr>
          <a:xfrm>
            <a:off x="653979" y="3442899"/>
            <a:ext cx="228234" cy="228234"/>
          </a:xfrm>
          <a:prstGeom prst="rect">
            <a:avLst/>
          </a:prstGeom>
        </p:spPr>
      </p:pic>
      <p:sp>
        <p:nvSpPr>
          <p:cNvPr id="17" name="Text 14"/>
          <p:cNvSpPr txBox="1"/>
          <p:nvPr/>
        </p:nvSpPr>
        <p:spPr>
          <a:xfrm>
            <a:off x="1097280" y="3337560"/>
            <a:ext cx="2057400" cy="438912"/>
          </a:xfrm>
          <a:prstGeom prst="rect">
            <a:avLst/>
          </a:prstGeom>
          <a:noFill/>
          <a:ln/>
        </p:spPr>
        <p:txBody>
          <a:bodyPr wrap="square" lIns="0" tIns="0" rIns="0" bIns="0" rtlCol="0" anchor="ctr"/>
          <a:lstStyle/>
          <a:p>
            <a:pPr indent="0" marL="0">
              <a:buNone/>
            </a:pPr>
            <a:r>
              <a:rPr lang="en-US" sz="1400" dirty="0">
                <a:solidFill>
                  <a:schemeClr val="tx1"/>
                </a:solidFill>
              </a:rPr>
              <a:t>PDE residual</a:t>
            </a:r>
            <a:endParaRPr lang="en-US" sz="1400" dirty="0"/>
          </a:p>
        </p:txBody>
      </p:sp>
      <p:sp>
        <p:nvSpPr>
          <p:cNvPr id="18" name="Shape 15"/>
          <p:cNvSpPr/>
          <p:nvPr/>
        </p:nvSpPr>
        <p:spPr>
          <a:xfrm>
            <a:off x="3200400" y="3337560"/>
            <a:ext cx="438912" cy="438912"/>
          </a:xfrm>
          <a:prstGeom prst="ellipse">
            <a:avLst/>
          </a:prstGeom>
          <a:solidFill>
            <a:schemeClr val="accent1"/>
          </a:solidFill>
          <a:ln/>
        </p:spPr>
      </p:sp>
      <p:pic>
        <p:nvPicPr>
          <p:cNvPr id="19" name="Image 1" descr="preencoded.png">    </p:cNvPr>
          <p:cNvPicPr>
            <a:picLocks noChangeAspect="1"/>
          </p:cNvPicPr>
          <p:nvPr/>
        </p:nvPicPr>
        <p:blipFill>
          <a:blip r:embed="rId2"/>
          <a:stretch>
            <a:fillRect/>
          </a:stretch>
        </p:blipFill>
        <p:spPr>
          <a:xfrm>
            <a:off x="3305739" y="3442899"/>
            <a:ext cx="228234" cy="228234"/>
          </a:xfrm>
          <a:prstGeom prst="rect">
            <a:avLst/>
          </a:prstGeom>
        </p:spPr>
      </p:pic>
      <p:sp>
        <p:nvSpPr>
          <p:cNvPr id="20" name="Text 16"/>
          <p:cNvSpPr txBox="1"/>
          <p:nvPr/>
        </p:nvSpPr>
        <p:spPr>
          <a:xfrm>
            <a:off x="3749040" y="3337560"/>
            <a:ext cx="2057400" cy="438912"/>
          </a:xfrm>
          <a:prstGeom prst="rect">
            <a:avLst/>
          </a:prstGeom>
          <a:noFill/>
          <a:ln/>
        </p:spPr>
        <p:txBody>
          <a:bodyPr wrap="square" lIns="0" tIns="0" rIns="0" bIns="0" rtlCol="0" anchor="ctr"/>
          <a:lstStyle/>
          <a:p>
            <a:pPr indent="0" marL="0">
              <a:buNone/>
            </a:pPr>
            <a:r>
              <a:rPr lang="en-US" sz="1400" dirty="0">
                <a:solidFill>
                  <a:schemeClr val="tx1"/>
                </a:solidFill>
              </a:rPr>
              <a:t>Frequency error</a:t>
            </a:r>
            <a:endParaRPr lang="en-US" sz="1400" dirty="0"/>
          </a:p>
        </p:txBody>
      </p:sp>
      <p:sp>
        <p:nvSpPr>
          <p:cNvPr id="21" name="Shape 17"/>
          <p:cNvSpPr/>
          <p:nvPr/>
        </p:nvSpPr>
        <p:spPr>
          <a:xfrm>
            <a:off x="548640" y="3904488"/>
            <a:ext cx="438912" cy="438912"/>
          </a:xfrm>
          <a:prstGeom prst="ellipse">
            <a:avLst/>
          </a:prstGeom>
          <a:solidFill>
            <a:schemeClr val="accent1"/>
          </a:solidFill>
          <a:ln/>
        </p:spPr>
      </p:sp>
      <p:pic>
        <p:nvPicPr>
          <p:cNvPr id="22" name="Image 2" descr="preencoded.png">    </p:cNvPr>
          <p:cNvPicPr>
            <a:picLocks noChangeAspect="1"/>
          </p:cNvPicPr>
          <p:nvPr/>
        </p:nvPicPr>
        <p:blipFill>
          <a:blip r:embed="rId3"/>
          <a:stretch>
            <a:fillRect/>
          </a:stretch>
        </p:blipFill>
        <p:spPr>
          <a:xfrm>
            <a:off x="653979" y="4009827"/>
            <a:ext cx="228234" cy="228234"/>
          </a:xfrm>
          <a:prstGeom prst="rect">
            <a:avLst/>
          </a:prstGeom>
        </p:spPr>
      </p:pic>
      <p:sp>
        <p:nvSpPr>
          <p:cNvPr id="23" name="Text 18"/>
          <p:cNvSpPr txBox="1"/>
          <p:nvPr/>
        </p:nvSpPr>
        <p:spPr>
          <a:xfrm>
            <a:off x="1097280" y="3904488"/>
            <a:ext cx="2057400" cy="438912"/>
          </a:xfrm>
          <a:prstGeom prst="rect">
            <a:avLst/>
          </a:prstGeom>
          <a:noFill/>
          <a:ln/>
        </p:spPr>
        <p:txBody>
          <a:bodyPr wrap="square" lIns="0" tIns="0" rIns="0" bIns="0" rtlCol="0" anchor="ctr"/>
          <a:lstStyle/>
          <a:p>
            <a:pPr indent="0" marL="0">
              <a:buNone/>
            </a:pPr>
            <a:r>
              <a:rPr lang="en-US" sz="1400" dirty="0">
                <a:solidFill>
                  <a:schemeClr val="tx1"/>
                </a:solidFill>
              </a:rPr>
              <a:t>Damping / decay rate</a:t>
            </a:r>
            <a:endParaRPr lang="en-US" sz="1400" dirty="0"/>
          </a:p>
        </p:txBody>
      </p:sp>
      <p:sp>
        <p:nvSpPr>
          <p:cNvPr id="24" name="Shape 19"/>
          <p:cNvSpPr/>
          <p:nvPr/>
        </p:nvSpPr>
        <p:spPr>
          <a:xfrm>
            <a:off x="3200400" y="3904488"/>
            <a:ext cx="438912" cy="438912"/>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3305739" y="4009827"/>
            <a:ext cx="228234" cy="228234"/>
          </a:xfrm>
          <a:prstGeom prst="rect">
            <a:avLst/>
          </a:prstGeom>
        </p:spPr>
      </p:pic>
      <p:sp>
        <p:nvSpPr>
          <p:cNvPr id="26" name="Text 20"/>
          <p:cNvSpPr txBox="1"/>
          <p:nvPr/>
        </p:nvSpPr>
        <p:spPr>
          <a:xfrm>
            <a:off x="3749040" y="3904488"/>
            <a:ext cx="2057400" cy="438912"/>
          </a:xfrm>
          <a:prstGeom prst="rect">
            <a:avLst/>
          </a:prstGeom>
          <a:noFill/>
          <a:ln/>
        </p:spPr>
        <p:txBody>
          <a:bodyPr wrap="square" lIns="0" tIns="0" rIns="0" bIns="0" rtlCol="0" anchor="ctr"/>
          <a:lstStyle/>
          <a:p>
            <a:pPr indent="0" marL="0">
              <a:buNone/>
            </a:pPr>
            <a:r>
              <a:rPr lang="en-US" sz="1400" dirty="0">
                <a:solidFill>
                  <a:schemeClr val="tx1"/>
                </a:solidFill>
              </a:rPr>
              <a:t>Persistence (cycles)</a:t>
            </a:r>
            <a:endParaRPr lang="en-US" sz="1400" dirty="0"/>
          </a:p>
        </p:txBody>
      </p:sp>
      <p:sp>
        <p:nvSpPr>
          <p:cNvPr id="27" name="Shape 21"/>
          <p:cNvSpPr/>
          <p:nvPr/>
        </p:nvSpPr>
        <p:spPr>
          <a:xfrm>
            <a:off x="548640" y="4471416"/>
            <a:ext cx="438912" cy="438912"/>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653979" y="4576755"/>
            <a:ext cx="228234" cy="228234"/>
          </a:xfrm>
          <a:prstGeom prst="rect">
            <a:avLst/>
          </a:prstGeom>
        </p:spPr>
      </p:pic>
      <p:sp>
        <p:nvSpPr>
          <p:cNvPr id="29" name="Text 22"/>
          <p:cNvSpPr txBox="1"/>
          <p:nvPr/>
        </p:nvSpPr>
        <p:spPr>
          <a:xfrm>
            <a:off x="1097280" y="4471416"/>
            <a:ext cx="2057400" cy="438912"/>
          </a:xfrm>
          <a:prstGeom prst="rect">
            <a:avLst/>
          </a:prstGeom>
          <a:noFill/>
          <a:ln/>
        </p:spPr>
        <p:txBody>
          <a:bodyPr wrap="square" lIns="0" tIns="0" rIns="0" bIns="0" rtlCol="0" anchor="ctr"/>
          <a:lstStyle/>
          <a:p>
            <a:pPr indent="0" marL="0">
              <a:buNone/>
            </a:pPr>
            <a:r>
              <a:rPr lang="en-US" sz="1400" dirty="0">
                <a:solidFill>
                  <a:schemeClr val="tx1"/>
                </a:solidFill>
              </a:rPr>
              <a:t>Peak memory</a:t>
            </a:r>
            <a:endParaRPr lang="en-US" sz="1400" dirty="0"/>
          </a:p>
        </p:txBody>
      </p:sp>
      <p:sp>
        <p:nvSpPr>
          <p:cNvPr id="30" name="Shape 23"/>
          <p:cNvSpPr/>
          <p:nvPr/>
        </p:nvSpPr>
        <p:spPr>
          <a:xfrm>
            <a:off x="3200400" y="4471416"/>
            <a:ext cx="438912" cy="438912"/>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3305739" y="4576755"/>
            <a:ext cx="228234" cy="228234"/>
          </a:xfrm>
          <a:prstGeom prst="rect">
            <a:avLst/>
          </a:prstGeom>
        </p:spPr>
      </p:pic>
      <p:sp>
        <p:nvSpPr>
          <p:cNvPr id="32" name="Text 24"/>
          <p:cNvSpPr txBox="1"/>
          <p:nvPr/>
        </p:nvSpPr>
        <p:spPr>
          <a:xfrm>
            <a:off x="3749040" y="4471416"/>
            <a:ext cx="2057400" cy="438912"/>
          </a:xfrm>
          <a:prstGeom prst="rect">
            <a:avLst/>
          </a:prstGeom>
          <a:noFill/>
          <a:ln/>
        </p:spPr>
        <p:txBody>
          <a:bodyPr wrap="square" lIns="0" tIns="0" rIns="0" bIns="0" rtlCol="0" anchor="ctr"/>
          <a:lstStyle/>
          <a:p>
            <a:pPr indent="0" marL="0">
              <a:buNone/>
            </a:pPr>
            <a:r>
              <a:rPr lang="en-US" sz="1400" dirty="0">
                <a:solidFill>
                  <a:schemeClr val="tx1"/>
                </a:solidFill>
              </a:rPr>
              <a:t>Wall-clock time</a:t>
            </a:r>
            <a:endParaRPr lang="en-US" sz="1400" dirty="0"/>
          </a:p>
        </p:txBody>
      </p:sp>
      <p:sp>
        <p:nvSpPr>
          <p:cNvPr id="33" name="Text 25"/>
          <p:cNvSpPr txBox="1"/>
          <p:nvPr/>
        </p:nvSpPr>
        <p:spPr>
          <a:xfrm>
            <a:off x="548640" y="5120640"/>
            <a:ext cx="5212080" cy="960120"/>
          </a:xfrm>
          <a:prstGeom prst="rect">
            <a:avLst/>
          </a:prstGeom>
          <a:noFill/>
          <a:ln/>
        </p:spPr>
        <p:txBody>
          <a:bodyPr wrap="square" lIns="0" tIns="0" rIns="0" bIns="0" rtlCol="0" anchor="ctr"/>
          <a:lstStyle/>
          <a:p>
            <a:pPr indent="0" marL="0">
              <a:buNone/>
            </a:pPr>
            <a:r>
              <a:rPr lang="en-US" sz="1300" i="1" dirty="0">
                <a:solidFill>
                  <a:srgbClr val="5E6B7A"/>
                </a:solidFill>
              </a:rPr>
              <a:t>A low scalar loss is not enough: u ≡ 0 also satisfies the homogeneous beam equation, so a collapsed late-time field can carry a small residual. Dynamics are therefore measured directly.</a:t>
            </a:r>
            <a:endParaRPr lang="en-US" sz="1300" dirty="0"/>
          </a:p>
        </p:txBody>
      </p:sp>
      <p:sp>
        <p:nvSpPr>
          <p:cNvPr id="34" name="card"/>
          <p:cNvSpPr/>
          <p:nvPr/>
        </p:nvSpPr>
        <p:spPr>
          <a:xfrm>
            <a:off x="6263640" y="1280160"/>
            <a:ext cx="1554480" cy="868680"/>
          </a:xfrm>
          <a:prstGeom prst="roundRect">
            <a:avLst>
              <a:gd name="adj" fmla="val 8421"/>
            </a:avLst>
          </a:prstGeom>
          <a:solidFill>
            <a:schemeClr val="bg2"/>
          </a:solidFill>
          <a:ln/>
        </p:spPr>
      </p:sp>
      <p:sp>
        <p:nvSpPr>
          <p:cNvPr id="35" name="Text 27"/>
          <p:cNvSpPr txBox="1"/>
          <p:nvPr/>
        </p:nvSpPr>
        <p:spPr>
          <a:xfrm>
            <a:off x="6263640" y="128016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PDE</a:t>
            </a:r>
            <a:endParaRPr lang="en-US" sz="1400" dirty="0"/>
          </a:p>
          <a:p>
            <a:pPr algn="ctr" indent="0" marL="0">
              <a:buNone/>
            </a:pPr>
            <a:r>
              <a:rPr lang="en-US" sz="1100" dirty="0">
                <a:solidFill>
                  <a:srgbClr val="5E6B7A"/>
                </a:solidFill>
              </a:rPr>
              <a:t>c²u_xxxx + u_tt + γu_t = 0</a:t>
            </a:r>
            <a:endParaRPr lang="en-US" sz="1400" dirty="0"/>
          </a:p>
        </p:txBody>
      </p:sp>
      <p:sp>
        <p:nvSpPr>
          <p:cNvPr id="36" name="Shape 28"/>
          <p:cNvSpPr/>
          <p:nvPr/>
        </p:nvSpPr>
        <p:spPr>
          <a:xfrm>
            <a:off x="7836408" y="1600200"/>
            <a:ext cx="237744" cy="228600"/>
          </a:xfrm>
          <a:prstGeom prst="rightArrow">
            <a:avLst/>
          </a:prstGeom>
          <a:solidFill>
            <a:schemeClr val="accent5"/>
          </a:solidFill>
          <a:ln/>
        </p:spPr>
      </p:sp>
      <p:sp>
        <p:nvSpPr>
          <p:cNvPr id="37" name="card"/>
          <p:cNvSpPr/>
          <p:nvPr/>
        </p:nvSpPr>
        <p:spPr>
          <a:xfrm>
            <a:off x="8092440" y="1280160"/>
            <a:ext cx="1554480" cy="868680"/>
          </a:xfrm>
          <a:prstGeom prst="roundRect">
            <a:avLst>
              <a:gd name="adj" fmla="val 8421"/>
            </a:avLst>
          </a:prstGeom>
          <a:solidFill>
            <a:schemeClr val="bg2"/>
          </a:solidFill>
          <a:ln/>
        </p:spPr>
      </p:sp>
      <p:sp>
        <p:nvSpPr>
          <p:cNvPr id="38" name="Text 30"/>
          <p:cNvSpPr txBox="1"/>
          <p:nvPr/>
        </p:nvSpPr>
        <p:spPr>
          <a:xfrm>
            <a:off x="8092440" y="128016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PINN</a:t>
            </a:r>
            <a:endParaRPr lang="en-US" sz="1400" dirty="0"/>
          </a:p>
          <a:p>
            <a:pPr algn="ctr" indent="0" marL="0">
              <a:buNone/>
            </a:pPr>
            <a:r>
              <a:rPr lang="en-US" sz="1100" dirty="0">
                <a:solidFill>
                  <a:srgbClr val="5E6B7A"/>
                </a:solidFill>
              </a:rPr>
              <a:t>network u_θ(x, t)</a:t>
            </a:r>
            <a:endParaRPr lang="en-US" sz="1400" dirty="0"/>
          </a:p>
        </p:txBody>
      </p:sp>
      <p:sp>
        <p:nvSpPr>
          <p:cNvPr id="39" name="Shape 31"/>
          <p:cNvSpPr/>
          <p:nvPr/>
        </p:nvSpPr>
        <p:spPr>
          <a:xfrm>
            <a:off x="9665208" y="1600200"/>
            <a:ext cx="237744" cy="228600"/>
          </a:xfrm>
          <a:prstGeom prst="rightArrow">
            <a:avLst/>
          </a:prstGeom>
          <a:solidFill>
            <a:schemeClr val="accent5"/>
          </a:solidFill>
          <a:ln/>
        </p:spPr>
      </p:sp>
      <p:sp>
        <p:nvSpPr>
          <p:cNvPr id="40" name="card"/>
          <p:cNvSpPr/>
          <p:nvPr/>
        </p:nvSpPr>
        <p:spPr>
          <a:xfrm>
            <a:off x="9921240" y="1280160"/>
            <a:ext cx="1554480" cy="868680"/>
          </a:xfrm>
          <a:prstGeom prst="roundRect">
            <a:avLst>
              <a:gd name="adj" fmla="val 8421"/>
            </a:avLst>
          </a:prstGeom>
          <a:solidFill>
            <a:schemeClr val="bg2"/>
          </a:solidFill>
          <a:ln/>
        </p:spPr>
      </p:sp>
      <p:sp>
        <p:nvSpPr>
          <p:cNvPr id="41" name="Text 33"/>
          <p:cNvSpPr txBox="1"/>
          <p:nvPr/>
        </p:nvSpPr>
        <p:spPr>
          <a:xfrm>
            <a:off x="9921240" y="1280160"/>
            <a:ext cx="1554480" cy="868680"/>
          </a:xfrm>
          <a:prstGeom prst="rect">
            <a:avLst/>
          </a:prstGeom>
          <a:noFill/>
          <a:ln/>
        </p:spPr>
        <p:txBody>
          <a:bodyPr wrap="square" lIns="25400" tIns="25400" rIns="25400" bIns="25400" rtlCol="0" anchor="ctr"/>
          <a:lstStyle/>
          <a:p>
            <a:pPr algn="ctr" indent="0" marL="0">
              <a:buNone/>
            </a:pPr>
            <a:r>
              <a:rPr lang="en-US" sz="1400" b="1" dirty="0">
                <a:solidFill>
                  <a:schemeClr val="tx2"/>
                </a:solidFill>
              </a:rPr>
              <a:t>Prediction</a:t>
            </a:r>
            <a:endParaRPr lang="en-US" sz="1400" dirty="0"/>
          </a:p>
          <a:p>
            <a:pPr algn="ctr" indent="0" marL="0">
              <a:buNone/>
            </a:pPr>
            <a:r>
              <a:rPr lang="en-US" sz="1100" dirty="0">
                <a:solidFill>
                  <a:srgbClr val="5E6B7A"/>
                </a:solidFill>
              </a:rPr>
              <a:t>vibration u(x, t)</a:t>
            </a:r>
            <a:endParaRPr lang="en-US" sz="1400" dirty="0"/>
          </a:p>
        </p:txBody>
      </p:sp>
      <p:sp>
        <p:nvSpPr>
          <p:cNvPr id="42" name="Text 34"/>
          <p:cNvSpPr txBox="1"/>
          <p:nvPr/>
        </p:nvSpPr>
        <p:spPr>
          <a:xfrm>
            <a:off x="6263640" y="2331720"/>
            <a:ext cx="5394960" cy="274320"/>
          </a:xfrm>
          <a:prstGeom prst="rect">
            <a:avLst/>
          </a:prstGeom>
          <a:noFill/>
          <a:ln/>
        </p:spPr>
        <p:txBody>
          <a:bodyPr wrap="square" lIns="0" tIns="0" rIns="0" bIns="0" rtlCol="0" anchor="ctr"/>
          <a:lstStyle/>
          <a:p>
            <a:pPr indent="0" marL="0">
              <a:buNone/>
            </a:pPr>
            <a:r>
              <a:rPr lang="en-US" sz="1300" b="1" dirty="0">
                <a:solidFill>
                  <a:schemeClr val="tx2"/>
                </a:solidFill>
              </a:rPr>
              <a:t>Observed failure mode</a:t>
            </a:r>
            <a:endParaRPr lang="en-US" sz="1300" dirty="0"/>
          </a:p>
        </p:txBody>
      </p:sp>
      <p:sp>
        <p:nvSpPr>
          <p:cNvPr id="43" name="Shape 35"/>
          <p:cNvSpPr/>
          <p:nvPr/>
        </p:nvSpPr>
        <p:spPr>
          <a:xfrm>
            <a:off x="6263640" y="2651760"/>
            <a:ext cx="1554480" cy="502920"/>
          </a:xfrm>
          <a:prstGeom prst="roundRect">
            <a:avLst>
              <a:gd name="adj" fmla="val 14545"/>
            </a:avLst>
          </a:prstGeom>
          <a:solidFill>
            <a:schemeClr val="accent2"/>
          </a:solidFill>
          <a:ln/>
        </p:spPr>
      </p:sp>
      <p:sp>
        <p:nvSpPr>
          <p:cNvPr id="44" name="Text 36"/>
          <p:cNvSpPr txBox="1"/>
          <p:nvPr/>
        </p:nvSpPr>
        <p:spPr>
          <a:xfrm>
            <a:off x="6263640" y="2651760"/>
            <a:ext cx="1554480" cy="502920"/>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Correct early oscillation</a:t>
            </a:r>
            <a:endParaRPr lang="en-US" sz="1200" dirty="0"/>
          </a:p>
        </p:txBody>
      </p:sp>
      <p:sp>
        <p:nvSpPr>
          <p:cNvPr id="45" name="Shape 37"/>
          <p:cNvSpPr/>
          <p:nvPr/>
        </p:nvSpPr>
        <p:spPr>
          <a:xfrm>
            <a:off x="7836408" y="2788920"/>
            <a:ext cx="237744" cy="228600"/>
          </a:xfrm>
          <a:prstGeom prst="rightArrow">
            <a:avLst/>
          </a:prstGeom>
          <a:solidFill>
            <a:schemeClr val="accent5"/>
          </a:solidFill>
          <a:ln/>
        </p:spPr>
      </p:sp>
      <p:sp>
        <p:nvSpPr>
          <p:cNvPr id="46" name="Shape 38"/>
          <p:cNvSpPr/>
          <p:nvPr/>
        </p:nvSpPr>
        <p:spPr>
          <a:xfrm>
            <a:off x="8092440" y="2651760"/>
            <a:ext cx="1554480" cy="502920"/>
          </a:xfrm>
          <a:prstGeom prst="roundRect">
            <a:avLst>
              <a:gd name="adj" fmla="val 14545"/>
            </a:avLst>
          </a:prstGeom>
          <a:solidFill>
            <a:schemeClr val="accent3"/>
          </a:solidFill>
          <a:ln/>
        </p:spPr>
      </p:sp>
      <p:sp>
        <p:nvSpPr>
          <p:cNvPr id="47" name="Text 39"/>
          <p:cNvSpPr txBox="1"/>
          <p:nvPr/>
        </p:nvSpPr>
        <p:spPr>
          <a:xfrm>
            <a:off x="8092440" y="2651760"/>
            <a:ext cx="1554480" cy="502920"/>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Artificial damping</a:t>
            </a:r>
            <a:endParaRPr lang="en-US" sz="1200" dirty="0"/>
          </a:p>
        </p:txBody>
      </p:sp>
      <p:sp>
        <p:nvSpPr>
          <p:cNvPr id="48" name="Shape 40"/>
          <p:cNvSpPr/>
          <p:nvPr/>
        </p:nvSpPr>
        <p:spPr>
          <a:xfrm>
            <a:off x="9665208" y="2788920"/>
            <a:ext cx="237744" cy="228600"/>
          </a:xfrm>
          <a:prstGeom prst="rightArrow">
            <a:avLst/>
          </a:prstGeom>
          <a:solidFill>
            <a:schemeClr val="accent5"/>
          </a:solidFill>
          <a:ln/>
        </p:spPr>
      </p:sp>
      <p:sp>
        <p:nvSpPr>
          <p:cNvPr id="49" name="Shape 41"/>
          <p:cNvSpPr/>
          <p:nvPr/>
        </p:nvSpPr>
        <p:spPr>
          <a:xfrm>
            <a:off x="9921240" y="2651760"/>
            <a:ext cx="1554480" cy="502920"/>
          </a:xfrm>
          <a:prstGeom prst="roundRect">
            <a:avLst>
              <a:gd name="adj" fmla="val 14545"/>
            </a:avLst>
          </a:prstGeom>
          <a:solidFill>
            <a:schemeClr val="accent4"/>
          </a:solidFill>
          <a:ln/>
        </p:spPr>
      </p:sp>
      <p:sp>
        <p:nvSpPr>
          <p:cNvPr id="50" name="Text 42"/>
          <p:cNvSpPr txBox="1"/>
          <p:nvPr/>
        </p:nvSpPr>
        <p:spPr>
          <a:xfrm>
            <a:off x="9921240" y="2651760"/>
            <a:ext cx="1554480" cy="502920"/>
          </a:xfrm>
          <a:prstGeom prst="rect">
            <a:avLst/>
          </a:prstGeom>
          <a:noFill/>
          <a:ln/>
        </p:spPr>
        <p:txBody>
          <a:bodyPr wrap="square" lIns="25400" tIns="25400" rIns="25400" bIns="25400" rtlCol="0" anchor="ctr"/>
          <a:lstStyle/>
          <a:p>
            <a:pPr algn="ctr" indent="0" marL="0">
              <a:buNone/>
            </a:pPr>
            <a:r>
              <a:rPr lang="en-US" sz="1200" b="1" dirty="0">
                <a:solidFill>
                  <a:schemeClr val="bg1"/>
                </a:solidFill>
              </a:rPr>
              <a:t>Collapse</a:t>
            </a:r>
            <a:endParaRPr lang="en-US" sz="1200" dirty="0"/>
          </a:p>
        </p:txBody>
      </p:sp>
      <p:pic>
        <p:nvPicPr>
          <p:cNvPr id="51" name="Image 6" descr="B1 mid-span displacement vs exact, seed 1234">    </p:cNvPr>
          <p:cNvPicPr>
            <a:picLocks noChangeAspect="1"/>
          </p:cNvPicPr>
          <p:nvPr/>
        </p:nvPicPr>
        <p:blipFill>
          <a:blip r:embed="rId7"/>
          <a:stretch>
            <a:fillRect/>
          </a:stretch>
        </p:blipFill>
        <p:spPr>
          <a:xfrm>
            <a:off x="6172200" y="3337560"/>
            <a:ext cx="5486400" cy="1444371"/>
          </a:xfrm>
          <a:prstGeom prst="rect">
            <a:avLst/>
          </a:prstGeom>
        </p:spPr>
      </p:pic>
      <p:sp>
        <p:nvSpPr>
          <p:cNvPr id="52" name="Text 43"/>
          <p:cNvSpPr txBox="1"/>
          <p:nvPr/>
        </p:nvSpPr>
        <p:spPr>
          <a:xfrm>
            <a:off x="6263640" y="4892040"/>
            <a:ext cx="5394960" cy="548640"/>
          </a:xfrm>
          <a:prstGeom prst="rect">
            <a:avLst/>
          </a:prstGeom>
          <a:noFill/>
          <a:ln/>
        </p:spPr>
        <p:txBody>
          <a:bodyPr wrap="square" lIns="0" tIns="0" rIns="0" bIns="0" rtlCol="0" anchor="ctr"/>
          <a:lstStyle/>
          <a:p>
            <a:pPr indent="0" marL="0">
              <a:buNone/>
            </a:pPr>
            <a:r>
              <a:rPr lang="en-US" sz="1300" dirty="0">
                <a:solidFill>
                  <a:schemeClr val="tx1"/>
                </a:solidFill>
              </a:rPr>
              <a:t>B1 (seed 1234): decay 8.98 s⁻¹ vs exact 3.54 s⁻¹; collapse at 0.153 s (3.15 of 20.58 cycles)</a:t>
            </a:r>
            <a:endParaRPr lang="en-US" sz="13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Starting point: the published benchmark</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Söyleyici &amp; Ünver, EAAI 141 (2025) 109804; references/batch1/ (paper_benchmark_registry.csv, optimization_leaderboard.csv, PHASE_A1_CHECKPOINT.md) · commit cdd87b5</a:t>
            </a:r>
            <a:endParaRPr lang="en-US" sz="1000" dirty="0"/>
          </a:p>
        </p:txBody>
      </p:sp>
      <p:sp>
        <p:nvSpPr>
          <p:cNvPr id="4" name="status-bg"/>
          <p:cNvSpPr/>
          <p:nvPr/>
        </p:nvSpPr>
        <p:spPr>
          <a:xfrm>
            <a:off x="9265615" y="530352"/>
            <a:ext cx="2377440" cy="347472"/>
          </a:xfrm>
          <a:prstGeom prst="roundRect">
            <a:avLst>
              <a:gd name="adj" fmla="val 50000"/>
            </a:avLst>
          </a:prstGeom>
          <a:solidFill>
            <a:schemeClr val="accent1"/>
          </a:solidFill>
          <a:ln/>
        </p:spPr>
      </p:sp>
      <p:sp>
        <p:nvSpPr>
          <p:cNvPr id="5" name="status"/>
          <p:cNvSpPr txBox="1"/>
          <p:nvPr/>
        </p:nvSpPr>
        <p:spPr>
          <a:xfrm>
            <a:off x="9265615" y="530352"/>
            <a:ext cx="2377440" cy="347472"/>
          </a:xfrm>
          <a:prstGeom prst="rect">
            <a:avLst/>
          </a:prstGeom>
          <a:noFill/>
          <a:ln/>
        </p:spPr>
        <p:txBody>
          <a:bodyPr wrap="square" lIns="0" tIns="0" rIns="0" bIns="0" rtlCol="0" anchor="ctr"/>
          <a:lstStyle/>
          <a:p>
            <a:pPr algn="ctr" indent="0" marL="0">
              <a:buNone/>
            </a:pPr>
            <a:r>
              <a:rPr lang="en-US" sz="1100" b="1" spc="100" kern="0" dirty="0">
                <a:solidFill>
                  <a:schemeClr val="bg1"/>
                </a:solidFill>
              </a:rPr>
              <a:t>BENCHMARK</a:t>
            </a:r>
            <a:endParaRPr lang="en-US" sz="1100" dirty="0"/>
          </a:p>
        </p:txBody>
      </p:sp>
      <p:sp>
        <p:nvSpPr>
          <p:cNvPr id="6" name="card"/>
          <p:cNvSpPr/>
          <p:nvPr/>
        </p:nvSpPr>
        <p:spPr>
          <a:xfrm>
            <a:off x="548640" y="1280160"/>
            <a:ext cx="6492240" cy="1600200"/>
          </a:xfrm>
          <a:prstGeom prst="roundRect">
            <a:avLst>
              <a:gd name="adj" fmla="val 4571"/>
            </a:avLst>
          </a:prstGeom>
          <a:solidFill>
            <a:schemeClr val="bg2"/>
          </a:solidFill>
          <a:ln/>
        </p:spPr>
      </p:sp>
      <p:sp>
        <p:nvSpPr>
          <p:cNvPr id="7" name="Text 5"/>
          <p:cNvSpPr txBox="1"/>
          <p:nvPr/>
        </p:nvSpPr>
        <p:spPr>
          <a:xfrm>
            <a:off x="777240" y="1371600"/>
            <a:ext cx="6080760" cy="14173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Cem Söyleyici &amp; Hakkı Özgür Ünver</a:t>
            </a:r>
            <a:endParaRPr lang="en-US" sz="1500" dirty="0"/>
          </a:p>
          <a:p>
            <a:pPr indent="0" marL="0">
              <a:spcAft>
                <a:spcPts val="600"/>
              </a:spcAft>
              <a:buNone/>
            </a:pPr>
            <a:r>
              <a:rPr lang="en-US" sz="1500" i="1" dirty="0">
                <a:solidFill>
                  <a:schemeClr val="tx1"/>
                </a:solidFill>
              </a:rPr>
              <a:t>“A Physics-Informed Deep Neural Network based beam vibration framework for simulation and parameter identification”</a:t>
            </a:r>
            <a:endParaRPr lang="en-US" sz="1500" dirty="0"/>
          </a:p>
          <a:p>
            <a:pPr indent="0" marL="0">
              <a:spcAft>
                <a:spcPts val="600"/>
              </a:spcAft>
              <a:buNone/>
            </a:pPr>
            <a:r>
              <a:rPr lang="en-US" sz="1500" dirty="0">
                <a:solidFill>
                  <a:srgbClr val="5E6B7A"/>
                </a:solidFill>
              </a:rPr>
              <a:t>Engineering Applications of Artificial Intelligence, 141 (2025) 109804 · DOI 10.1016/j.engappai.2024.109804</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492240" cy="914400"/>
        </p:xfrm>
        <a:graphic>
          <a:graphicData uri="http://schemas.openxmlformats.org/drawingml/2006/table">
            <a:tbl>
              <a:tblPr/>
              <a:tblGrid>
                <a:gridCol w="1828800"/>
                <a:gridCol w="4663440"/>
              </a:tblGrid>
              <a:tr h="512064">
                <a:tc>
                  <a:txBody>
                    <a:bodyPr/>
                    <a:lstStyle/>
                    <a:p>
                      <a:pPr indent="0" marL="0">
                        <a:buNone/>
                      </a:pPr>
                      <a:r>
                        <a:rPr lang="en-US" sz="1300" b="1" dirty="0">
                          <a:solidFill>
                            <a:schemeClr val="tx2"/>
                          </a:solidFill>
                        </a:rPr>
                        <a:t>Method</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indent="0" marL="0">
                        <a:buNone/>
                      </a:pPr>
                      <a:r>
                        <a:rPr lang="en-US" sz="1300" dirty="0">
                          <a:solidFill>
                            <a:schemeClr val="tx1"/>
                          </a:solidFill>
                        </a:rPr>
                        <a:t>Spatio-temporal Fourier feature mapping + NTK adaptive loss weighting</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512064">
                <a:tc>
                  <a:txBody>
                    <a:bodyPr/>
                    <a:lstStyle/>
                    <a:p>
                      <a:pPr indent="0" marL="0">
                        <a:buNone/>
                      </a:pPr>
                      <a:r>
                        <a:rPr lang="en-US" sz="1300" b="1" dirty="0">
                          <a:solidFill>
                            <a:schemeClr val="tx2"/>
                          </a:solidFill>
                        </a:rPr>
                        <a:t>Network</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indent="0" marL="0">
                        <a:buNone/>
                      </a:pPr>
                      <a:r>
                        <a:rPr lang="en-US" sz="1300" dirty="0">
                          <a:solidFill>
                            <a:schemeClr val="tx1"/>
                          </a:solidFill>
                        </a:rPr>
                        <a:t>6 × 200 tanh · Adam lr 1e-4 · 45,000 epochs</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512064">
                <a:tc>
                  <a:txBody>
                    <a:bodyPr/>
                    <a:lstStyle/>
                    <a:p>
                      <a:pPr indent="0" marL="0">
                        <a:buNone/>
                      </a:pPr>
                      <a:r>
                        <a:rPr lang="en-US" sz="1300" b="1" dirty="0">
                          <a:solidFill>
                            <a:schemeClr val="tx2"/>
                          </a:solidFill>
                        </a:rPr>
                        <a:t>Benchmark FE-D-M1</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indent="0" marL="0">
                        <a:buNone/>
                      </a:pPr>
                      <a:r>
                        <a:rPr lang="en-US" sz="1300" dirty="0">
                          <a:solidFill>
                            <a:schemeClr val="tx1"/>
                          </a:solidFill>
                        </a:rPr>
                        <a:t>Fixed–fixed damped beam · L = 2.75 m · Mode 1 · 20.58 Hz · 20.58 cycles in 1 s</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512064">
                <a:tc>
                  <a:txBody>
                    <a:bodyPr/>
                    <a:lstStyle/>
                    <a:p>
                      <a:pPr indent="0" marL="0">
                        <a:buNone/>
                      </a:pPr>
                      <a:r>
                        <a:rPr lang="en-US" sz="1300" b="1" dirty="0">
                          <a:solidFill>
                            <a:schemeClr val="tx2"/>
                          </a:solidFill>
                        </a:rPr>
                        <a:t>Published accuracy</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indent="0" marL="0">
                        <a:buNone/>
                      </a:pPr>
                      <a:r>
                        <a:rPr lang="en-US" sz="1300" dirty="0">
                          <a:solidFill>
                            <a:schemeClr val="tx1"/>
                          </a:solidFill>
                        </a:rPr>
                        <a:t>Relative L2 = 4.64e-4 (paper's reported value)</a:t>
                      </a:r>
                      <a:endParaRPr lang="en-US" sz="1300" dirty="0"/>
                    </a:p>
                  </a:txBody>
                  <a:tcPr marL="73152" marR="73152" marT="73152" marB="73152"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bl>
          </a:graphicData>
        </a:graphic>
      </p:graphicFrame>
      <p:sp>
        <p:nvSpPr>
          <p:cNvPr id="9" name="card"/>
          <p:cNvSpPr/>
          <p:nvPr/>
        </p:nvSpPr>
        <p:spPr>
          <a:xfrm>
            <a:off x="7406640" y="1280160"/>
            <a:ext cx="4251960" cy="2377440"/>
          </a:xfrm>
          <a:prstGeom prst="roundRect">
            <a:avLst>
              <a:gd name="adj" fmla="val 3077"/>
            </a:avLst>
          </a:prstGeom>
          <a:solidFill>
            <a:schemeClr val="bg2"/>
          </a:solidFill>
          <a:ln/>
        </p:spPr>
      </p:sp>
      <p:sp>
        <p:nvSpPr>
          <p:cNvPr id="10" name="Text 7"/>
          <p:cNvSpPr txBox="1"/>
          <p:nvPr/>
        </p:nvSpPr>
        <p:spPr>
          <a:xfrm>
            <a:off x="7635240" y="1371600"/>
            <a:ext cx="3840480" cy="548640"/>
          </a:xfrm>
          <a:prstGeom prst="rect">
            <a:avLst/>
          </a:prstGeom>
          <a:noFill/>
          <a:ln/>
        </p:spPr>
        <p:txBody>
          <a:bodyPr wrap="square" lIns="0" tIns="0" rIns="0" bIns="0" rtlCol="0" anchor="ctr"/>
          <a:lstStyle/>
          <a:p>
            <a:pPr indent="0" marL="0">
              <a:buNone/>
            </a:pPr>
            <a:r>
              <a:rPr lang="en-US" sz="1300" b="1" dirty="0">
                <a:solidFill>
                  <a:schemeClr val="tx2"/>
                </a:solidFill>
              </a:rPr>
              <a:t>Our controlled re-implementation of the paper method (C0)</a:t>
            </a:r>
            <a:endParaRPr lang="en-US" sz="1300" dirty="0"/>
          </a:p>
        </p:txBody>
      </p:sp>
      <p:sp>
        <p:nvSpPr>
          <p:cNvPr id="11" name="Text 8"/>
          <p:cNvSpPr txBox="1"/>
          <p:nvPr/>
        </p:nvSpPr>
        <p:spPr>
          <a:xfrm>
            <a:off x="7635240" y="1920240"/>
            <a:ext cx="1828800" cy="86868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3.26</a:t>
            </a:r>
            <a:endParaRPr lang="en-US" sz="4800" dirty="0"/>
          </a:p>
        </p:txBody>
      </p:sp>
      <p:sp>
        <p:nvSpPr>
          <p:cNvPr id="12" name="Text 9"/>
          <p:cNvSpPr txBox="1"/>
          <p:nvPr/>
        </p:nvSpPr>
        <p:spPr>
          <a:xfrm>
            <a:off x="9326880" y="1965960"/>
            <a:ext cx="2240280" cy="868680"/>
          </a:xfrm>
          <a:prstGeom prst="rect">
            <a:avLst/>
          </a:prstGeom>
          <a:noFill/>
          <a:ln/>
        </p:spPr>
        <p:txBody>
          <a:bodyPr wrap="square" lIns="0" tIns="0" rIns="0" bIns="0" rtlCol="0" anchor="ctr"/>
          <a:lstStyle/>
          <a:p>
            <a:pPr indent="0" marL="0">
              <a:buNone/>
            </a:pPr>
            <a:r>
              <a:rPr lang="en-US" sz="1200" dirty="0">
                <a:solidFill>
                  <a:schemeClr val="tx1"/>
                </a:solidFill>
              </a:rPr>
              <a:t>relative L2 · static (non-oscillating) field · NTK weights grew to ~10¹⁴–10¹⁵</a:t>
            </a:r>
            <a:endParaRPr lang="en-US" sz="1200" dirty="0"/>
          </a:p>
        </p:txBody>
      </p:sp>
      <p:sp>
        <p:nvSpPr>
          <p:cNvPr id="13" name="Text 10"/>
          <p:cNvSpPr txBox="1"/>
          <p:nvPr/>
        </p:nvSpPr>
        <p:spPr>
          <a:xfrm>
            <a:off x="7635240" y="2834640"/>
            <a:ext cx="3840480" cy="685800"/>
          </a:xfrm>
          <a:prstGeom prst="rect">
            <a:avLst/>
          </a:prstGeom>
          <a:noFill/>
          <a:ln/>
        </p:spPr>
        <p:txBody>
          <a:bodyPr wrap="square" lIns="0" tIns="0" rIns="0" bIns="0" rtlCol="0" anchor="ctr"/>
          <a:lstStyle/>
          <a:p>
            <a:pPr indent="0" marL="0">
              <a:buNone/>
            </a:pPr>
            <a:r>
              <a:rPr lang="en-US" sz="1200" dirty="0">
                <a:solidFill>
                  <a:srgbClr val="5E6B7A"/>
                </a:solidFill>
              </a:rPr>
              <a:t>640,000 PDE evaluations = 2.2 % of the paper's 28,800,000 (45,000 epochs × 640)</a:t>
            </a:r>
            <a:endParaRPr lang="en-US" sz="1200" dirty="0"/>
          </a:p>
        </p:txBody>
      </p:sp>
      <p:sp>
        <p:nvSpPr>
          <p:cNvPr id="14" name="Shape 11"/>
          <p:cNvSpPr/>
          <p:nvPr/>
        </p:nvSpPr>
        <p:spPr>
          <a:xfrm>
            <a:off x="7406640" y="3840480"/>
            <a:ext cx="4251960" cy="1691640"/>
          </a:xfrm>
          <a:prstGeom prst="roundRect">
            <a:avLst>
              <a:gd name="adj" fmla="val 4324"/>
            </a:avLst>
          </a:prstGeom>
          <a:solidFill>
            <a:schemeClr val="bg1"/>
          </a:solidFill>
          <a:ln w="15875">
            <a:solidFill>
              <a:schemeClr val="accent1"/>
            </a:solidFill>
            <a:prstDash val="solid"/>
          </a:ln>
        </p:spPr>
      </p:sp>
      <p:sp>
        <p:nvSpPr>
          <p:cNvPr id="15" name="Text 12"/>
          <p:cNvSpPr txBox="1"/>
          <p:nvPr/>
        </p:nvSpPr>
        <p:spPr>
          <a:xfrm>
            <a:off x="7635240" y="3931920"/>
            <a:ext cx="3840480" cy="1508760"/>
          </a:xfrm>
          <a:prstGeom prst="rect">
            <a:avLst/>
          </a:prstGeom>
          <a:noFill/>
          <a:ln/>
        </p:spPr>
        <p:txBody>
          <a:bodyPr wrap="square" lIns="0" tIns="0" rIns="0" bIns="0" rtlCol="0" anchor="ctr"/>
          <a:lstStyle/>
          <a:p>
            <a:pPr indent="0" marL="0">
              <a:spcAft>
                <a:spcPts val="800"/>
              </a:spcAft>
              <a:buNone/>
            </a:pPr>
            <a:r>
              <a:rPr lang="en-US" sz="1500" b="1" dirty="0">
                <a:solidFill>
                  <a:schemeClr val="accent1"/>
                </a:solidFill>
              </a:rPr>
              <a:t>This is our incumbent, not our novelty.</a:t>
            </a:r>
            <a:endParaRPr lang="en-US" sz="1500" dirty="0"/>
          </a:p>
          <a:p>
            <a:pPr indent="0" marL="0">
              <a:spcAft>
                <a:spcPts val="800"/>
              </a:spcAft>
              <a:buNone/>
            </a:pPr>
            <a:r>
              <a:rPr lang="en-US" sz="1500" dirty="0">
                <a:solidFill>
                  <a:schemeClr val="tx1"/>
                </a:solidFill>
              </a:rPr>
              <a:t>Research question: can we reproduce it, diagnose why it loses dynamic fidelity, and improve physical accuracy per unit compute?</a:t>
            </a:r>
            <a:endParaRPr lang="en-US" sz="15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Research infrastructure achieved</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configs/root_provenance.json; results_batch2/EXPERIMENT_REGISTRY.csv; tests/ (pytest at cdd87b5); docs/hypotheses/B2-E0{1,2,3}.md · commit cdd87b5</a:t>
            </a:r>
            <a:endParaRPr lang="en-US" sz="1000" dirty="0"/>
          </a:p>
        </p:txBody>
      </p:sp>
      <p:sp>
        <p:nvSpPr>
          <p:cNvPr id="4" name="status-bg"/>
          <p:cNvSpPr/>
          <p:nvPr/>
        </p:nvSpPr>
        <p:spPr>
          <a:xfrm>
            <a:off x="9265615" y="530352"/>
            <a:ext cx="2377440" cy="347472"/>
          </a:xfrm>
          <a:prstGeom prst="roundRect">
            <a:avLst>
              <a:gd name="adj" fmla="val 50000"/>
            </a:avLst>
          </a:prstGeom>
          <a:solidFill>
            <a:schemeClr val="accent2"/>
          </a:solidFill>
          <a:ln/>
        </p:spPr>
      </p:sp>
      <p:sp>
        <p:nvSpPr>
          <p:cNvPr id="5" name="status"/>
          <p:cNvSpPr txBox="1"/>
          <p:nvPr/>
        </p:nvSpPr>
        <p:spPr>
          <a:xfrm>
            <a:off x="9265615" y="530352"/>
            <a:ext cx="2377440" cy="347472"/>
          </a:xfrm>
          <a:prstGeom prst="rect">
            <a:avLst/>
          </a:prstGeom>
          <a:noFill/>
          <a:ln/>
        </p:spPr>
        <p:txBody>
          <a:bodyPr wrap="square" lIns="0" tIns="0" rIns="0" bIns="0" rtlCol="0" anchor="ctr"/>
          <a:lstStyle/>
          <a:p>
            <a:pPr algn="ctr" indent="0" marL="0">
              <a:buNone/>
            </a:pPr>
            <a:r>
              <a:rPr lang="en-US" sz="1100" b="1" spc="100" kern="0" dirty="0">
                <a:solidFill>
                  <a:schemeClr val="bg1"/>
                </a:solidFill>
              </a:rPr>
              <a:t>ACHIEVED</a:t>
            </a:r>
            <a:endParaRPr lang="en-US" sz="1100" dirty="0"/>
          </a:p>
        </p:txBody>
      </p:sp>
      <p:sp>
        <p:nvSpPr>
          <p:cNvPr id="6" name="card"/>
          <p:cNvSpPr/>
          <p:nvPr/>
        </p:nvSpPr>
        <p:spPr>
          <a:xfrm>
            <a:off x="548640" y="1371600"/>
            <a:ext cx="2057400" cy="2240280"/>
          </a:xfrm>
          <a:prstGeom prst="roundRect">
            <a:avLst>
              <a:gd name="adj" fmla="val 3556"/>
            </a:avLst>
          </a:prstGeom>
          <a:solidFill>
            <a:schemeClr val="bg2"/>
          </a:solidFill>
          <a:ln/>
        </p:spPr>
      </p:sp>
      <p:sp>
        <p:nvSpPr>
          <p:cNvPr id="7" name="Shape 5"/>
          <p:cNvSpPr/>
          <p:nvPr/>
        </p:nvSpPr>
        <p:spPr>
          <a:xfrm>
            <a:off x="731520" y="1554480"/>
            <a:ext cx="566928" cy="566928"/>
          </a:xfrm>
          <a:prstGeom prst="ellipse">
            <a:avLst/>
          </a:prstGeom>
          <a:solidFill>
            <a:schemeClr val="accent2"/>
          </a:solidFill>
          <a:ln/>
        </p:spPr>
      </p:sp>
      <p:pic>
        <p:nvPicPr>
          <p:cNvPr id="8" name="Image 0" descr="preencoded.png">    </p:cNvPr>
          <p:cNvPicPr>
            <a:picLocks noChangeAspect="1"/>
          </p:cNvPicPr>
          <p:nvPr/>
        </p:nvPicPr>
        <p:blipFill>
          <a:blip r:embed="rId1"/>
          <a:stretch>
            <a:fillRect/>
          </a:stretch>
        </p:blipFill>
        <p:spPr>
          <a:xfrm>
            <a:off x="867583" y="1690543"/>
            <a:ext cx="294803" cy="294803"/>
          </a:xfrm>
          <a:prstGeom prst="rect">
            <a:avLst/>
          </a:prstGeom>
        </p:spPr>
      </p:pic>
      <p:sp>
        <p:nvSpPr>
          <p:cNvPr id="9" name="Text 6"/>
          <p:cNvSpPr txBox="1"/>
          <p:nvPr/>
        </p:nvSpPr>
        <p:spPr>
          <a:xfrm>
            <a:off x="731520" y="2240280"/>
            <a:ext cx="1737360" cy="502920"/>
          </a:xfrm>
          <a:prstGeom prst="rect">
            <a:avLst/>
          </a:prstGeom>
          <a:noFill/>
          <a:ln/>
        </p:spPr>
        <p:txBody>
          <a:bodyPr wrap="square" lIns="0" tIns="0" rIns="0" bIns="0" rtlCol="0" anchor="t"/>
          <a:lstStyle/>
          <a:p>
            <a:pPr indent="0" marL="0">
              <a:buNone/>
            </a:pPr>
            <a:r>
              <a:rPr lang="en-US" sz="1400" b="1" dirty="0">
                <a:solidFill>
                  <a:schemeClr val="tx2"/>
                </a:solidFill>
              </a:rPr>
              <a:t>Frozen ROOT provenance</a:t>
            </a:r>
            <a:endParaRPr lang="en-US" sz="1400" dirty="0"/>
          </a:p>
        </p:txBody>
      </p:sp>
      <p:sp>
        <p:nvSpPr>
          <p:cNvPr id="10" name="Text 7"/>
          <p:cNvSpPr txBox="1"/>
          <p:nvPr/>
        </p:nvSpPr>
        <p:spPr>
          <a:xfrm>
            <a:off x="731520" y="2743200"/>
            <a:ext cx="1737360" cy="777240"/>
          </a:xfrm>
          <a:prstGeom prst="rect">
            <a:avLst/>
          </a:prstGeom>
          <a:noFill/>
          <a:ln/>
        </p:spPr>
        <p:txBody>
          <a:bodyPr wrap="square" lIns="0" tIns="0" rIns="0" bIns="0" rtlCol="0" anchor="t"/>
          <a:lstStyle/>
          <a:p>
            <a:pPr indent="0" marL="0">
              <a:buNone/>
            </a:pPr>
            <a:r>
              <a:rPr lang="en-US" sz="1200" dirty="0">
                <a:solidFill>
                  <a:schemeClr val="tx1"/>
                </a:solidFill>
              </a:rPr>
              <a:t>Batch-1 repo frozen at d31864a; byte-identical after every phase</a:t>
            </a:r>
            <a:endParaRPr lang="en-US" sz="1200" dirty="0"/>
          </a:p>
        </p:txBody>
      </p:sp>
      <p:sp>
        <p:nvSpPr>
          <p:cNvPr id="11" name="card"/>
          <p:cNvSpPr/>
          <p:nvPr/>
        </p:nvSpPr>
        <p:spPr>
          <a:xfrm>
            <a:off x="2788920" y="1371600"/>
            <a:ext cx="2057400" cy="2240280"/>
          </a:xfrm>
          <a:prstGeom prst="roundRect">
            <a:avLst>
              <a:gd name="adj" fmla="val 3556"/>
            </a:avLst>
          </a:prstGeom>
          <a:solidFill>
            <a:schemeClr val="bg2"/>
          </a:solidFill>
          <a:ln/>
        </p:spPr>
      </p:sp>
      <p:sp>
        <p:nvSpPr>
          <p:cNvPr id="12" name="Shape 9"/>
          <p:cNvSpPr/>
          <p:nvPr/>
        </p:nvSpPr>
        <p:spPr>
          <a:xfrm>
            <a:off x="2971800" y="155448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3107863" y="1690543"/>
            <a:ext cx="294803" cy="294803"/>
          </a:xfrm>
          <a:prstGeom prst="rect">
            <a:avLst/>
          </a:prstGeom>
        </p:spPr>
      </p:pic>
      <p:sp>
        <p:nvSpPr>
          <p:cNvPr id="14" name="Text 10"/>
          <p:cNvSpPr txBox="1"/>
          <p:nvPr/>
        </p:nvSpPr>
        <p:spPr>
          <a:xfrm>
            <a:off x="2971800" y="2240280"/>
            <a:ext cx="1737360" cy="502920"/>
          </a:xfrm>
          <a:prstGeom prst="rect">
            <a:avLst/>
          </a:prstGeom>
          <a:noFill/>
          <a:ln/>
        </p:spPr>
        <p:txBody>
          <a:bodyPr wrap="square" lIns="0" tIns="0" rIns="0" bIns="0" rtlCol="0" anchor="t"/>
          <a:lstStyle/>
          <a:p>
            <a:pPr indent="0" marL="0">
              <a:buNone/>
            </a:pPr>
            <a:r>
              <a:rPr lang="en-US" sz="1400" b="1" dirty="0">
                <a:solidFill>
                  <a:schemeClr val="tx2"/>
                </a:solidFill>
              </a:rPr>
              <a:t>Independent PINN-RP</a:t>
            </a:r>
            <a:endParaRPr lang="en-US" sz="1400" dirty="0"/>
          </a:p>
        </p:txBody>
      </p:sp>
      <p:sp>
        <p:nvSpPr>
          <p:cNvPr id="15" name="Text 11"/>
          <p:cNvSpPr txBox="1"/>
          <p:nvPr/>
        </p:nvSpPr>
        <p:spPr>
          <a:xfrm>
            <a:off x="2971800" y="2743200"/>
            <a:ext cx="1737360" cy="777240"/>
          </a:xfrm>
          <a:prstGeom prst="rect">
            <a:avLst/>
          </a:prstGeom>
          <a:noFill/>
          <a:ln/>
        </p:spPr>
        <p:txBody>
          <a:bodyPr wrap="square" lIns="0" tIns="0" rIns="0" bIns="0" rtlCol="0" anchor="t"/>
          <a:lstStyle/>
          <a:p>
            <a:pPr indent="0" marL="0">
              <a:buNone/>
            </a:pPr>
            <a:r>
              <a:rPr lang="en-US" sz="1200" dirty="0">
                <a:solidFill>
                  <a:schemeClr val="tx1"/>
                </a:solidFill>
              </a:rPr>
              <a:t>All new work in a separate repository; ROOT never written</a:t>
            </a:r>
            <a:endParaRPr lang="en-US" sz="1200" dirty="0"/>
          </a:p>
        </p:txBody>
      </p:sp>
      <p:sp>
        <p:nvSpPr>
          <p:cNvPr id="16" name="card"/>
          <p:cNvSpPr/>
          <p:nvPr/>
        </p:nvSpPr>
        <p:spPr>
          <a:xfrm>
            <a:off x="5029200" y="1371600"/>
            <a:ext cx="2057400" cy="2240280"/>
          </a:xfrm>
          <a:prstGeom prst="roundRect">
            <a:avLst>
              <a:gd name="adj" fmla="val 3556"/>
            </a:avLst>
          </a:prstGeom>
          <a:solidFill>
            <a:schemeClr val="bg2"/>
          </a:solidFill>
          <a:ln/>
        </p:spPr>
      </p:sp>
      <p:sp>
        <p:nvSpPr>
          <p:cNvPr id="17" name="Shape 13"/>
          <p:cNvSpPr/>
          <p:nvPr/>
        </p:nvSpPr>
        <p:spPr>
          <a:xfrm>
            <a:off x="5212080" y="1554480"/>
            <a:ext cx="566928" cy="566928"/>
          </a:xfrm>
          <a:prstGeom prst="ellipse">
            <a:avLst/>
          </a:prstGeom>
          <a:solidFill>
            <a:schemeClr val="accent2"/>
          </a:solidFill>
          <a:ln/>
        </p:spPr>
      </p:sp>
      <p:pic>
        <p:nvPicPr>
          <p:cNvPr id="18" name="Image 2" descr="preencoded.png">    </p:cNvPr>
          <p:cNvPicPr>
            <a:picLocks noChangeAspect="1"/>
          </p:cNvPicPr>
          <p:nvPr/>
        </p:nvPicPr>
        <p:blipFill>
          <a:blip r:embed="rId3"/>
          <a:stretch>
            <a:fillRect/>
          </a:stretch>
        </p:blipFill>
        <p:spPr>
          <a:xfrm>
            <a:off x="5348143" y="1690543"/>
            <a:ext cx="294803" cy="294803"/>
          </a:xfrm>
          <a:prstGeom prst="rect">
            <a:avLst/>
          </a:prstGeom>
        </p:spPr>
      </p:pic>
      <p:sp>
        <p:nvSpPr>
          <p:cNvPr id="19" name="Text 14"/>
          <p:cNvSpPr txBox="1"/>
          <p:nvPr/>
        </p:nvSpPr>
        <p:spPr>
          <a:xfrm>
            <a:off x="5212080" y="2240280"/>
            <a:ext cx="1737360" cy="502920"/>
          </a:xfrm>
          <a:prstGeom prst="rect">
            <a:avLst/>
          </a:prstGeom>
          <a:noFill/>
          <a:ln/>
        </p:spPr>
        <p:txBody>
          <a:bodyPr wrap="square" lIns="0" tIns="0" rIns="0" bIns="0" rtlCol="0" anchor="t"/>
          <a:lstStyle/>
          <a:p>
            <a:pPr indent="0" marL="0">
              <a:buNone/>
            </a:pPr>
            <a:r>
              <a:rPr lang="en-US" sz="1400" b="1" dirty="0">
                <a:solidFill>
                  <a:schemeClr val="tx2"/>
                </a:solidFill>
              </a:rPr>
              <a:t>Experiment registry</a:t>
            </a:r>
            <a:endParaRPr lang="en-US" sz="1400" dirty="0"/>
          </a:p>
        </p:txBody>
      </p:sp>
      <p:sp>
        <p:nvSpPr>
          <p:cNvPr id="20" name="Text 15"/>
          <p:cNvSpPr txBox="1"/>
          <p:nvPr/>
        </p:nvSpPr>
        <p:spPr>
          <a:xfrm>
            <a:off x="5212080" y="2743200"/>
            <a:ext cx="1737360" cy="777240"/>
          </a:xfrm>
          <a:prstGeom prst="rect">
            <a:avLst/>
          </a:prstGeom>
          <a:noFill/>
          <a:ln/>
        </p:spPr>
        <p:txBody>
          <a:bodyPr wrap="square" lIns="0" tIns="0" rIns="0" bIns="0" rtlCol="0" anchor="t"/>
          <a:lstStyle/>
          <a:p>
            <a:pPr indent="0" marL="0">
              <a:buNone/>
            </a:pPr>
            <a:r>
              <a:rPr lang="en-US" sz="1200" dirty="0">
                <a:solidFill>
                  <a:schemeClr val="tx1"/>
                </a:solidFill>
              </a:rPr>
              <a:t>42 Batch-2 runs, each with config hash, git SHA, seed</a:t>
            </a:r>
            <a:endParaRPr lang="en-US" sz="1200" dirty="0"/>
          </a:p>
        </p:txBody>
      </p:sp>
      <p:sp>
        <p:nvSpPr>
          <p:cNvPr id="21" name="card"/>
          <p:cNvSpPr/>
          <p:nvPr/>
        </p:nvSpPr>
        <p:spPr>
          <a:xfrm>
            <a:off x="7269480" y="1371600"/>
            <a:ext cx="2057400" cy="2240280"/>
          </a:xfrm>
          <a:prstGeom prst="roundRect">
            <a:avLst>
              <a:gd name="adj" fmla="val 3556"/>
            </a:avLst>
          </a:prstGeom>
          <a:solidFill>
            <a:schemeClr val="bg2"/>
          </a:solidFill>
          <a:ln/>
        </p:spPr>
      </p:sp>
      <p:sp>
        <p:nvSpPr>
          <p:cNvPr id="22" name="Shape 17"/>
          <p:cNvSpPr/>
          <p:nvPr/>
        </p:nvSpPr>
        <p:spPr>
          <a:xfrm>
            <a:off x="7452360" y="1554480"/>
            <a:ext cx="566928" cy="566928"/>
          </a:xfrm>
          <a:prstGeom prst="ellipse">
            <a:avLst/>
          </a:prstGeom>
          <a:solidFill>
            <a:schemeClr val="accent2"/>
          </a:solidFill>
          <a:ln/>
        </p:spPr>
      </p:sp>
      <p:pic>
        <p:nvPicPr>
          <p:cNvPr id="23" name="Image 3" descr="preencoded.png">    </p:cNvPr>
          <p:cNvPicPr>
            <a:picLocks noChangeAspect="1"/>
          </p:cNvPicPr>
          <p:nvPr/>
        </p:nvPicPr>
        <p:blipFill>
          <a:blip r:embed="rId4"/>
          <a:stretch>
            <a:fillRect/>
          </a:stretch>
        </p:blipFill>
        <p:spPr>
          <a:xfrm>
            <a:off x="7588423" y="1690543"/>
            <a:ext cx="294803" cy="294803"/>
          </a:xfrm>
          <a:prstGeom prst="rect">
            <a:avLst/>
          </a:prstGeom>
        </p:spPr>
      </p:pic>
      <p:sp>
        <p:nvSpPr>
          <p:cNvPr id="24" name="Text 18"/>
          <p:cNvSpPr txBox="1"/>
          <p:nvPr/>
        </p:nvSpPr>
        <p:spPr>
          <a:xfrm>
            <a:off x="7452360" y="2240280"/>
            <a:ext cx="1737360" cy="502920"/>
          </a:xfrm>
          <a:prstGeom prst="rect">
            <a:avLst/>
          </a:prstGeom>
          <a:noFill/>
          <a:ln/>
        </p:spPr>
        <p:txBody>
          <a:bodyPr wrap="square" lIns="0" tIns="0" rIns="0" bIns="0" rtlCol="0" anchor="t"/>
          <a:lstStyle/>
          <a:p>
            <a:pPr indent="0" marL="0">
              <a:buNone/>
            </a:pPr>
            <a:r>
              <a:rPr lang="en-US" sz="1400" b="1" dirty="0">
                <a:solidFill>
                  <a:schemeClr val="tx2"/>
                </a:solidFill>
              </a:rPr>
              <a:t>Benchmark + exact reference</a:t>
            </a:r>
            <a:endParaRPr lang="en-US" sz="1400" dirty="0"/>
          </a:p>
        </p:txBody>
      </p:sp>
      <p:sp>
        <p:nvSpPr>
          <p:cNvPr id="25" name="Text 19"/>
          <p:cNvSpPr txBox="1"/>
          <p:nvPr/>
        </p:nvSpPr>
        <p:spPr>
          <a:xfrm>
            <a:off x="7452360" y="2743200"/>
            <a:ext cx="1737360" cy="777240"/>
          </a:xfrm>
          <a:prstGeom prst="rect">
            <a:avLst/>
          </a:prstGeom>
          <a:noFill/>
          <a:ln/>
        </p:spPr>
        <p:txBody>
          <a:bodyPr wrap="square" lIns="0" tIns="0" rIns="0" bIns="0" rtlCol="0" anchor="t"/>
          <a:lstStyle/>
          <a:p>
            <a:pPr indent="0" marL="0">
              <a:buNone/>
            </a:pPr>
            <a:r>
              <a:rPr lang="en-US" sz="1200" dirty="0">
                <a:solidFill>
                  <a:schemeClr val="tx1"/>
                </a:solidFill>
              </a:rPr>
              <a:t>Closed-form damped Mode-1 solution; paper-faithful and exact-root references</a:t>
            </a:r>
            <a:endParaRPr lang="en-US" sz="1200" dirty="0"/>
          </a:p>
        </p:txBody>
      </p:sp>
      <p:sp>
        <p:nvSpPr>
          <p:cNvPr id="26" name="card"/>
          <p:cNvSpPr/>
          <p:nvPr/>
        </p:nvSpPr>
        <p:spPr>
          <a:xfrm>
            <a:off x="9509760" y="1371600"/>
            <a:ext cx="2057400" cy="2240280"/>
          </a:xfrm>
          <a:prstGeom prst="roundRect">
            <a:avLst>
              <a:gd name="adj" fmla="val 3556"/>
            </a:avLst>
          </a:prstGeom>
          <a:solidFill>
            <a:schemeClr val="bg2"/>
          </a:solidFill>
          <a:ln/>
        </p:spPr>
      </p:sp>
      <p:sp>
        <p:nvSpPr>
          <p:cNvPr id="27" name="Shape 21"/>
          <p:cNvSpPr/>
          <p:nvPr/>
        </p:nvSpPr>
        <p:spPr>
          <a:xfrm>
            <a:off x="9692640" y="1554480"/>
            <a:ext cx="566928" cy="566928"/>
          </a:xfrm>
          <a:prstGeom prst="ellipse">
            <a:avLst/>
          </a:prstGeom>
          <a:solidFill>
            <a:schemeClr val="accent2"/>
          </a:solidFill>
          <a:ln/>
        </p:spPr>
      </p:sp>
      <p:pic>
        <p:nvPicPr>
          <p:cNvPr id="28" name="Image 4" descr="preencoded.png">    </p:cNvPr>
          <p:cNvPicPr>
            <a:picLocks noChangeAspect="1"/>
          </p:cNvPicPr>
          <p:nvPr/>
        </p:nvPicPr>
        <p:blipFill>
          <a:blip r:embed="rId5"/>
          <a:stretch>
            <a:fillRect/>
          </a:stretch>
        </p:blipFill>
        <p:spPr>
          <a:xfrm>
            <a:off x="9828703" y="1690543"/>
            <a:ext cx="294803" cy="294803"/>
          </a:xfrm>
          <a:prstGeom prst="rect">
            <a:avLst/>
          </a:prstGeom>
        </p:spPr>
      </p:pic>
      <p:sp>
        <p:nvSpPr>
          <p:cNvPr id="29" name="Text 22"/>
          <p:cNvSpPr txBox="1"/>
          <p:nvPr/>
        </p:nvSpPr>
        <p:spPr>
          <a:xfrm>
            <a:off x="9692640" y="2240280"/>
            <a:ext cx="1737360" cy="502920"/>
          </a:xfrm>
          <a:prstGeom prst="rect">
            <a:avLst/>
          </a:prstGeom>
          <a:noFill/>
          <a:ln/>
        </p:spPr>
        <p:txBody>
          <a:bodyPr wrap="square" lIns="0" tIns="0" rIns="0" bIns="0" rtlCol="0" anchor="t"/>
          <a:lstStyle/>
          <a:p>
            <a:pPr indent="0" marL="0">
              <a:buNone/>
            </a:pPr>
            <a:r>
              <a:rPr lang="en-US" sz="1400" b="1" dirty="0">
                <a:solidFill>
                  <a:schemeClr val="tx2"/>
                </a:solidFill>
              </a:rPr>
              <a:t>Fixed evaluation</a:t>
            </a:r>
            <a:endParaRPr lang="en-US" sz="1400" dirty="0"/>
          </a:p>
        </p:txBody>
      </p:sp>
      <p:sp>
        <p:nvSpPr>
          <p:cNvPr id="30" name="Text 23"/>
          <p:cNvSpPr txBox="1"/>
          <p:nvPr/>
        </p:nvSpPr>
        <p:spPr>
          <a:xfrm>
            <a:off x="9692640" y="2743200"/>
            <a:ext cx="1737360" cy="777240"/>
          </a:xfrm>
          <a:prstGeom prst="rect">
            <a:avLst/>
          </a:prstGeom>
          <a:noFill/>
          <a:ln/>
        </p:spPr>
        <p:txBody>
          <a:bodyPr wrap="square" lIns="0" tIns="0" rIns="0" bIns="0" rtlCol="0" anchor="t"/>
          <a:lstStyle/>
          <a:p>
            <a:pPr indent="0" marL="0">
              <a:buNone/>
            </a:pPr>
            <a:r>
              <a:rPr lang="en-US" sz="1200" dirty="0">
                <a:solidFill>
                  <a:schemeClr val="tx1"/>
                </a:solidFill>
              </a:rPr>
              <a:t>201 × 2001 grid; frozen persistence metric; 51 × 501 residual grid</a:t>
            </a:r>
            <a:endParaRPr lang="en-US" sz="1200" dirty="0"/>
          </a:p>
        </p:txBody>
      </p:sp>
      <p:sp>
        <p:nvSpPr>
          <p:cNvPr id="31" name="card"/>
          <p:cNvSpPr/>
          <p:nvPr/>
        </p:nvSpPr>
        <p:spPr>
          <a:xfrm>
            <a:off x="548640" y="3794760"/>
            <a:ext cx="2057400" cy="2240280"/>
          </a:xfrm>
          <a:prstGeom prst="roundRect">
            <a:avLst>
              <a:gd name="adj" fmla="val 3556"/>
            </a:avLst>
          </a:prstGeom>
          <a:solidFill>
            <a:schemeClr val="bg2"/>
          </a:solidFill>
          <a:ln/>
        </p:spPr>
      </p:sp>
      <p:sp>
        <p:nvSpPr>
          <p:cNvPr id="32" name="Shape 25"/>
          <p:cNvSpPr/>
          <p:nvPr/>
        </p:nvSpPr>
        <p:spPr>
          <a:xfrm>
            <a:off x="731520" y="3977640"/>
            <a:ext cx="566928" cy="566928"/>
          </a:xfrm>
          <a:prstGeom prst="ellipse">
            <a:avLst/>
          </a:prstGeom>
          <a:solidFill>
            <a:schemeClr val="accent2"/>
          </a:solidFill>
          <a:ln/>
        </p:spPr>
      </p:sp>
      <p:pic>
        <p:nvPicPr>
          <p:cNvPr id="33" name="Image 5" descr="preencoded.png">    </p:cNvPr>
          <p:cNvPicPr>
            <a:picLocks noChangeAspect="1"/>
          </p:cNvPicPr>
          <p:nvPr/>
        </p:nvPicPr>
        <p:blipFill>
          <a:blip r:embed="rId6"/>
          <a:stretch>
            <a:fillRect/>
          </a:stretch>
        </p:blipFill>
        <p:spPr>
          <a:xfrm>
            <a:off x="867583" y="4113703"/>
            <a:ext cx="294803" cy="294803"/>
          </a:xfrm>
          <a:prstGeom prst="rect">
            <a:avLst/>
          </a:prstGeom>
        </p:spPr>
      </p:pic>
      <p:sp>
        <p:nvSpPr>
          <p:cNvPr id="34" name="Text 26"/>
          <p:cNvSpPr txBox="1"/>
          <p:nvPr/>
        </p:nvSpPr>
        <p:spPr>
          <a:xfrm>
            <a:off x="731520" y="4663440"/>
            <a:ext cx="1737360" cy="502920"/>
          </a:xfrm>
          <a:prstGeom prst="rect">
            <a:avLst/>
          </a:prstGeom>
          <a:noFill/>
          <a:ln/>
        </p:spPr>
        <p:txBody>
          <a:bodyPr wrap="square" lIns="0" tIns="0" rIns="0" bIns="0" rtlCol="0" anchor="t"/>
          <a:lstStyle/>
          <a:p>
            <a:pPr indent="0" marL="0">
              <a:buNone/>
            </a:pPr>
            <a:r>
              <a:rPr lang="en-US" sz="1400" b="1" dirty="0">
                <a:solidFill>
                  <a:schemeClr val="tx2"/>
                </a:solidFill>
              </a:rPr>
              <a:t>Compute accounting</a:t>
            </a:r>
            <a:endParaRPr lang="en-US" sz="1400" dirty="0"/>
          </a:p>
        </p:txBody>
      </p:sp>
      <p:sp>
        <p:nvSpPr>
          <p:cNvPr id="35" name="Text 27"/>
          <p:cNvSpPr txBox="1"/>
          <p:nvPr/>
        </p:nvSpPr>
        <p:spPr>
          <a:xfrm>
            <a:off x="731520" y="5166360"/>
            <a:ext cx="1737360" cy="777240"/>
          </a:xfrm>
          <a:prstGeom prst="rect">
            <a:avLst/>
          </a:prstGeom>
          <a:noFill/>
          <a:ln/>
        </p:spPr>
        <p:txBody>
          <a:bodyPr wrap="square" lIns="0" tIns="0" rIns="0" bIns="0" rtlCol="0" anchor="t"/>
          <a:lstStyle/>
          <a:p>
            <a:pPr indent="0" marL="0">
              <a:buNone/>
            </a:pPr>
            <a:r>
              <a:rPr lang="en-US" sz="1200" dirty="0">
                <a:solidFill>
                  <a:schemeClr val="tx1"/>
                </a:solidFill>
              </a:rPr>
              <a:t>PDE evaluations, forward/backward passes, peak RAM, wall-clock</a:t>
            </a:r>
            <a:endParaRPr lang="en-US" sz="1200" dirty="0"/>
          </a:p>
        </p:txBody>
      </p:sp>
      <p:sp>
        <p:nvSpPr>
          <p:cNvPr id="36" name="card"/>
          <p:cNvSpPr/>
          <p:nvPr/>
        </p:nvSpPr>
        <p:spPr>
          <a:xfrm>
            <a:off x="2788920" y="3794760"/>
            <a:ext cx="2057400" cy="2240280"/>
          </a:xfrm>
          <a:prstGeom prst="roundRect">
            <a:avLst>
              <a:gd name="adj" fmla="val 3556"/>
            </a:avLst>
          </a:prstGeom>
          <a:solidFill>
            <a:schemeClr val="bg2"/>
          </a:solidFill>
          <a:ln/>
        </p:spPr>
      </p:sp>
      <p:sp>
        <p:nvSpPr>
          <p:cNvPr id="37" name="Shape 29"/>
          <p:cNvSpPr/>
          <p:nvPr/>
        </p:nvSpPr>
        <p:spPr>
          <a:xfrm>
            <a:off x="2971800" y="3977640"/>
            <a:ext cx="566928" cy="566928"/>
          </a:xfrm>
          <a:prstGeom prst="ellipse">
            <a:avLst/>
          </a:prstGeom>
          <a:solidFill>
            <a:schemeClr val="accent2"/>
          </a:solidFill>
          <a:ln/>
        </p:spPr>
      </p:sp>
      <p:pic>
        <p:nvPicPr>
          <p:cNvPr id="38" name="Image 6" descr="preencoded.png">    </p:cNvPr>
          <p:cNvPicPr>
            <a:picLocks noChangeAspect="1"/>
          </p:cNvPicPr>
          <p:nvPr/>
        </p:nvPicPr>
        <p:blipFill>
          <a:blip r:embed="rId7"/>
          <a:stretch>
            <a:fillRect/>
          </a:stretch>
        </p:blipFill>
        <p:spPr>
          <a:xfrm>
            <a:off x="3107863" y="4113703"/>
            <a:ext cx="294803" cy="294803"/>
          </a:xfrm>
          <a:prstGeom prst="rect">
            <a:avLst/>
          </a:prstGeom>
        </p:spPr>
      </p:pic>
      <p:sp>
        <p:nvSpPr>
          <p:cNvPr id="39" name="Text 30"/>
          <p:cNvSpPr txBox="1"/>
          <p:nvPr/>
        </p:nvSpPr>
        <p:spPr>
          <a:xfrm>
            <a:off x="2971800" y="4663440"/>
            <a:ext cx="1737360" cy="502920"/>
          </a:xfrm>
          <a:prstGeom prst="rect">
            <a:avLst/>
          </a:prstGeom>
          <a:noFill/>
          <a:ln/>
        </p:spPr>
        <p:txBody>
          <a:bodyPr wrap="square" lIns="0" tIns="0" rIns="0" bIns="0" rtlCol="0" anchor="t"/>
          <a:lstStyle/>
          <a:p>
            <a:pPr indent="0" marL="0">
              <a:buNone/>
            </a:pPr>
            <a:r>
              <a:rPr lang="en-US" sz="1400" b="1" dirty="0">
                <a:solidFill>
                  <a:schemeClr val="tx2"/>
                </a:solidFill>
              </a:rPr>
              <a:t>Pre-registration</a:t>
            </a:r>
            <a:endParaRPr lang="en-US" sz="1400" dirty="0"/>
          </a:p>
        </p:txBody>
      </p:sp>
      <p:sp>
        <p:nvSpPr>
          <p:cNvPr id="40" name="Text 31"/>
          <p:cNvSpPr txBox="1"/>
          <p:nvPr/>
        </p:nvSpPr>
        <p:spPr>
          <a:xfrm>
            <a:off x="2971800" y="5166360"/>
            <a:ext cx="1737360" cy="777240"/>
          </a:xfrm>
          <a:prstGeom prst="rect">
            <a:avLst/>
          </a:prstGeom>
          <a:noFill/>
          <a:ln/>
        </p:spPr>
        <p:txBody>
          <a:bodyPr wrap="square" lIns="0" tIns="0" rIns="0" bIns="0" rtlCol="0" anchor="t"/>
          <a:lstStyle/>
          <a:p>
            <a:pPr indent="0" marL="0">
              <a:buNone/>
            </a:pPr>
            <a:r>
              <a:rPr lang="en-US" sz="1200" dirty="0">
                <a:solidFill>
                  <a:schemeClr val="tx1"/>
                </a:solidFill>
              </a:rPr>
              <a:t>Hypotheses and decision thresholds committed before any training</a:t>
            </a:r>
            <a:endParaRPr lang="en-US" sz="1200" dirty="0"/>
          </a:p>
        </p:txBody>
      </p:sp>
      <p:sp>
        <p:nvSpPr>
          <p:cNvPr id="41" name="card"/>
          <p:cNvSpPr/>
          <p:nvPr/>
        </p:nvSpPr>
        <p:spPr>
          <a:xfrm>
            <a:off x="5029200" y="3794760"/>
            <a:ext cx="2057400" cy="2240280"/>
          </a:xfrm>
          <a:prstGeom prst="roundRect">
            <a:avLst>
              <a:gd name="adj" fmla="val 3556"/>
            </a:avLst>
          </a:prstGeom>
          <a:solidFill>
            <a:schemeClr val="bg2"/>
          </a:solidFill>
          <a:ln/>
        </p:spPr>
      </p:sp>
      <p:sp>
        <p:nvSpPr>
          <p:cNvPr id="42" name="Shape 33"/>
          <p:cNvSpPr/>
          <p:nvPr/>
        </p:nvSpPr>
        <p:spPr>
          <a:xfrm>
            <a:off x="5212080" y="3977640"/>
            <a:ext cx="566928" cy="566928"/>
          </a:xfrm>
          <a:prstGeom prst="ellipse">
            <a:avLst/>
          </a:prstGeom>
          <a:solidFill>
            <a:schemeClr val="accent2"/>
          </a:solidFill>
          <a:ln/>
        </p:spPr>
      </p:sp>
      <p:pic>
        <p:nvPicPr>
          <p:cNvPr id="43" name="Image 7" descr="preencoded.png">    </p:cNvPr>
          <p:cNvPicPr>
            <a:picLocks noChangeAspect="1"/>
          </p:cNvPicPr>
          <p:nvPr/>
        </p:nvPicPr>
        <p:blipFill>
          <a:blip r:embed="rId8"/>
          <a:stretch>
            <a:fillRect/>
          </a:stretch>
        </p:blipFill>
        <p:spPr>
          <a:xfrm>
            <a:off x="5348143" y="4113703"/>
            <a:ext cx="294803" cy="294803"/>
          </a:xfrm>
          <a:prstGeom prst="rect">
            <a:avLst/>
          </a:prstGeom>
        </p:spPr>
      </p:pic>
      <p:sp>
        <p:nvSpPr>
          <p:cNvPr id="44" name="Text 34"/>
          <p:cNvSpPr txBox="1"/>
          <p:nvPr/>
        </p:nvSpPr>
        <p:spPr>
          <a:xfrm>
            <a:off x="5212080" y="4663440"/>
            <a:ext cx="1737360" cy="502920"/>
          </a:xfrm>
          <a:prstGeom prst="rect">
            <a:avLst/>
          </a:prstGeom>
          <a:noFill/>
          <a:ln/>
        </p:spPr>
        <p:txBody>
          <a:bodyPr wrap="square" lIns="0" tIns="0" rIns="0" bIns="0" rtlCol="0" anchor="t"/>
          <a:lstStyle/>
          <a:p>
            <a:pPr indent="0" marL="0">
              <a:buNone/>
            </a:pPr>
            <a:r>
              <a:rPr lang="en-US" sz="1400" b="1" dirty="0">
                <a:solidFill>
                  <a:schemeClr val="tx2"/>
                </a:solidFill>
              </a:rPr>
              <a:t>Seed replication</a:t>
            </a:r>
            <a:endParaRPr lang="en-US" sz="1400" dirty="0"/>
          </a:p>
        </p:txBody>
      </p:sp>
      <p:sp>
        <p:nvSpPr>
          <p:cNvPr id="45" name="Text 35"/>
          <p:cNvSpPr txBox="1"/>
          <p:nvPr/>
        </p:nvSpPr>
        <p:spPr>
          <a:xfrm>
            <a:off x="5212080" y="5166360"/>
            <a:ext cx="1737360" cy="777240"/>
          </a:xfrm>
          <a:prstGeom prst="rect">
            <a:avLst/>
          </a:prstGeom>
          <a:noFill/>
          <a:ln/>
        </p:spPr>
        <p:txBody>
          <a:bodyPr wrap="square" lIns="0" tIns="0" rIns="0" bIns="0" rtlCol="0" anchor="t"/>
          <a:lstStyle/>
          <a:p>
            <a:pPr indent="0" marL="0">
              <a:buNone/>
            </a:pPr>
            <a:r>
              <a:rPr lang="en-US" sz="1200" dirty="0">
                <a:solidFill>
                  <a:schemeClr val="tx1"/>
                </a:solidFill>
              </a:rPr>
              <a:t>Seeds 1234–1236 for every Batch-2 arm; bit-exact control re-runs</a:t>
            </a:r>
            <a:endParaRPr lang="en-US" sz="1200" dirty="0"/>
          </a:p>
        </p:txBody>
      </p:sp>
      <p:sp>
        <p:nvSpPr>
          <p:cNvPr id="46" name="card"/>
          <p:cNvSpPr/>
          <p:nvPr/>
        </p:nvSpPr>
        <p:spPr>
          <a:xfrm>
            <a:off x="7269480" y="3794760"/>
            <a:ext cx="2057400" cy="2240280"/>
          </a:xfrm>
          <a:prstGeom prst="roundRect">
            <a:avLst>
              <a:gd name="adj" fmla="val 3556"/>
            </a:avLst>
          </a:prstGeom>
          <a:solidFill>
            <a:schemeClr val="bg2"/>
          </a:solidFill>
          <a:ln/>
        </p:spPr>
      </p:sp>
      <p:sp>
        <p:nvSpPr>
          <p:cNvPr id="47" name="Shape 37"/>
          <p:cNvSpPr/>
          <p:nvPr/>
        </p:nvSpPr>
        <p:spPr>
          <a:xfrm>
            <a:off x="7452360" y="3977640"/>
            <a:ext cx="566928" cy="566928"/>
          </a:xfrm>
          <a:prstGeom prst="ellipse">
            <a:avLst/>
          </a:prstGeom>
          <a:solidFill>
            <a:schemeClr val="accent2"/>
          </a:solidFill>
          <a:ln/>
        </p:spPr>
      </p:sp>
      <p:pic>
        <p:nvPicPr>
          <p:cNvPr id="48" name="Image 8" descr="preencoded.png">    </p:cNvPr>
          <p:cNvPicPr>
            <a:picLocks noChangeAspect="1"/>
          </p:cNvPicPr>
          <p:nvPr/>
        </p:nvPicPr>
        <p:blipFill>
          <a:blip r:embed="rId9"/>
          <a:stretch>
            <a:fillRect/>
          </a:stretch>
        </p:blipFill>
        <p:spPr>
          <a:xfrm>
            <a:off x="7588423" y="4113703"/>
            <a:ext cx="294803" cy="294803"/>
          </a:xfrm>
          <a:prstGeom prst="rect">
            <a:avLst/>
          </a:prstGeom>
        </p:spPr>
      </p:pic>
      <p:sp>
        <p:nvSpPr>
          <p:cNvPr id="49" name="Text 38"/>
          <p:cNvSpPr txBox="1"/>
          <p:nvPr/>
        </p:nvSpPr>
        <p:spPr>
          <a:xfrm>
            <a:off x="7452360" y="4663440"/>
            <a:ext cx="1737360" cy="502920"/>
          </a:xfrm>
          <a:prstGeom prst="rect">
            <a:avLst/>
          </a:prstGeom>
          <a:noFill/>
          <a:ln/>
        </p:spPr>
        <p:txBody>
          <a:bodyPr wrap="square" lIns="0" tIns="0" rIns="0" bIns="0" rtlCol="0" anchor="t"/>
          <a:lstStyle/>
          <a:p>
            <a:pPr indent="0" marL="0">
              <a:buNone/>
            </a:pPr>
            <a:r>
              <a:rPr lang="en-US" sz="1400" b="1" dirty="0">
                <a:solidFill>
                  <a:schemeClr val="tx2"/>
                </a:solidFill>
              </a:rPr>
              <a:t>Checkpoints + safety</a:t>
            </a:r>
            <a:endParaRPr lang="en-US" sz="1400" dirty="0"/>
          </a:p>
        </p:txBody>
      </p:sp>
      <p:sp>
        <p:nvSpPr>
          <p:cNvPr id="50" name="Text 39"/>
          <p:cNvSpPr txBox="1"/>
          <p:nvPr/>
        </p:nvSpPr>
        <p:spPr>
          <a:xfrm>
            <a:off x="7452360" y="5166360"/>
            <a:ext cx="1737360" cy="777240"/>
          </a:xfrm>
          <a:prstGeom prst="rect">
            <a:avLst/>
          </a:prstGeom>
          <a:noFill/>
          <a:ln/>
        </p:spPr>
        <p:txBody>
          <a:bodyPr wrap="square" lIns="0" tIns="0" rIns="0" bIns="0" rtlCol="0" anchor="t"/>
          <a:lstStyle/>
          <a:p>
            <a:pPr indent="0" marL="0">
              <a:buNone/>
            </a:pPr>
            <a:r>
              <a:rPr lang="en-US" sz="1200" dirty="0">
                <a:solidFill>
                  <a:schemeClr val="tx1"/>
                </a:solidFill>
              </a:rPr>
              <a:t>Snapshots every 128k evaluations; runtime guard blocks writes to ROOT</a:t>
            </a:r>
            <a:endParaRPr lang="en-US" sz="1200" dirty="0"/>
          </a:p>
        </p:txBody>
      </p:sp>
      <p:sp>
        <p:nvSpPr>
          <p:cNvPr id="51" name="card"/>
          <p:cNvSpPr/>
          <p:nvPr/>
        </p:nvSpPr>
        <p:spPr>
          <a:xfrm>
            <a:off x="9509760" y="3794760"/>
            <a:ext cx="2057400" cy="2240280"/>
          </a:xfrm>
          <a:prstGeom prst="roundRect">
            <a:avLst>
              <a:gd name="adj" fmla="val 3556"/>
            </a:avLst>
          </a:prstGeom>
          <a:solidFill>
            <a:schemeClr val="bg2"/>
          </a:solidFill>
          <a:ln/>
        </p:spPr>
      </p:sp>
      <p:sp>
        <p:nvSpPr>
          <p:cNvPr id="52" name="Shape 41"/>
          <p:cNvSpPr/>
          <p:nvPr/>
        </p:nvSpPr>
        <p:spPr>
          <a:xfrm>
            <a:off x="9692640" y="3977640"/>
            <a:ext cx="566928" cy="566928"/>
          </a:xfrm>
          <a:prstGeom prst="ellipse">
            <a:avLst/>
          </a:prstGeom>
          <a:solidFill>
            <a:schemeClr val="accent2"/>
          </a:solidFill>
          <a:ln/>
        </p:spPr>
      </p:sp>
      <p:pic>
        <p:nvPicPr>
          <p:cNvPr id="53" name="Image 9" descr="preencoded.png">    </p:cNvPr>
          <p:cNvPicPr>
            <a:picLocks noChangeAspect="1"/>
          </p:cNvPicPr>
          <p:nvPr/>
        </p:nvPicPr>
        <p:blipFill>
          <a:blip r:embed="rId10"/>
          <a:stretch>
            <a:fillRect/>
          </a:stretch>
        </p:blipFill>
        <p:spPr>
          <a:xfrm>
            <a:off x="9828703" y="4113703"/>
            <a:ext cx="294803" cy="294803"/>
          </a:xfrm>
          <a:prstGeom prst="rect">
            <a:avLst/>
          </a:prstGeom>
        </p:spPr>
      </p:pic>
      <p:sp>
        <p:nvSpPr>
          <p:cNvPr id="54" name="Text 42"/>
          <p:cNvSpPr txBox="1"/>
          <p:nvPr/>
        </p:nvSpPr>
        <p:spPr>
          <a:xfrm>
            <a:off x="9692640" y="4663440"/>
            <a:ext cx="1737360" cy="502920"/>
          </a:xfrm>
          <a:prstGeom prst="rect">
            <a:avLst/>
          </a:prstGeom>
          <a:noFill/>
          <a:ln/>
        </p:spPr>
        <p:txBody>
          <a:bodyPr wrap="square" lIns="0" tIns="0" rIns="0" bIns="0" rtlCol="0" anchor="t"/>
          <a:lstStyle/>
          <a:p>
            <a:pPr indent="0" marL="0">
              <a:buNone/>
            </a:pPr>
            <a:r>
              <a:rPr lang="en-US" sz="1400" b="1" dirty="0">
                <a:solidFill>
                  <a:schemeClr val="tx2"/>
                </a:solidFill>
              </a:rPr>
              <a:t>Automated tests</a:t>
            </a:r>
            <a:endParaRPr lang="en-US" sz="1400" dirty="0"/>
          </a:p>
        </p:txBody>
      </p:sp>
      <p:sp>
        <p:nvSpPr>
          <p:cNvPr id="55" name="Text 43"/>
          <p:cNvSpPr txBox="1"/>
          <p:nvPr/>
        </p:nvSpPr>
        <p:spPr>
          <a:xfrm>
            <a:off x="9692640" y="5166360"/>
            <a:ext cx="1737360" cy="777240"/>
          </a:xfrm>
          <a:prstGeom prst="rect">
            <a:avLst/>
          </a:prstGeom>
          <a:noFill/>
          <a:ln/>
        </p:spPr>
        <p:txBody>
          <a:bodyPr wrap="square" lIns="0" tIns="0" rIns="0" bIns="0" rtlCol="0" anchor="t"/>
          <a:lstStyle/>
          <a:p>
            <a:pPr indent="0" marL="0">
              <a:buNone/>
            </a:pPr>
            <a:r>
              <a:rPr lang="en-US" sz="1200" dirty="0">
                <a:solidFill>
                  <a:schemeClr val="tx1"/>
                </a:solidFill>
              </a:rPr>
              <a:t>168 tests passing at B2-E03 completion</a:t>
            </a:r>
            <a:endParaRPr lang="en-US" sz="12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we tested</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results_batch2/EXPERIMENT_REGISTRY.csv (42 runs); references/batch1/optimization_leaderboard.csv (26 runs); counting rules in speaker notes · commit cdd87b5</a:t>
            </a:r>
            <a:endParaRPr lang="en-US" sz="1000" dirty="0"/>
          </a:p>
        </p:txBody>
      </p:sp>
      <p:sp>
        <p:nvSpPr>
          <p:cNvPr id="4" name="card"/>
          <p:cNvSpPr/>
          <p:nvPr/>
        </p:nvSpPr>
        <p:spPr>
          <a:xfrm>
            <a:off x="548640" y="1280160"/>
            <a:ext cx="3108960" cy="1078992"/>
          </a:xfrm>
          <a:prstGeom prst="roundRect">
            <a:avLst>
              <a:gd name="adj" fmla="val 6780"/>
            </a:avLst>
          </a:prstGeom>
          <a:solidFill>
            <a:schemeClr val="bg2"/>
          </a:solidFill>
          <a:ln/>
        </p:spPr>
      </p:sp>
      <p:sp>
        <p:nvSpPr>
          <p:cNvPr id="5" name="Text 3"/>
          <p:cNvSpPr txBox="1"/>
          <p:nvPr/>
        </p:nvSpPr>
        <p:spPr>
          <a:xfrm>
            <a:off x="731520" y="1280160"/>
            <a:ext cx="1143000" cy="107899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68</a:t>
            </a:r>
            <a:endParaRPr lang="en-US" sz="4000" dirty="0"/>
          </a:p>
        </p:txBody>
      </p:sp>
      <p:sp>
        <p:nvSpPr>
          <p:cNvPr id="6" name="Text 4"/>
          <p:cNvSpPr txBox="1"/>
          <p:nvPr/>
        </p:nvSpPr>
        <p:spPr>
          <a:xfrm>
            <a:off x="1874520" y="1280160"/>
            <a:ext cx="1737360" cy="1078992"/>
          </a:xfrm>
          <a:prstGeom prst="rect">
            <a:avLst/>
          </a:prstGeom>
          <a:noFill/>
          <a:ln/>
        </p:spPr>
        <p:txBody>
          <a:bodyPr wrap="square" lIns="0" tIns="0" rIns="0" bIns="0" rtlCol="0" anchor="ctr"/>
          <a:lstStyle/>
          <a:p>
            <a:pPr indent="0" marL="0">
              <a:buNone/>
            </a:pPr>
            <a:r>
              <a:rPr lang="en-US" sz="1400" b="1" dirty="0">
                <a:solidFill>
                  <a:schemeClr val="tx2"/>
                </a:solidFill>
              </a:rPr>
              <a:t>completed training runs</a:t>
            </a:r>
            <a:endParaRPr lang="en-US" sz="1400" dirty="0"/>
          </a:p>
          <a:p>
            <a:pPr indent="0" marL="0">
              <a:buNone/>
            </a:pPr>
            <a:r>
              <a:rPr lang="en-US" sz="1200" dirty="0">
                <a:solidFill>
                  <a:srgbClr val="5E6B7A"/>
                </a:solidFill>
              </a:rPr>
              <a:t>26 Batch 1 + 42 Batch 2</a:t>
            </a:r>
            <a:endParaRPr lang="en-US" sz="1400" dirty="0"/>
          </a:p>
        </p:txBody>
      </p:sp>
      <p:sp>
        <p:nvSpPr>
          <p:cNvPr id="7" name="card"/>
          <p:cNvSpPr/>
          <p:nvPr/>
        </p:nvSpPr>
        <p:spPr>
          <a:xfrm>
            <a:off x="548640" y="2496312"/>
            <a:ext cx="3108960" cy="1078992"/>
          </a:xfrm>
          <a:prstGeom prst="roundRect">
            <a:avLst>
              <a:gd name="adj" fmla="val 6780"/>
            </a:avLst>
          </a:prstGeom>
          <a:solidFill>
            <a:schemeClr val="bg2"/>
          </a:solidFill>
          <a:ln/>
        </p:spPr>
      </p:sp>
      <p:sp>
        <p:nvSpPr>
          <p:cNvPr id="8" name="Text 6"/>
          <p:cNvSpPr txBox="1"/>
          <p:nvPr/>
        </p:nvSpPr>
        <p:spPr>
          <a:xfrm>
            <a:off x="731520" y="2496312"/>
            <a:ext cx="1143000" cy="107899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35</a:t>
            </a:r>
            <a:endParaRPr lang="en-US" sz="4000" dirty="0"/>
          </a:p>
        </p:txBody>
      </p:sp>
      <p:sp>
        <p:nvSpPr>
          <p:cNvPr id="9" name="Text 7"/>
          <p:cNvSpPr txBox="1"/>
          <p:nvPr/>
        </p:nvSpPr>
        <p:spPr>
          <a:xfrm>
            <a:off x="1874520" y="2496312"/>
            <a:ext cx="1737360" cy="1078992"/>
          </a:xfrm>
          <a:prstGeom prst="rect">
            <a:avLst/>
          </a:prstGeom>
          <a:noFill/>
          <a:ln/>
        </p:spPr>
        <p:txBody>
          <a:bodyPr wrap="square" lIns="0" tIns="0" rIns="0" bIns="0" rtlCol="0" anchor="ctr"/>
          <a:lstStyle/>
          <a:p>
            <a:pPr indent="0" marL="0">
              <a:buNone/>
            </a:pPr>
            <a:r>
              <a:rPr lang="en-US" sz="1400" b="1" dirty="0">
                <a:solidFill>
                  <a:schemeClr val="tx2"/>
                </a:solidFill>
              </a:rPr>
              <a:t>distinct configurations</a:t>
            </a:r>
            <a:endParaRPr lang="en-US" sz="1400" dirty="0"/>
          </a:p>
          <a:p>
            <a:pPr indent="0" marL="0">
              <a:buNone/>
            </a:pPr>
            <a:r>
              <a:rPr lang="en-US" sz="1200" dirty="0">
                <a:solidFill>
                  <a:srgbClr val="5E6B7A"/>
                </a:solidFill>
              </a:rPr>
              <a:t>25 Batch 1 + 10 new in Batch 2</a:t>
            </a:r>
            <a:endParaRPr lang="en-US" sz="1400" dirty="0"/>
          </a:p>
        </p:txBody>
      </p:sp>
      <p:sp>
        <p:nvSpPr>
          <p:cNvPr id="10" name="card"/>
          <p:cNvSpPr/>
          <p:nvPr/>
        </p:nvSpPr>
        <p:spPr>
          <a:xfrm>
            <a:off x="548640" y="3712464"/>
            <a:ext cx="3108960" cy="1078992"/>
          </a:xfrm>
          <a:prstGeom prst="roundRect">
            <a:avLst>
              <a:gd name="adj" fmla="val 6780"/>
            </a:avLst>
          </a:prstGeom>
          <a:solidFill>
            <a:schemeClr val="bg2"/>
          </a:solidFill>
          <a:ln/>
        </p:spPr>
      </p:sp>
      <p:sp>
        <p:nvSpPr>
          <p:cNvPr id="11" name="Text 9"/>
          <p:cNvSpPr txBox="1"/>
          <p:nvPr/>
        </p:nvSpPr>
        <p:spPr>
          <a:xfrm>
            <a:off x="731520" y="3712464"/>
            <a:ext cx="1143000" cy="107899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16</a:t>
            </a:r>
            <a:endParaRPr lang="en-US" sz="4000" dirty="0"/>
          </a:p>
        </p:txBody>
      </p:sp>
      <p:sp>
        <p:nvSpPr>
          <p:cNvPr id="12" name="Text 10"/>
          <p:cNvSpPr txBox="1"/>
          <p:nvPr/>
        </p:nvSpPr>
        <p:spPr>
          <a:xfrm>
            <a:off x="1874520" y="3712464"/>
            <a:ext cx="1737360" cy="1078992"/>
          </a:xfrm>
          <a:prstGeom prst="rect">
            <a:avLst/>
          </a:prstGeom>
          <a:noFill/>
          <a:ln/>
        </p:spPr>
        <p:txBody>
          <a:bodyPr wrap="square" lIns="0" tIns="0" rIns="0" bIns="0" rtlCol="0" anchor="ctr"/>
          <a:lstStyle/>
          <a:p>
            <a:pPr indent="0" marL="0">
              <a:buNone/>
            </a:pPr>
            <a:r>
              <a:rPr lang="en-US" sz="1400" b="1" dirty="0">
                <a:solidFill>
                  <a:schemeClr val="tx2"/>
                </a:solidFill>
              </a:rPr>
              <a:t>intervention families</a:t>
            </a:r>
            <a:endParaRPr lang="en-US" sz="1400" dirty="0"/>
          </a:p>
          <a:p>
            <a:pPr indent="0" marL="0">
              <a:buNone/>
            </a:pPr>
            <a:r>
              <a:rPr lang="en-US" sz="1200" dirty="0">
                <a:solidFill>
                  <a:srgbClr val="5E6B7A"/>
                </a:solidFill>
              </a:rPr>
              <a:t>in 4 classes</a:t>
            </a:r>
            <a:endParaRPr lang="en-US" sz="1400" dirty="0"/>
          </a:p>
        </p:txBody>
      </p:sp>
      <p:sp>
        <p:nvSpPr>
          <p:cNvPr id="13" name="card"/>
          <p:cNvSpPr/>
          <p:nvPr/>
        </p:nvSpPr>
        <p:spPr>
          <a:xfrm>
            <a:off x="548640" y="4928616"/>
            <a:ext cx="3108960" cy="1078992"/>
          </a:xfrm>
          <a:prstGeom prst="roundRect">
            <a:avLst>
              <a:gd name="adj" fmla="val 6780"/>
            </a:avLst>
          </a:prstGeom>
          <a:solidFill>
            <a:schemeClr val="bg2"/>
          </a:solidFill>
          <a:ln/>
        </p:spPr>
      </p:sp>
      <p:sp>
        <p:nvSpPr>
          <p:cNvPr id="14" name="Text 12"/>
          <p:cNvSpPr txBox="1"/>
          <p:nvPr/>
        </p:nvSpPr>
        <p:spPr>
          <a:xfrm>
            <a:off x="731520" y="4928616"/>
            <a:ext cx="1143000" cy="107899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1874520" y="4928616"/>
            <a:ext cx="1737360" cy="1078992"/>
          </a:xfrm>
          <a:prstGeom prst="rect">
            <a:avLst/>
          </a:prstGeom>
          <a:noFill/>
          <a:ln/>
        </p:spPr>
        <p:txBody>
          <a:bodyPr wrap="square" lIns="0" tIns="0" rIns="0" bIns="0" rtlCol="0" anchor="ctr"/>
          <a:lstStyle/>
          <a:p>
            <a:pPr indent="0" marL="0">
              <a:buNone/>
            </a:pPr>
            <a:r>
              <a:rPr lang="en-US" sz="1400" b="1" dirty="0">
                <a:solidFill>
                  <a:schemeClr val="tx2"/>
                </a:solidFill>
              </a:rPr>
              <a:t>seeds per Batch-2 arm</a:t>
            </a:r>
            <a:endParaRPr lang="en-US" sz="1400" dirty="0"/>
          </a:p>
          <a:p>
            <a:pPr indent="0" marL="0">
              <a:buNone/>
            </a:pPr>
            <a:r>
              <a:rPr lang="en-US" sz="1200" dirty="0">
                <a:solidFill>
                  <a:srgbClr val="5E6B7A"/>
                </a:solidFill>
              </a:rPr>
              <a:t>1234, 1235, 1236</a:t>
            </a:r>
            <a:endParaRPr lang="en-US" sz="1400" dirty="0"/>
          </a:p>
        </p:txBody>
      </p:sp>
      <p:sp>
        <p:nvSpPr>
          <p:cNvPr id="16" name="Shape 14"/>
          <p:cNvSpPr/>
          <p:nvPr/>
        </p:nvSpPr>
        <p:spPr>
          <a:xfrm>
            <a:off x="3931920" y="1280160"/>
            <a:ext cx="1828800" cy="640080"/>
          </a:xfrm>
          <a:prstGeom prst="roundRect">
            <a:avLst>
              <a:gd name="adj" fmla="val 11429"/>
            </a:avLst>
          </a:prstGeom>
          <a:solidFill>
            <a:schemeClr val="tx2"/>
          </a:solidFill>
          <a:ln/>
        </p:spPr>
      </p:sp>
      <p:sp>
        <p:nvSpPr>
          <p:cNvPr id="17" name="Text 15"/>
          <p:cNvSpPr txBox="1"/>
          <p:nvPr/>
        </p:nvSpPr>
        <p:spPr>
          <a:xfrm>
            <a:off x="3931920" y="1280160"/>
            <a:ext cx="1828800" cy="64008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Representation / formulation</a:t>
            </a:r>
            <a:endParaRPr lang="en-US" sz="1300" dirty="0"/>
          </a:p>
        </p:txBody>
      </p:sp>
      <p:sp>
        <p:nvSpPr>
          <p:cNvPr id="18" name="card"/>
          <p:cNvSpPr/>
          <p:nvPr/>
        </p:nvSpPr>
        <p:spPr>
          <a:xfrm>
            <a:off x="3931920" y="2011680"/>
            <a:ext cx="1828800" cy="4114800"/>
          </a:xfrm>
          <a:prstGeom prst="roundRect">
            <a:avLst>
              <a:gd name="adj" fmla="val 4000"/>
            </a:avLst>
          </a:prstGeom>
          <a:solidFill>
            <a:schemeClr val="bg2"/>
          </a:solidFill>
          <a:ln/>
        </p:spPr>
      </p:sp>
      <p:sp>
        <p:nvSpPr>
          <p:cNvPr id="19" name="Text 17"/>
          <p:cNvSpPr txBox="1"/>
          <p:nvPr/>
        </p:nvSpPr>
        <p:spPr>
          <a:xfrm>
            <a:off x="4005072" y="2103120"/>
            <a:ext cx="1682496" cy="3931920"/>
          </a:xfrm>
          <a:prstGeom prst="rect">
            <a:avLst/>
          </a:prstGeom>
          <a:noFill/>
          <a:ln/>
        </p:spPr>
        <p:txBody>
          <a:bodyPr wrap="square" lIns="25400" tIns="25400" rIns="25400" bIns="25400" rtlCol="0" anchor="t"/>
          <a:lstStyle/>
          <a:p>
            <a:pPr marL="342900" indent="-342900">
              <a:spcAft>
                <a:spcPts val="600"/>
              </a:spcAft>
              <a:buSzPct val="100000"/>
              <a:buChar char="•"/>
            </a:pPr>
            <a:r>
              <a:rPr lang="en-US" sz="1300" dirty="0">
                <a:solidFill>
                  <a:schemeClr val="tx1"/>
                </a:solidFill>
              </a:rPr>
              <a:t>Fourier feature embedding (paper method)</a:t>
            </a:r>
            <a:endParaRPr lang="en-US" sz="1300" dirty="0"/>
          </a:p>
          <a:p>
            <a:pPr marL="342900" indent="-342900">
              <a:spcAft>
                <a:spcPts val="600"/>
              </a:spcAft>
              <a:buSzPct val="100000"/>
              <a:buChar char="•"/>
            </a:pPr>
            <a:r>
              <a:rPr lang="en-US" sz="1300" dirty="0">
                <a:solidFill>
                  <a:schemeClr val="tx1"/>
                </a:solidFill>
              </a:rPr>
              <a:t>NTK adaptive loss weighting (paper method)</a:t>
            </a:r>
            <a:endParaRPr lang="en-US" sz="1300" dirty="0"/>
          </a:p>
          <a:p>
            <a:pPr marL="342900" indent="-342900">
              <a:spcAft>
                <a:spcPts val="600"/>
              </a:spcAft>
              <a:buSzPct val="100000"/>
              <a:buChar char="•"/>
            </a:pPr>
            <a:r>
              <a:rPr lang="en-US" sz="1300" dirty="0">
                <a:solidFill>
                  <a:schemeClr val="tx1"/>
                </a:solidFill>
              </a:rPr>
              <a:t>Fourier convention / input scaling / bias init</a:t>
            </a:r>
            <a:endParaRPr lang="en-US" sz="1300" dirty="0"/>
          </a:p>
          <a:p>
            <a:pPr marL="342900" indent="-342900">
              <a:spcAft>
                <a:spcPts val="600"/>
              </a:spcAft>
              <a:buSzPct val="100000"/>
              <a:buChar char="•"/>
            </a:pPr>
            <a:r>
              <a:rPr lang="en-US" sz="1300" dirty="0">
                <a:solidFill>
                  <a:schemeClr val="tx1"/>
                </a:solidFill>
              </a:rPr>
              <a:t>Hard IC/BC constraints</a:t>
            </a:r>
            <a:endParaRPr lang="en-US" sz="1300" dirty="0"/>
          </a:p>
          <a:p>
            <a:pPr marL="342900" indent="-342900">
              <a:spcAft>
                <a:spcPts val="600"/>
              </a:spcAft>
              <a:buSzPct val="100000"/>
              <a:buChar char="•"/>
            </a:pPr>
            <a:r>
              <a:rPr lang="en-US" sz="1300" dirty="0">
                <a:solidFill>
                  <a:schemeClr val="tx1"/>
                </a:solidFill>
              </a:rPr>
              <a:t>tanh²(ω₁t) temporal conditioning</a:t>
            </a:r>
            <a:endParaRPr lang="en-US" sz="1300" dirty="0"/>
          </a:p>
          <a:p>
            <a:pPr marL="342900" indent="-342900">
              <a:spcAft>
                <a:spcPts val="600"/>
              </a:spcAft>
              <a:buSzPct val="100000"/>
              <a:buChar char="•"/>
            </a:pPr>
            <a:r>
              <a:rPr lang="en-US" sz="1300" dirty="0">
                <a:solidFill>
                  <a:schemeClr val="tx1"/>
                </a:solidFill>
              </a:rPr>
              <a:t>Mixed formulation v = u_xx</a:t>
            </a:r>
            <a:endParaRPr lang="en-US" sz="1300" dirty="0"/>
          </a:p>
          <a:p>
            <a:pPr marL="342900" indent="-342900">
              <a:spcAft>
                <a:spcPts val="600"/>
              </a:spcAft>
              <a:buSzPct val="100000"/>
              <a:buChar char="•"/>
            </a:pPr>
            <a:r>
              <a:rPr lang="en-US" sz="1300" dirty="0">
                <a:solidFill>
                  <a:schemeClr val="tx1"/>
                </a:solidFill>
              </a:rPr>
              <a:t>Modal reduction (diagnostic)</a:t>
            </a:r>
            <a:endParaRPr lang="en-US" sz="1300" dirty="0"/>
          </a:p>
        </p:txBody>
      </p:sp>
      <p:sp>
        <p:nvSpPr>
          <p:cNvPr id="20" name="Shape 18"/>
          <p:cNvSpPr/>
          <p:nvPr/>
        </p:nvSpPr>
        <p:spPr>
          <a:xfrm>
            <a:off x="5897880" y="1280160"/>
            <a:ext cx="1828800" cy="640080"/>
          </a:xfrm>
          <a:prstGeom prst="roundRect">
            <a:avLst>
              <a:gd name="adj" fmla="val 11429"/>
            </a:avLst>
          </a:prstGeom>
          <a:solidFill>
            <a:schemeClr val="tx2"/>
          </a:solidFill>
          <a:ln/>
        </p:spPr>
      </p:sp>
      <p:sp>
        <p:nvSpPr>
          <p:cNvPr id="21" name="Text 19"/>
          <p:cNvSpPr txBox="1"/>
          <p:nvPr/>
        </p:nvSpPr>
        <p:spPr>
          <a:xfrm>
            <a:off x="5897880" y="1280160"/>
            <a:ext cx="1828800" cy="64008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Optimization / training</a:t>
            </a:r>
            <a:endParaRPr lang="en-US" sz="1300" dirty="0"/>
          </a:p>
        </p:txBody>
      </p:sp>
      <p:sp>
        <p:nvSpPr>
          <p:cNvPr id="22" name="card"/>
          <p:cNvSpPr/>
          <p:nvPr/>
        </p:nvSpPr>
        <p:spPr>
          <a:xfrm>
            <a:off x="5897880" y="2011680"/>
            <a:ext cx="1828800" cy="4114800"/>
          </a:xfrm>
          <a:prstGeom prst="roundRect">
            <a:avLst>
              <a:gd name="adj" fmla="val 4000"/>
            </a:avLst>
          </a:prstGeom>
          <a:solidFill>
            <a:schemeClr val="bg2"/>
          </a:solidFill>
          <a:ln/>
        </p:spPr>
      </p:sp>
      <p:sp>
        <p:nvSpPr>
          <p:cNvPr id="23" name="Text 21"/>
          <p:cNvSpPr txBox="1"/>
          <p:nvPr/>
        </p:nvSpPr>
        <p:spPr>
          <a:xfrm>
            <a:off x="5971032" y="2103120"/>
            <a:ext cx="1682496" cy="3931920"/>
          </a:xfrm>
          <a:prstGeom prst="rect">
            <a:avLst/>
          </a:prstGeom>
          <a:noFill/>
          <a:ln/>
        </p:spPr>
        <p:txBody>
          <a:bodyPr wrap="square" lIns="25400" tIns="25400" rIns="25400" bIns="25400" rtlCol="0" anchor="t"/>
          <a:lstStyle/>
          <a:p>
            <a:pPr marL="342900" indent="-342900">
              <a:spcAft>
                <a:spcPts val="600"/>
              </a:spcAft>
              <a:buSzPct val="100000"/>
              <a:buChar char="•"/>
            </a:pPr>
            <a:r>
              <a:rPr lang="en-US" sz="1300" dirty="0">
                <a:solidFill>
                  <a:schemeClr val="tx1"/>
                </a:solidFill>
              </a:rPr>
              <a:t>Exponential LR decay</a:t>
            </a:r>
            <a:endParaRPr lang="en-US" sz="1300" dirty="0"/>
          </a:p>
          <a:p>
            <a:pPr marL="342900" indent="-342900">
              <a:spcAft>
                <a:spcPts val="600"/>
              </a:spcAft>
              <a:buSzPct val="100000"/>
              <a:buChar char="•"/>
            </a:pPr>
            <a:r>
              <a:rPr lang="en-US" sz="1300" dirty="0">
                <a:solidFill>
                  <a:schemeClr val="tx1"/>
                </a:solidFill>
              </a:rPr>
              <a:t>Larger mini-batch (32 → 128)</a:t>
            </a:r>
            <a:endParaRPr lang="en-US" sz="1300" dirty="0"/>
          </a:p>
          <a:p>
            <a:pPr marL="342900" indent="-342900">
              <a:spcAft>
                <a:spcPts val="600"/>
              </a:spcAft>
              <a:buSzPct val="100000"/>
              <a:buChar char="•"/>
            </a:pPr>
            <a:r>
              <a:rPr lang="en-US" sz="1300" dirty="0">
                <a:solidFill>
                  <a:schemeClr val="tx1"/>
                </a:solidFill>
              </a:rPr>
              <a:t>Training budget (5k → 20k steps)</a:t>
            </a:r>
            <a:endParaRPr lang="en-US" sz="1300" dirty="0"/>
          </a:p>
          <a:p>
            <a:pPr marL="342900" indent="-342900">
              <a:spcAft>
                <a:spcPts val="600"/>
              </a:spcAft>
              <a:buSzPct val="100000"/>
              <a:buChar char="•"/>
            </a:pPr>
            <a:r>
              <a:rPr lang="en-US" sz="1300" dirty="0">
                <a:solidFill>
                  <a:schemeClr val="tx1"/>
                </a:solidFill>
              </a:rPr>
              <a:t>Adam → L-BFGS</a:t>
            </a:r>
            <a:endParaRPr lang="en-US" sz="1300" dirty="0"/>
          </a:p>
          <a:p>
            <a:pPr marL="342900" indent="-342900">
              <a:spcAft>
                <a:spcPts val="600"/>
              </a:spcAft>
              <a:buSzPct val="100000"/>
              <a:buChar char="•"/>
            </a:pPr>
            <a:r>
              <a:rPr lang="en-US" sz="1300" dirty="0">
                <a:solidFill>
                  <a:schemeClr val="tx1"/>
                </a:solidFill>
              </a:rPr>
              <a:t>Full-batch Adam</a:t>
            </a:r>
            <a:endParaRPr lang="en-US" sz="1300" dirty="0"/>
          </a:p>
          <a:p>
            <a:pPr marL="342900" indent="-342900">
              <a:spcAft>
                <a:spcPts val="600"/>
              </a:spcAft>
              <a:buSzPct val="100000"/>
              <a:buChar char="•"/>
            </a:pPr>
            <a:r>
              <a:rPr lang="en-US" sz="1300" dirty="0">
                <a:solidFill>
                  <a:schemeClr val="tx1"/>
                </a:solidFill>
              </a:rPr>
              <a:t>Causal temporal weighting</a:t>
            </a:r>
            <a:endParaRPr lang="en-US" sz="1300" dirty="0"/>
          </a:p>
        </p:txBody>
      </p:sp>
      <p:sp>
        <p:nvSpPr>
          <p:cNvPr id="24" name="Shape 22"/>
          <p:cNvSpPr/>
          <p:nvPr/>
        </p:nvSpPr>
        <p:spPr>
          <a:xfrm>
            <a:off x="7863840" y="1280160"/>
            <a:ext cx="1828800" cy="640080"/>
          </a:xfrm>
          <a:prstGeom prst="roundRect">
            <a:avLst>
              <a:gd name="adj" fmla="val 11429"/>
            </a:avLst>
          </a:prstGeom>
          <a:solidFill>
            <a:schemeClr val="tx2"/>
          </a:solidFill>
          <a:ln/>
        </p:spPr>
      </p:sp>
      <p:sp>
        <p:nvSpPr>
          <p:cNvPr id="25" name="Text 23"/>
          <p:cNvSpPr txBox="1"/>
          <p:nvPr/>
        </p:nvSpPr>
        <p:spPr>
          <a:xfrm>
            <a:off x="7863840" y="1280160"/>
            <a:ext cx="1828800" cy="64008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Sampling</a:t>
            </a:r>
            <a:endParaRPr lang="en-US" sz="1300" dirty="0"/>
          </a:p>
        </p:txBody>
      </p:sp>
      <p:sp>
        <p:nvSpPr>
          <p:cNvPr id="26" name="card"/>
          <p:cNvSpPr/>
          <p:nvPr/>
        </p:nvSpPr>
        <p:spPr>
          <a:xfrm>
            <a:off x="7863840" y="2011680"/>
            <a:ext cx="1828800" cy="4114800"/>
          </a:xfrm>
          <a:prstGeom prst="roundRect">
            <a:avLst>
              <a:gd name="adj" fmla="val 4000"/>
            </a:avLst>
          </a:prstGeom>
          <a:solidFill>
            <a:schemeClr val="bg2"/>
          </a:solidFill>
          <a:ln/>
        </p:spPr>
      </p:sp>
      <p:sp>
        <p:nvSpPr>
          <p:cNvPr id="27" name="Text 25"/>
          <p:cNvSpPr txBox="1"/>
          <p:nvPr/>
        </p:nvSpPr>
        <p:spPr>
          <a:xfrm>
            <a:off x="7936992" y="2103120"/>
            <a:ext cx="1682496" cy="3931920"/>
          </a:xfrm>
          <a:prstGeom prst="rect">
            <a:avLst/>
          </a:prstGeom>
          <a:noFill/>
          <a:ln/>
        </p:spPr>
        <p:txBody>
          <a:bodyPr wrap="square" lIns="25400" tIns="25400" rIns="25400" bIns="25400" rtlCol="0" anchor="t"/>
          <a:lstStyle/>
          <a:p>
            <a:pPr marL="342900" indent="-342900">
              <a:spcAft>
                <a:spcPts val="600"/>
              </a:spcAft>
              <a:buSzPct val="100000"/>
              <a:buChar char="•"/>
            </a:pPr>
            <a:r>
              <a:rPr lang="en-US" sz="1300" dirty="0">
                <a:solidFill>
                  <a:schemeClr val="tx1"/>
                </a:solidFill>
              </a:rPr>
              <a:t>RAD adaptive sampling</a:t>
            </a:r>
            <a:endParaRPr lang="en-US" sz="1300" dirty="0"/>
          </a:p>
          <a:p>
            <a:pPr marL="342900" indent="-342900">
              <a:spcAft>
                <a:spcPts val="600"/>
              </a:spcAft>
              <a:buSzPct val="100000"/>
              <a:buChar char="•"/>
            </a:pPr>
            <a:r>
              <a:rPr lang="en-US" sz="1300" dirty="0">
                <a:solidFill>
                  <a:schemeClr val="tx1"/>
                </a:solidFill>
              </a:rPr>
              <a:t>Collocation resampling / larger pool (L-BFGS)</a:t>
            </a:r>
            <a:endParaRPr lang="en-US" sz="1300" dirty="0"/>
          </a:p>
        </p:txBody>
      </p:sp>
      <p:sp>
        <p:nvSpPr>
          <p:cNvPr id="28" name="Shape 26"/>
          <p:cNvSpPr/>
          <p:nvPr/>
        </p:nvSpPr>
        <p:spPr>
          <a:xfrm>
            <a:off x="9829800" y="1280160"/>
            <a:ext cx="1828800" cy="640080"/>
          </a:xfrm>
          <a:prstGeom prst="roundRect">
            <a:avLst>
              <a:gd name="adj" fmla="val 11429"/>
            </a:avLst>
          </a:prstGeom>
          <a:solidFill>
            <a:schemeClr val="tx2"/>
          </a:solidFill>
          <a:ln/>
        </p:spPr>
      </p:sp>
      <p:sp>
        <p:nvSpPr>
          <p:cNvPr id="29" name="Text 27"/>
          <p:cNvSpPr txBox="1"/>
          <p:nvPr/>
        </p:nvSpPr>
        <p:spPr>
          <a:xfrm>
            <a:off x="9829800" y="1280160"/>
            <a:ext cx="1828800" cy="64008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Numerical precision</a:t>
            </a:r>
            <a:endParaRPr lang="en-US" sz="1300" dirty="0"/>
          </a:p>
        </p:txBody>
      </p:sp>
      <p:sp>
        <p:nvSpPr>
          <p:cNvPr id="30" name="card"/>
          <p:cNvSpPr/>
          <p:nvPr/>
        </p:nvSpPr>
        <p:spPr>
          <a:xfrm>
            <a:off x="9829800" y="2011680"/>
            <a:ext cx="1828800" cy="4114800"/>
          </a:xfrm>
          <a:prstGeom prst="roundRect">
            <a:avLst>
              <a:gd name="adj" fmla="val 4000"/>
            </a:avLst>
          </a:prstGeom>
          <a:solidFill>
            <a:schemeClr val="bg2"/>
          </a:solidFill>
          <a:ln/>
        </p:spPr>
      </p:sp>
      <p:sp>
        <p:nvSpPr>
          <p:cNvPr id="31" name="Text 29"/>
          <p:cNvSpPr txBox="1"/>
          <p:nvPr/>
        </p:nvSpPr>
        <p:spPr>
          <a:xfrm>
            <a:off x="9902952" y="2103120"/>
            <a:ext cx="1682496" cy="3931920"/>
          </a:xfrm>
          <a:prstGeom prst="rect">
            <a:avLst/>
          </a:prstGeom>
          <a:noFill/>
          <a:ln/>
        </p:spPr>
        <p:txBody>
          <a:bodyPr wrap="square" lIns="25400" tIns="25400" rIns="25400" bIns="25400" rtlCol="0" anchor="t"/>
          <a:lstStyle/>
          <a:p>
            <a:pPr marL="342900" indent="-342900">
              <a:spcAft>
                <a:spcPts val="600"/>
              </a:spcAft>
              <a:buSzPct val="100000"/>
              <a:buChar char="•"/>
            </a:pPr>
            <a:r>
              <a:rPr lang="en-US" sz="1300" dirty="0">
                <a:solidFill>
                  <a:schemeClr val="tx1"/>
                </a:solidFill>
              </a:rPr>
              <a:t>FP64 (vs FP32)</a:t>
            </a:r>
            <a:endParaRPr lang="en-US" sz="13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Batch 1: reproduction and first optimizations</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references/batch1/optimization_leaderboard.csv; tables/phaseZ4_20K_checkpoints.csv, phaseY1_20K_checkpoints.csv, phaseX_oscillation.csv; reports/PHASE_E_SCREEN.md · commit cdd87b5</a:t>
            </a:r>
            <a:endParaRPr lang="en-US" sz="1000" dirty="0"/>
          </a:p>
        </p:txBody>
      </p:sp>
      <p:graphicFrame>
        <p:nvGraphicFramePr>
          <p:cNvPr id="4" name="Chart 0" descr=""/>
          <p:cNvGraphicFramePr/>
          <p:nvPr/>
        </p:nvGraphicFramePr>
        <p:xfrm>
          <a:off x="457200" y="1234440"/>
          <a:ext cx="6035040" cy="3520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846320"/>
            <a:ext cx="5943600" cy="548640"/>
          </a:xfrm>
          <a:prstGeom prst="rect">
            <a:avLst/>
          </a:prstGeom>
          <a:noFill/>
          <a:ln/>
        </p:spPr>
        <p:txBody>
          <a:bodyPr wrap="square" lIns="0" tIns="0" rIns="0" bIns="0" rtlCol="0" anchor="ctr"/>
          <a:lstStyle/>
          <a:p>
            <a:pPr indent="0" marL="0">
              <a:buNone/>
            </a:pPr>
            <a:r>
              <a:rPr lang="en-US" sz="1300" dirty="0">
                <a:solidFill>
                  <a:schemeClr val="tx1"/>
                </a:solidFill>
              </a:rPr>
              <a:t>Persistence (cycles of </a:t>
            </a:r>
            <a:pPr indent="0" marL="0">
              <a:buNone/>
            </a:pPr>
            <a:r>
              <a:rPr lang="en-US" sz="1300" dirty="0">
                <a:solidFill>
                  <a:schemeClr val="tx1"/>
                </a:solidFill>
              </a:rPr>
              <a:t>20.58</a:t>
            </a:r>
            <a:pPr indent="0" marL="0">
              <a:buNone/>
            </a:pPr>
            <a:r>
              <a:rPr lang="en-US" sz="1300" dirty="0">
                <a:solidFill>
                  <a:schemeClr val="tx1"/>
                </a:solidFill>
              </a:rPr>
              <a:t>): </a:t>
            </a:r>
            <a:pPr indent="0" marL="0">
              <a:buNone/>
            </a:pPr>
            <a:r>
              <a:rPr lang="en-US" sz="1300" b="1" dirty="0">
                <a:solidFill>
                  <a:schemeClr val="tx1"/>
                </a:solidFill>
              </a:rPr>
              <a:t>Y1 1.17 → </a:t>
            </a:r>
            <a:pPr indent="0" marL="0">
              <a:buNone/>
            </a:pPr>
            <a:r>
              <a:rPr lang="en-US" sz="1300" b="1" dirty="0">
                <a:solidFill>
                  <a:schemeClr val="tx1"/>
                </a:solidFill>
              </a:rPr>
              <a:t>Z4 3.15 → </a:t>
            </a:r>
            <a:pPr indent="0" marL="0">
              <a:buNone/>
            </a:pPr>
            <a:r>
              <a:rPr lang="en-US" sz="1300" b="1" dirty="0">
                <a:solidFill>
                  <a:schemeClr val="tx1"/>
                </a:solidFill>
              </a:rPr>
              <a:t>Z4-20K 8.09</a:t>
            </a:r>
            <a:pPr indent="0" marL="0">
              <a:buNone/>
            </a:pPr>
            <a:r>
              <a:rPr lang="en-US" sz="1300" dirty="0">
                <a:solidFill>
                  <a:srgbClr val="5E6B7A"/>
                </a:solidFill>
              </a:rPr>
              <a:t> · C0, E4, X2: no sustained oscillation</a:t>
            </a:r>
            <a:endParaRPr lang="en-US" sz="1300" dirty="0"/>
          </a:p>
        </p:txBody>
      </p:sp>
      <p:sp>
        <p:nvSpPr>
          <p:cNvPr id="6" name="Text 3"/>
          <p:cNvSpPr txBox="1"/>
          <p:nvPr/>
        </p:nvSpPr>
        <p:spPr>
          <a:xfrm>
            <a:off x="548640" y="5440680"/>
            <a:ext cx="5943600" cy="594360"/>
          </a:xfrm>
          <a:prstGeom prst="rect">
            <a:avLst/>
          </a:prstGeom>
          <a:noFill/>
          <a:ln/>
        </p:spPr>
        <p:txBody>
          <a:bodyPr wrap="square" lIns="0" tIns="0" rIns="0" bIns="0" rtlCol="0" anchor="ctr"/>
          <a:lstStyle/>
          <a:p>
            <a:pPr indent="0" marL="0">
              <a:buNone/>
            </a:pPr>
            <a:r>
              <a:rPr lang="en-US" sz="1200" i="1" dirty="0">
                <a:solidFill>
                  <a:srgbClr val="5E6B7A"/>
                </a:solidFill>
              </a:rPr>
              <a:t>Budgets differ (labels): E4/X2/Y1 at 160k, C0/Z4 at 640k, Z4-20K at 2.56M evaluations. Z4 = the frozen B1 reference used in Batch 2.</a:t>
            </a:r>
            <a:endParaRPr lang="en-US" sz="1200" dirty="0"/>
          </a:p>
        </p:txBody>
      </p:sp>
      <p:sp>
        <p:nvSpPr>
          <p:cNvPr id="7" name="Shape 4"/>
          <p:cNvSpPr/>
          <p:nvPr/>
        </p:nvSpPr>
        <p:spPr>
          <a:xfrm>
            <a:off x="6812280" y="1325880"/>
            <a:ext cx="2148840" cy="274320"/>
          </a:xfrm>
          <a:prstGeom prst="roundRect">
            <a:avLst>
              <a:gd name="adj" fmla="val 50000"/>
            </a:avLst>
          </a:prstGeom>
          <a:solidFill>
            <a:schemeClr val="accent4"/>
          </a:solidFill>
          <a:ln/>
        </p:spPr>
      </p:sp>
      <p:sp>
        <p:nvSpPr>
          <p:cNvPr id="8" name="Text 5"/>
          <p:cNvSpPr txBox="1"/>
          <p:nvPr/>
        </p:nvSpPr>
        <p:spPr>
          <a:xfrm>
            <a:off x="6812280" y="1325880"/>
            <a:ext cx="214884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9" name="Text 6"/>
          <p:cNvSpPr txBox="1"/>
          <p:nvPr/>
        </p:nvSpPr>
        <p:spPr>
          <a:xfrm>
            <a:off x="9098280" y="1280160"/>
            <a:ext cx="2560320" cy="365760"/>
          </a:xfrm>
          <a:prstGeom prst="rect">
            <a:avLst/>
          </a:prstGeom>
          <a:noFill/>
          <a:ln/>
        </p:spPr>
        <p:txBody>
          <a:bodyPr wrap="square" lIns="0" tIns="0" rIns="0" bIns="0" rtlCol="0" anchor="t"/>
          <a:lstStyle/>
          <a:p>
            <a:pPr indent="0" marL="0">
              <a:buNone/>
            </a:pPr>
            <a:r>
              <a:rPr lang="en-US" sz="1300" b="1" dirty="0">
                <a:solidFill>
                  <a:schemeClr val="tx2"/>
                </a:solidFill>
              </a:rPr>
              <a:t>Paper method (Fourier + NTK)</a:t>
            </a:r>
            <a:endParaRPr lang="en-US" sz="1300" dirty="0"/>
          </a:p>
        </p:txBody>
      </p:sp>
      <p:sp>
        <p:nvSpPr>
          <p:cNvPr id="10" name="Text 7"/>
          <p:cNvSpPr txBox="1"/>
          <p:nvPr/>
        </p:nvSpPr>
        <p:spPr>
          <a:xfrm>
            <a:off x="6812280" y="1664208"/>
            <a:ext cx="4846320" cy="530352"/>
          </a:xfrm>
          <a:prstGeom prst="rect">
            <a:avLst/>
          </a:prstGeom>
          <a:noFill/>
          <a:ln/>
        </p:spPr>
        <p:txBody>
          <a:bodyPr wrap="square" lIns="0" tIns="0" rIns="0" bIns="0" rtlCol="0" anchor="t"/>
          <a:lstStyle/>
          <a:p>
            <a:pPr indent="0" marL="0">
              <a:buNone/>
            </a:pPr>
            <a:r>
              <a:rPr lang="en-US" sz="1200" dirty="0">
                <a:solidFill>
                  <a:schemeClr val="tx1"/>
                </a:solidFill>
              </a:rPr>
              <a:t>Static field under the tested budget (C0 L2 3.26)</a:t>
            </a:r>
            <a:endParaRPr lang="en-US" sz="1200" dirty="0"/>
          </a:p>
        </p:txBody>
      </p:sp>
      <p:sp>
        <p:nvSpPr>
          <p:cNvPr id="11" name="Shape 8"/>
          <p:cNvSpPr/>
          <p:nvPr/>
        </p:nvSpPr>
        <p:spPr>
          <a:xfrm>
            <a:off x="6812280" y="2286000"/>
            <a:ext cx="2148840" cy="274320"/>
          </a:xfrm>
          <a:prstGeom prst="roundRect">
            <a:avLst>
              <a:gd name="adj" fmla="val 50000"/>
            </a:avLst>
          </a:prstGeom>
          <a:solidFill>
            <a:schemeClr val="accent2"/>
          </a:solidFill>
          <a:ln/>
        </p:spPr>
      </p:sp>
      <p:sp>
        <p:nvSpPr>
          <p:cNvPr id="12" name="Text 9"/>
          <p:cNvSpPr txBox="1"/>
          <p:nvPr/>
        </p:nvSpPr>
        <p:spPr>
          <a:xfrm>
            <a:off x="6812280" y="2286000"/>
            <a:ext cx="214884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13" name="Text 10"/>
          <p:cNvSpPr txBox="1"/>
          <p:nvPr/>
        </p:nvSpPr>
        <p:spPr>
          <a:xfrm>
            <a:off x="9098280" y="2240280"/>
            <a:ext cx="2560320" cy="365760"/>
          </a:xfrm>
          <a:prstGeom prst="rect">
            <a:avLst/>
          </a:prstGeom>
          <a:noFill/>
          <a:ln/>
        </p:spPr>
        <p:txBody>
          <a:bodyPr wrap="square" lIns="0" tIns="0" rIns="0" bIns="0" rtlCol="0" anchor="t"/>
          <a:lstStyle/>
          <a:p>
            <a:pPr indent="0" marL="0">
              <a:buNone/>
            </a:pPr>
            <a:r>
              <a:rPr lang="en-US" sz="1300" b="1" dirty="0">
                <a:solidFill>
                  <a:schemeClr val="tx2"/>
                </a:solidFill>
              </a:rPr>
              <a:t>Hard IC/BC constraints + tanh²(ω₁t)</a:t>
            </a:r>
            <a:endParaRPr lang="en-US" sz="1300" dirty="0"/>
          </a:p>
        </p:txBody>
      </p:sp>
      <p:sp>
        <p:nvSpPr>
          <p:cNvPr id="14" name="Text 11"/>
          <p:cNvSpPr txBox="1"/>
          <p:nvPr/>
        </p:nvSpPr>
        <p:spPr>
          <a:xfrm>
            <a:off x="6812280" y="2624328"/>
            <a:ext cx="4846320" cy="530352"/>
          </a:xfrm>
          <a:prstGeom prst="rect">
            <a:avLst/>
          </a:prstGeom>
          <a:noFill/>
          <a:ln/>
        </p:spPr>
        <p:txBody>
          <a:bodyPr wrap="square" lIns="0" tIns="0" rIns="0" bIns="0" rtlCol="0" anchor="t"/>
          <a:lstStyle/>
          <a:p>
            <a:pPr indent="0" marL="0">
              <a:buNone/>
            </a:pPr>
            <a:r>
              <a:rPr lang="en-US" sz="1200" dirty="0">
                <a:solidFill>
                  <a:schemeClr val="tx1"/>
                </a:solidFill>
              </a:rPr>
              <a:t>IC/BC exact by construction (4.8e-6 / 1.4e-5); required network output O(1) instead of ≈ −8,369</a:t>
            </a:r>
            <a:endParaRPr lang="en-US" sz="1200" dirty="0"/>
          </a:p>
        </p:txBody>
      </p:sp>
      <p:sp>
        <p:nvSpPr>
          <p:cNvPr id="15" name="Shape 12"/>
          <p:cNvSpPr/>
          <p:nvPr/>
        </p:nvSpPr>
        <p:spPr>
          <a:xfrm>
            <a:off x="6812280" y="3246120"/>
            <a:ext cx="2148840" cy="274320"/>
          </a:xfrm>
          <a:prstGeom prst="roundRect">
            <a:avLst>
              <a:gd name="adj" fmla="val 50000"/>
            </a:avLst>
          </a:prstGeom>
          <a:solidFill>
            <a:schemeClr val="accent2"/>
          </a:solidFill>
          <a:ln/>
        </p:spPr>
      </p:sp>
      <p:sp>
        <p:nvSpPr>
          <p:cNvPr id="16" name="Text 13"/>
          <p:cNvSpPr txBox="1"/>
          <p:nvPr/>
        </p:nvSpPr>
        <p:spPr>
          <a:xfrm>
            <a:off x="6812280" y="3246120"/>
            <a:ext cx="214884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17" name="Text 14"/>
          <p:cNvSpPr txBox="1"/>
          <p:nvPr/>
        </p:nvSpPr>
        <p:spPr>
          <a:xfrm>
            <a:off x="9098280" y="3200400"/>
            <a:ext cx="2560320" cy="365760"/>
          </a:xfrm>
          <a:prstGeom prst="rect">
            <a:avLst/>
          </a:prstGeom>
          <a:noFill/>
          <a:ln/>
        </p:spPr>
        <p:txBody>
          <a:bodyPr wrap="square" lIns="0" tIns="0" rIns="0" bIns="0" rtlCol="0" anchor="t"/>
          <a:lstStyle/>
          <a:p>
            <a:pPr indent="0" marL="0">
              <a:buNone/>
            </a:pPr>
            <a:r>
              <a:rPr lang="en-US" sz="1300" b="1" dirty="0">
                <a:solidFill>
                  <a:schemeClr val="tx2"/>
                </a:solidFill>
              </a:rPr>
              <a:t>LR decay · mini-batch 128 · budget</a:t>
            </a:r>
            <a:endParaRPr lang="en-US" sz="1300" dirty="0"/>
          </a:p>
        </p:txBody>
      </p:sp>
      <p:sp>
        <p:nvSpPr>
          <p:cNvPr id="18" name="Text 15"/>
          <p:cNvSpPr txBox="1"/>
          <p:nvPr/>
        </p:nvSpPr>
        <p:spPr>
          <a:xfrm>
            <a:off x="6812280" y="3584448"/>
            <a:ext cx="4846320" cy="530352"/>
          </a:xfrm>
          <a:prstGeom prst="rect">
            <a:avLst/>
          </a:prstGeom>
          <a:noFill/>
          <a:ln/>
        </p:spPr>
        <p:txBody>
          <a:bodyPr wrap="square" lIns="0" tIns="0" rIns="0" bIns="0" rtlCol="0" anchor="t"/>
          <a:lstStyle/>
          <a:p>
            <a:pPr indent="0" marL="0">
              <a:buNone/>
            </a:pPr>
            <a:r>
              <a:rPr lang="en-US" sz="1200" dirty="0">
                <a:solidFill>
                  <a:schemeClr val="tx1"/>
                </a:solidFill>
              </a:rPr>
              <a:t>Persistence 1.17 → 3.15 → 8.09 cycles</a:t>
            </a:r>
            <a:endParaRPr lang="en-US" sz="1200" dirty="0"/>
          </a:p>
        </p:txBody>
      </p:sp>
      <p:sp>
        <p:nvSpPr>
          <p:cNvPr id="19" name="Shape 16"/>
          <p:cNvSpPr/>
          <p:nvPr/>
        </p:nvSpPr>
        <p:spPr>
          <a:xfrm>
            <a:off x="6812280" y="4206240"/>
            <a:ext cx="2148840" cy="274320"/>
          </a:xfrm>
          <a:prstGeom prst="roundRect">
            <a:avLst>
              <a:gd name="adj" fmla="val 50000"/>
            </a:avLst>
          </a:prstGeom>
          <a:solidFill>
            <a:schemeClr val="accent2"/>
          </a:solidFill>
          <a:ln/>
        </p:spPr>
      </p:sp>
      <p:sp>
        <p:nvSpPr>
          <p:cNvPr id="20" name="Text 17"/>
          <p:cNvSpPr txBox="1"/>
          <p:nvPr/>
        </p:nvSpPr>
        <p:spPr>
          <a:xfrm>
            <a:off x="6812280" y="4206240"/>
            <a:ext cx="214884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21" name="Text 18"/>
          <p:cNvSpPr txBox="1"/>
          <p:nvPr/>
        </p:nvSpPr>
        <p:spPr>
          <a:xfrm>
            <a:off x="9098280" y="4160520"/>
            <a:ext cx="2560320" cy="365760"/>
          </a:xfrm>
          <a:prstGeom prst="rect">
            <a:avLst/>
          </a:prstGeom>
          <a:noFill/>
          <a:ln/>
        </p:spPr>
        <p:txBody>
          <a:bodyPr wrap="square" lIns="0" tIns="0" rIns="0" bIns="0" rtlCol="0" anchor="t"/>
          <a:lstStyle/>
          <a:p>
            <a:pPr indent="0" marL="0">
              <a:buNone/>
            </a:pPr>
            <a:r>
              <a:rPr lang="en-US" sz="1300" b="1" dirty="0">
                <a:solidFill>
                  <a:schemeClr val="tx2"/>
                </a:solidFill>
              </a:rPr>
              <a:t>Supervised capacity check</a:t>
            </a:r>
            <a:endParaRPr lang="en-US" sz="1300" dirty="0"/>
          </a:p>
        </p:txBody>
      </p:sp>
      <p:sp>
        <p:nvSpPr>
          <p:cNvPr id="22" name="Text 19"/>
          <p:cNvSpPr txBox="1"/>
          <p:nvPr/>
        </p:nvSpPr>
        <p:spPr>
          <a:xfrm>
            <a:off x="6812280" y="4544568"/>
            <a:ext cx="4846320" cy="530352"/>
          </a:xfrm>
          <a:prstGeom prst="rect">
            <a:avLst/>
          </a:prstGeom>
          <a:noFill/>
          <a:ln/>
        </p:spPr>
        <p:txBody>
          <a:bodyPr wrap="square" lIns="0" tIns="0" rIns="0" bIns="0" rtlCol="0" anchor="t"/>
          <a:lstStyle/>
          <a:p>
            <a:pPr indent="0" marL="0">
              <a:buNone/>
            </a:pPr>
            <a:r>
              <a:rPr lang="en-US" sz="1200" dirty="0">
                <a:solidFill>
                  <a:schemeClr val="tx1"/>
                </a:solidFill>
              </a:rPr>
              <a:t>Network recovers ω = 129.25 / 129.37 rad/s (exact 129.32): capacity is not the bottleneck</a:t>
            </a:r>
            <a:endParaRPr lang="en-US" sz="1200" dirty="0"/>
          </a:p>
        </p:txBody>
      </p:sp>
      <p:sp>
        <p:nvSpPr>
          <p:cNvPr id="23" name="Shape 20"/>
          <p:cNvSpPr/>
          <p:nvPr/>
        </p:nvSpPr>
        <p:spPr>
          <a:xfrm>
            <a:off x="6812280" y="5166360"/>
            <a:ext cx="2148840" cy="274320"/>
          </a:xfrm>
          <a:prstGeom prst="roundRect">
            <a:avLst>
              <a:gd name="adj" fmla="val 50000"/>
            </a:avLst>
          </a:prstGeom>
          <a:solidFill>
            <a:schemeClr val="accent4"/>
          </a:solidFill>
          <a:ln/>
        </p:spPr>
      </p:sp>
      <p:sp>
        <p:nvSpPr>
          <p:cNvPr id="24" name="Text 21"/>
          <p:cNvSpPr txBox="1"/>
          <p:nvPr/>
        </p:nvSpPr>
        <p:spPr>
          <a:xfrm>
            <a:off x="6812280" y="5166360"/>
            <a:ext cx="214884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25" name="Text 22"/>
          <p:cNvSpPr txBox="1"/>
          <p:nvPr/>
        </p:nvSpPr>
        <p:spPr>
          <a:xfrm>
            <a:off x="9098280" y="5120640"/>
            <a:ext cx="2560320" cy="365760"/>
          </a:xfrm>
          <a:prstGeom prst="rect">
            <a:avLst/>
          </a:prstGeom>
          <a:noFill/>
          <a:ln/>
        </p:spPr>
        <p:txBody>
          <a:bodyPr wrap="square" lIns="0" tIns="0" rIns="0" bIns="0" rtlCol="0" anchor="t"/>
          <a:lstStyle/>
          <a:p>
            <a:pPr indent="0" marL="0">
              <a:buNone/>
            </a:pPr>
            <a:r>
              <a:rPr lang="en-US" sz="1300" b="1" dirty="0">
                <a:solidFill>
                  <a:schemeClr val="tx2"/>
                </a:solidFill>
              </a:rPr>
              <a:t>RAD adaptive sampling</a:t>
            </a:r>
            <a:endParaRPr lang="en-US" sz="1300" dirty="0"/>
          </a:p>
        </p:txBody>
      </p:sp>
      <p:sp>
        <p:nvSpPr>
          <p:cNvPr id="26" name="Text 23"/>
          <p:cNvSpPr txBox="1"/>
          <p:nvPr/>
        </p:nvSpPr>
        <p:spPr>
          <a:xfrm>
            <a:off x="6812280" y="5504688"/>
            <a:ext cx="4846320" cy="530352"/>
          </a:xfrm>
          <a:prstGeom prst="rect">
            <a:avLst/>
          </a:prstGeom>
          <a:noFill/>
          <a:ln/>
        </p:spPr>
        <p:txBody>
          <a:bodyPr wrap="square" lIns="0" tIns="0" rIns="0" bIns="0" rtlCol="0" anchor="t"/>
          <a:lstStyle/>
          <a:p>
            <a:pPr indent="0" marL="0">
              <a:buNone/>
            </a:pPr>
            <a:r>
              <a:rPr lang="en-US" sz="1200" dirty="0">
                <a:solidFill>
                  <a:schemeClr val="tx1"/>
                </a:solidFill>
              </a:rPr>
              <a:t>Did not solve this benchmark failure under the tested budget</a:t>
            </a:r>
            <a:endParaRPr lang="en-US" sz="12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B2-E01: one change at a time, matched compute</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results_batch2/tables/B2-E01_RESULTS.csv (seed 1234, 640,000 PDE evaluations per arm); reports/B2-E01_REPORT.md · commit cdd87b5</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2377440"/>
                <a:gridCol w="1005840"/>
                <a:gridCol w="1051560"/>
                <a:gridCol w="1234440"/>
                <a:gridCol w="1097280"/>
              </a:tblGrid>
              <a:tr h="457200">
                <a:tc>
                  <a:txBody>
                    <a:bodyPr/>
                    <a:lstStyle/>
                    <a:p>
                      <a:pPr algn="l" indent="0" marL="0">
                        <a:buNone/>
                      </a:pPr>
                      <a:r>
                        <a:rPr lang="en-US" sz="1300" b="1" dirty="0">
                          <a:solidFill>
                            <a:schemeClr val="bg1"/>
                          </a:solidFill>
                        </a:rPr>
                        <a:t>Metric</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B1</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B1 FP64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Mixed v = u_xx</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Modal q(t)</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accent3"/>
                    </a:solidFill>
                  </a:tcPr>
                </a:tc>
              </a:tr>
              <a:tr h="457200">
                <a:tc>
                  <a:txBody>
                    <a:bodyPr/>
                    <a:lstStyle/>
                    <a:p>
                      <a:pPr indent="0" marL="0">
                        <a:buNone/>
                      </a:pPr>
                      <a:r>
                        <a:rPr lang="en-US" sz="1300" b="1" dirty="0">
                          <a:solidFill>
                            <a:schemeClr val="tx2"/>
                          </a:solidFill>
                        </a:rPr>
                        <a:t>Persistence [cycles]</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3.15</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3.15</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1.67</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7.62</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L2 (exact)</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0.526</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0.526</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0.675</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0.270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Frequency error</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−0.96 %</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−0.96 %</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−2.0 %</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−0.04 %</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Decay rate [s⁻¹] (exact 3.54)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8.98</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8.98</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13.24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5.40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u PDE residual</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0.110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0.110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2.57</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0.074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Training time [s]</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822</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1,404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374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190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indent="0" marL="0">
                        <a:buNone/>
                      </a:pPr>
                      <a:r>
                        <a:rPr lang="en-US" sz="1300" b="1" dirty="0">
                          <a:solidFill>
                            <a:schemeClr val="tx2"/>
                          </a:solidFill>
                        </a:rPr>
                        <a:t>Peak RAM [MB]</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934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1,178</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dirty="0">
                          <a:solidFill>
                            <a:schemeClr val="tx1"/>
                          </a:solidFill>
                        </a:rPr>
                        <a:t>730</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3"/>
                          </a:solidFill>
                        </a:rPr>
                        <a:t>704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bl>
          </a:graphicData>
        </a:graphic>
      </p:graphicFrame>
      <p:sp>
        <p:nvSpPr>
          <p:cNvPr id="5" name="Text 2"/>
          <p:cNvSpPr txBox="1"/>
          <p:nvPr/>
        </p:nvSpPr>
        <p:spPr>
          <a:xfrm>
            <a:off x="548640" y="5029200"/>
            <a:ext cx="6766560" cy="320040"/>
          </a:xfrm>
          <a:prstGeom prst="rect">
            <a:avLst/>
          </a:prstGeom>
          <a:noFill/>
          <a:ln/>
        </p:spPr>
        <p:txBody>
          <a:bodyPr wrap="square" lIns="0" tIns="0" rIns="0" bIns="0" rtlCol="0" anchor="ctr"/>
          <a:lstStyle/>
          <a:p>
            <a:pPr indent="0" marL="0">
              <a:buNone/>
            </a:pPr>
            <a:r>
              <a:rPr lang="en-US" sz="1200" i="1" dirty="0">
                <a:solidFill>
                  <a:srgbClr val="5E6B7A"/>
                </a:solidFill>
              </a:rPr>
              <a:t>Seed 1234 · every arm 640,000 PDE evaluations · 4 arms run concurrently on 4 vCPU</a:t>
            </a:r>
            <a:endParaRPr lang="en-US" sz="1200" dirty="0"/>
          </a:p>
        </p:txBody>
      </p:sp>
      <p:sp>
        <p:nvSpPr>
          <p:cNvPr id="6" name="card"/>
          <p:cNvSpPr/>
          <p:nvPr/>
        </p:nvSpPr>
        <p:spPr>
          <a:xfrm>
            <a:off x="7635240" y="1280160"/>
            <a:ext cx="4023360" cy="1069848"/>
          </a:xfrm>
          <a:prstGeom prst="roundRect">
            <a:avLst>
              <a:gd name="adj" fmla="val 6838"/>
            </a:avLst>
          </a:prstGeom>
          <a:solidFill>
            <a:schemeClr val="bg2"/>
          </a:solidFill>
          <a:ln/>
        </p:spPr>
      </p:sp>
      <p:sp>
        <p:nvSpPr>
          <p:cNvPr id="7" name="Shape 4"/>
          <p:cNvSpPr/>
          <p:nvPr/>
        </p:nvSpPr>
        <p:spPr>
          <a:xfrm>
            <a:off x="7818120" y="1417320"/>
            <a:ext cx="2377440" cy="274320"/>
          </a:xfrm>
          <a:prstGeom prst="roundRect">
            <a:avLst>
              <a:gd name="adj" fmla="val 50000"/>
            </a:avLst>
          </a:prstGeom>
          <a:solidFill>
            <a:schemeClr val="accent4"/>
          </a:solidFill>
          <a:ln/>
        </p:spPr>
      </p:sp>
      <p:sp>
        <p:nvSpPr>
          <p:cNvPr id="8" name="Text 5"/>
          <p:cNvSpPr txBox="1"/>
          <p:nvPr/>
        </p:nvSpPr>
        <p:spPr>
          <a:xfrm>
            <a:off x="7818120" y="1417320"/>
            <a:ext cx="237744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9" name="Text 6"/>
          <p:cNvSpPr txBox="1"/>
          <p:nvPr/>
        </p:nvSpPr>
        <p:spPr>
          <a:xfrm>
            <a:off x="10332720" y="1371600"/>
            <a:ext cx="2286000" cy="365760"/>
          </a:xfrm>
          <a:prstGeom prst="rect">
            <a:avLst/>
          </a:prstGeom>
          <a:noFill/>
          <a:ln/>
        </p:spPr>
        <p:txBody>
          <a:bodyPr wrap="square" lIns="0" tIns="0" rIns="0" bIns="0" rtlCol="0" anchor="ctr"/>
          <a:lstStyle/>
          <a:p>
            <a:pPr indent="0" marL="0">
              <a:buNone/>
            </a:pPr>
            <a:r>
              <a:rPr lang="en-US" sz="1300" b="1" dirty="0">
                <a:solidFill>
                  <a:schemeClr val="tx2"/>
                </a:solidFill>
              </a:rPr>
              <a:t>FP64 precision</a:t>
            </a:r>
            <a:endParaRPr lang="en-US" sz="1300" dirty="0"/>
          </a:p>
        </p:txBody>
      </p:sp>
      <p:sp>
        <p:nvSpPr>
          <p:cNvPr id="10" name="Text 7"/>
          <p:cNvSpPr txBox="1"/>
          <p:nvPr/>
        </p:nvSpPr>
        <p:spPr>
          <a:xfrm>
            <a:off x="7818120" y="1755648"/>
            <a:ext cx="3703320" cy="548640"/>
          </a:xfrm>
          <a:prstGeom prst="rect">
            <a:avLst/>
          </a:prstGeom>
          <a:noFill/>
          <a:ln/>
        </p:spPr>
        <p:txBody>
          <a:bodyPr wrap="square" lIns="0" tIns="0" rIns="0" bIns="0" rtlCol="0" anchor="t"/>
          <a:lstStyle/>
          <a:p>
            <a:pPr indent="0" marL="0">
              <a:buNone/>
            </a:pPr>
            <a:r>
              <a:rPr lang="en-US" sz="1200" dirty="0">
                <a:solidFill>
                  <a:schemeClr val="tx1"/>
                </a:solidFill>
              </a:rPr>
              <a:t>No accuracy change; 1.71× wall-clock, +26 % RAM</a:t>
            </a:r>
            <a:endParaRPr lang="en-US" sz="1200" dirty="0"/>
          </a:p>
        </p:txBody>
      </p:sp>
      <p:sp>
        <p:nvSpPr>
          <p:cNvPr id="11" name="card"/>
          <p:cNvSpPr/>
          <p:nvPr/>
        </p:nvSpPr>
        <p:spPr>
          <a:xfrm>
            <a:off x="7635240" y="2487168"/>
            <a:ext cx="4023360" cy="1069848"/>
          </a:xfrm>
          <a:prstGeom prst="roundRect">
            <a:avLst>
              <a:gd name="adj" fmla="val 6838"/>
            </a:avLst>
          </a:prstGeom>
          <a:solidFill>
            <a:schemeClr val="bg2"/>
          </a:solidFill>
          <a:ln/>
        </p:spPr>
      </p:sp>
      <p:sp>
        <p:nvSpPr>
          <p:cNvPr id="12" name="Shape 9"/>
          <p:cNvSpPr/>
          <p:nvPr/>
        </p:nvSpPr>
        <p:spPr>
          <a:xfrm>
            <a:off x="7818120" y="2624328"/>
            <a:ext cx="2377440" cy="274320"/>
          </a:xfrm>
          <a:prstGeom prst="roundRect">
            <a:avLst>
              <a:gd name="adj" fmla="val 50000"/>
            </a:avLst>
          </a:prstGeom>
          <a:solidFill>
            <a:schemeClr val="accent4"/>
          </a:solidFill>
          <a:ln/>
        </p:spPr>
      </p:sp>
      <p:sp>
        <p:nvSpPr>
          <p:cNvPr id="13" name="Text 10"/>
          <p:cNvSpPr txBox="1"/>
          <p:nvPr/>
        </p:nvSpPr>
        <p:spPr>
          <a:xfrm>
            <a:off x="7818120" y="2624328"/>
            <a:ext cx="237744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14" name="Text 11"/>
          <p:cNvSpPr txBox="1"/>
          <p:nvPr/>
        </p:nvSpPr>
        <p:spPr>
          <a:xfrm>
            <a:off x="10332720" y="2578608"/>
            <a:ext cx="2286000" cy="365760"/>
          </a:xfrm>
          <a:prstGeom prst="rect">
            <a:avLst/>
          </a:prstGeom>
          <a:noFill/>
          <a:ln/>
        </p:spPr>
        <p:txBody>
          <a:bodyPr wrap="square" lIns="0" tIns="0" rIns="0" bIns="0" rtlCol="0" anchor="ctr"/>
          <a:lstStyle/>
          <a:p>
            <a:pPr indent="0" marL="0">
              <a:buNone/>
            </a:pPr>
            <a:r>
              <a:rPr lang="en-US" sz="1300" b="1" dirty="0">
                <a:solidFill>
                  <a:schemeClr val="tx2"/>
                </a:solidFill>
              </a:rPr>
              <a:t>Mixed formulation</a:t>
            </a:r>
            <a:endParaRPr lang="en-US" sz="1300" dirty="0"/>
          </a:p>
        </p:txBody>
      </p:sp>
      <p:sp>
        <p:nvSpPr>
          <p:cNvPr id="15" name="Text 12"/>
          <p:cNvSpPr txBox="1"/>
          <p:nvPr/>
        </p:nvSpPr>
        <p:spPr>
          <a:xfrm>
            <a:off x="7818120" y="2962656"/>
            <a:ext cx="3703320" cy="548640"/>
          </a:xfrm>
          <a:prstGeom prst="rect">
            <a:avLst/>
          </a:prstGeom>
          <a:noFill/>
          <a:ln/>
        </p:spPr>
        <p:txBody>
          <a:bodyPr wrap="square" lIns="0" tIns="0" rIns="0" bIns="0" rtlCol="0" anchor="t"/>
          <a:lstStyle/>
          <a:p>
            <a:pPr indent="0" marL="0">
              <a:buNone/>
            </a:pPr>
            <a:r>
              <a:rPr lang="en-US" sz="1200" dirty="0">
                <a:solidFill>
                  <a:schemeClr val="tx1"/>
                </a:solidFill>
              </a:rPr>
              <a:t>0.46× wall-clock, but worse physics: u-residual 2.57 vs 0.110</a:t>
            </a:r>
            <a:endParaRPr lang="en-US" sz="1200" dirty="0"/>
          </a:p>
        </p:txBody>
      </p:sp>
      <p:sp>
        <p:nvSpPr>
          <p:cNvPr id="16" name="card"/>
          <p:cNvSpPr/>
          <p:nvPr/>
        </p:nvSpPr>
        <p:spPr>
          <a:xfrm>
            <a:off x="7635240" y="3694176"/>
            <a:ext cx="4023360" cy="1069848"/>
          </a:xfrm>
          <a:prstGeom prst="roundRect">
            <a:avLst>
              <a:gd name="adj" fmla="val 6838"/>
            </a:avLst>
          </a:prstGeom>
          <a:solidFill>
            <a:schemeClr val="bg2"/>
          </a:solidFill>
          <a:ln/>
        </p:spPr>
      </p:sp>
      <p:sp>
        <p:nvSpPr>
          <p:cNvPr id="17" name="Shape 14"/>
          <p:cNvSpPr/>
          <p:nvPr/>
        </p:nvSpPr>
        <p:spPr>
          <a:xfrm>
            <a:off x="7818120" y="3831336"/>
            <a:ext cx="1325880" cy="274320"/>
          </a:xfrm>
          <a:prstGeom prst="roundRect">
            <a:avLst>
              <a:gd name="adj" fmla="val 50000"/>
            </a:avLst>
          </a:prstGeom>
          <a:solidFill>
            <a:schemeClr val="accent3"/>
          </a:solidFill>
          <a:ln/>
        </p:spPr>
      </p:sp>
      <p:sp>
        <p:nvSpPr>
          <p:cNvPr id="18" name="Text 15"/>
          <p:cNvSpPr txBox="1"/>
          <p:nvPr/>
        </p:nvSpPr>
        <p:spPr>
          <a:xfrm>
            <a:off x="7818120" y="3831336"/>
            <a:ext cx="1325880" cy="274320"/>
          </a:xfrm>
          <a:prstGeom prst="rect">
            <a:avLst/>
          </a:prstGeom>
          <a:noFill/>
          <a:ln/>
        </p:spPr>
        <p:txBody>
          <a:bodyPr wrap="square" lIns="0" tIns="0" rIns="0" bIns="0" rtlCol="0" anchor="ctr"/>
          <a:lstStyle/>
          <a:p>
            <a:pPr algn="ctr" indent="0" marL="0">
              <a:buNone/>
            </a:pPr>
            <a:r>
              <a:rPr lang="en-US" sz="1000" b="1" dirty="0">
                <a:solidFill>
                  <a:schemeClr val="bg1"/>
                </a:solidFill>
              </a:rPr>
              <a:t>DIAGNOSTIC</a:t>
            </a:r>
            <a:endParaRPr lang="en-US" sz="1000" dirty="0"/>
          </a:p>
        </p:txBody>
      </p:sp>
      <p:sp>
        <p:nvSpPr>
          <p:cNvPr id="19" name="Text 16"/>
          <p:cNvSpPr txBox="1"/>
          <p:nvPr/>
        </p:nvSpPr>
        <p:spPr>
          <a:xfrm>
            <a:off x="9281160" y="3785616"/>
            <a:ext cx="2286000" cy="365760"/>
          </a:xfrm>
          <a:prstGeom prst="rect">
            <a:avLst/>
          </a:prstGeom>
          <a:noFill/>
          <a:ln/>
        </p:spPr>
        <p:txBody>
          <a:bodyPr wrap="square" lIns="0" tIns="0" rIns="0" bIns="0" rtlCol="0" anchor="ctr"/>
          <a:lstStyle/>
          <a:p>
            <a:pPr indent="0" marL="0">
              <a:buNone/>
            </a:pPr>
            <a:r>
              <a:rPr lang="en-US" sz="1300" b="1" dirty="0">
                <a:solidFill>
                  <a:schemeClr val="tx2"/>
                </a:solidFill>
              </a:rPr>
              <a:t>Modal reduction</a:t>
            </a:r>
            <a:endParaRPr lang="en-US" sz="1300" dirty="0"/>
          </a:p>
        </p:txBody>
      </p:sp>
      <p:sp>
        <p:nvSpPr>
          <p:cNvPr id="20" name="Text 17"/>
          <p:cNvSpPr txBox="1"/>
          <p:nvPr/>
        </p:nvSpPr>
        <p:spPr>
          <a:xfrm>
            <a:off x="7818120" y="4169664"/>
            <a:ext cx="3703320" cy="548640"/>
          </a:xfrm>
          <a:prstGeom prst="rect">
            <a:avLst/>
          </a:prstGeom>
          <a:noFill/>
          <a:ln/>
        </p:spPr>
        <p:txBody>
          <a:bodyPr wrap="square" lIns="0" tIns="0" rIns="0" bIns="0" rtlCol="0" anchor="t"/>
          <a:lstStyle/>
          <a:p>
            <a:pPr indent="0" marL="0">
              <a:buNone/>
            </a:pPr>
            <a:r>
              <a:rPr lang="en-US" sz="1200" dirty="0">
                <a:solidFill>
                  <a:schemeClr val="tx1"/>
                </a:solidFill>
              </a:rPr>
              <a:t>7.62 cycles, L2 0.270 — exact spatial mode supplied</a:t>
            </a:r>
            <a:endParaRPr lang="en-US" sz="1200" dirty="0"/>
          </a:p>
        </p:txBody>
      </p:sp>
      <p:sp>
        <p:nvSpPr>
          <p:cNvPr id="21" name="card"/>
          <p:cNvSpPr/>
          <p:nvPr/>
        </p:nvSpPr>
        <p:spPr>
          <a:xfrm>
            <a:off x="7635240" y="4937760"/>
            <a:ext cx="4023360" cy="1188720"/>
          </a:xfrm>
          <a:prstGeom prst="roundRect">
            <a:avLst>
              <a:gd name="adj" fmla="val 6154"/>
            </a:avLst>
          </a:prstGeom>
          <a:solidFill>
            <a:schemeClr val="bg1"/>
          </a:solidFill>
          <a:ln/>
        </p:spPr>
      </p:sp>
      <p:sp>
        <p:nvSpPr>
          <p:cNvPr id="22" name="Shape 19"/>
          <p:cNvSpPr/>
          <p:nvPr/>
        </p:nvSpPr>
        <p:spPr>
          <a:xfrm>
            <a:off x="7635240" y="4937760"/>
            <a:ext cx="4023360" cy="1188720"/>
          </a:xfrm>
          <a:prstGeom prst="roundRect">
            <a:avLst>
              <a:gd name="adj" fmla="val 6154"/>
            </a:avLst>
          </a:prstGeom>
          <a:solidFill>
            <a:schemeClr val="bg1"/>
          </a:solidFill>
          <a:ln w="15875">
            <a:solidFill>
              <a:schemeClr val="accent3"/>
            </a:solidFill>
            <a:prstDash val="solid"/>
          </a:ln>
        </p:spPr>
      </p:sp>
      <p:sp>
        <p:nvSpPr>
          <p:cNvPr id="23" name="Text 20"/>
          <p:cNvSpPr txBox="1"/>
          <p:nvPr/>
        </p:nvSpPr>
        <p:spPr>
          <a:xfrm>
            <a:off x="7818120" y="4983480"/>
            <a:ext cx="3657600" cy="1097280"/>
          </a:xfrm>
          <a:prstGeom prst="rect">
            <a:avLst/>
          </a:prstGeom>
          <a:noFill/>
          <a:ln/>
        </p:spPr>
        <p:txBody>
          <a:bodyPr wrap="square" lIns="0" tIns="0" rIns="0" bIns="0" rtlCol="0" anchor="ctr"/>
          <a:lstStyle/>
          <a:p>
            <a:pPr indent="0" marL="0">
              <a:buNone/>
            </a:pPr>
            <a:r>
              <a:rPr lang="en-US" sz="1500" b="1" i="1" dirty="0">
                <a:solidFill>
                  <a:schemeClr val="tx2"/>
                </a:solidFill>
              </a:rPr>
              <a:t>Removing the spatial learning burden substantially improves temporal learning.</a:t>
            </a:r>
            <a:endParaRPr lang="en-US" sz="15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Three-seed replication: what is robust</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results_batch2/tables/B2-E01S_SEED_RESULTS.csv, B2-E01S_SEED_SNAPSHOTS.csv; reports/B2-E01_SEED_REPLICATION.md · commit cdd87b5</a:t>
            </a:r>
            <a:endParaRPr lang="en-US" sz="1000" dirty="0"/>
          </a:p>
        </p:txBody>
      </p:sp>
      <p:graphicFrame>
        <p:nvGraphicFramePr>
          <p:cNvPr id="4" name="Chart 0" descr=""/>
          <p:cNvGraphicFramePr/>
          <p:nvPr/>
        </p:nvGraphicFramePr>
        <p:xfrm>
          <a:off x="457200" y="1234440"/>
          <a:ext cx="6309360" cy="4937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86600" y="1316736"/>
            <a:ext cx="2331720" cy="274320"/>
          </a:xfrm>
          <a:prstGeom prst="roundRect">
            <a:avLst>
              <a:gd name="adj" fmla="val 50000"/>
            </a:avLst>
          </a:prstGeom>
          <a:solidFill>
            <a:schemeClr val="accent4"/>
          </a:solidFill>
          <a:ln/>
        </p:spPr>
      </p:sp>
      <p:sp>
        <p:nvSpPr>
          <p:cNvPr id="6" name="Text 3"/>
          <p:cNvSpPr txBox="1"/>
          <p:nvPr/>
        </p:nvSpPr>
        <p:spPr>
          <a:xfrm>
            <a:off x="7086600" y="1316736"/>
            <a:ext cx="233172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7" name="Text 4"/>
          <p:cNvSpPr txBox="1"/>
          <p:nvPr/>
        </p:nvSpPr>
        <p:spPr>
          <a:xfrm>
            <a:off x="7086600" y="1627632"/>
            <a:ext cx="4572000" cy="292608"/>
          </a:xfrm>
          <a:prstGeom prst="rect">
            <a:avLst/>
          </a:prstGeom>
          <a:noFill/>
          <a:ln/>
        </p:spPr>
        <p:txBody>
          <a:bodyPr wrap="square" lIns="0" tIns="0" rIns="0" bIns="0" rtlCol="0" anchor="ctr"/>
          <a:lstStyle/>
          <a:p>
            <a:pPr indent="0" marL="0">
              <a:buNone/>
            </a:pPr>
            <a:r>
              <a:rPr lang="en-US" sz="1300" b="1" dirty="0">
                <a:solidFill>
                  <a:schemeClr val="tx2"/>
                </a:solidFill>
              </a:rPr>
              <a:t>FP64 ≡ FP32 in 3/3 seeds</a:t>
            </a:r>
            <a:endParaRPr lang="en-US" sz="1300" dirty="0"/>
          </a:p>
        </p:txBody>
      </p:sp>
      <p:sp>
        <p:nvSpPr>
          <p:cNvPr id="8" name="Text 5"/>
          <p:cNvSpPr txBox="1"/>
          <p:nvPr/>
        </p:nvSpPr>
        <p:spPr>
          <a:xfrm>
            <a:off x="7086600" y="1901952"/>
            <a:ext cx="4572000" cy="310896"/>
          </a:xfrm>
          <a:prstGeom prst="rect">
            <a:avLst/>
          </a:prstGeom>
          <a:noFill/>
          <a:ln/>
        </p:spPr>
        <p:txBody>
          <a:bodyPr wrap="square" lIns="0" tIns="0" rIns="0" bIns="0" rtlCol="0" anchor="ctr"/>
          <a:lstStyle/>
          <a:p>
            <a:pPr indent="0" marL="0">
              <a:buNone/>
            </a:pPr>
            <a:r>
              <a:rPr lang="en-US" sz="1200" dirty="0">
                <a:solidFill>
                  <a:schemeClr val="tx1"/>
                </a:solidFill>
              </a:rPr>
              <a:t>max relative L2 difference 5.4e-6; 1.62–1.71× wall-clock</a:t>
            </a:r>
            <a:endParaRPr lang="en-US" sz="1200" dirty="0"/>
          </a:p>
        </p:txBody>
      </p:sp>
      <p:sp>
        <p:nvSpPr>
          <p:cNvPr id="9" name="Shape 6"/>
          <p:cNvSpPr/>
          <p:nvPr/>
        </p:nvSpPr>
        <p:spPr>
          <a:xfrm>
            <a:off x="7086600" y="2295144"/>
            <a:ext cx="2331720" cy="274320"/>
          </a:xfrm>
          <a:prstGeom prst="roundRect">
            <a:avLst>
              <a:gd name="adj" fmla="val 50000"/>
            </a:avLst>
          </a:prstGeom>
          <a:solidFill>
            <a:schemeClr val="accent4"/>
          </a:solidFill>
          <a:ln/>
        </p:spPr>
      </p:sp>
      <p:sp>
        <p:nvSpPr>
          <p:cNvPr id="10" name="Text 7"/>
          <p:cNvSpPr txBox="1"/>
          <p:nvPr/>
        </p:nvSpPr>
        <p:spPr>
          <a:xfrm>
            <a:off x="7086600" y="2295144"/>
            <a:ext cx="2331720" cy="274320"/>
          </a:xfrm>
          <a:prstGeom prst="rect">
            <a:avLst/>
          </a:prstGeom>
          <a:noFill/>
          <a:ln/>
        </p:spPr>
        <p:txBody>
          <a:bodyPr wrap="square" lIns="0" tIns="0" rIns="0" bIns="0" rtlCol="0" anchor="ctr"/>
          <a:lstStyle/>
          <a:p>
            <a:pPr algn="ctr" indent="0" marL="0">
              <a:buNone/>
            </a:pPr>
            <a:r>
              <a:rPr lang="en-US" sz="1000" b="1" dirty="0">
                <a:solidFill>
                  <a:schemeClr val="bg1"/>
                </a:solidFill>
              </a:rPr>
              <a:t>FAILED ON THIS BENCHMARK</a:t>
            </a:r>
            <a:endParaRPr lang="en-US" sz="1000" dirty="0"/>
          </a:p>
        </p:txBody>
      </p:sp>
      <p:sp>
        <p:nvSpPr>
          <p:cNvPr id="11" name="Text 8"/>
          <p:cNvSpPr txBox="1"/>
          <p:nvPr/>
        </p:nvSpPr>
        <p:spPr>
          <a:xfrm>
            <a:off x="7086600" y="2606040"/>
            <a:ext cx="4572000" cy="292608"/>
          </a:xfrm>
          <a:prstGeom prst="rect">
            <a:avLst/>
          </a:prstGeom>
          <a:noFill/>
          <a:ln/>
        </p:spPr>
        <p:txBody>
          <a:bodyPr wrap="square" lIns="0" tIns="0" rIns="0" bIns="0" rtlCol="0" anchor="ctr"/>
          <a:lstStyle/>
          <a:p>
            <a:pPr indent="0" marL="0">
              <a:buNone/>
            </a:pPr>
            <a:r>
              <a:rPr lang="en-US" sz="1300" b="1" dirty="0">
                <a:solidFill>
                  <a:schemeClr val="tx2"/>
                </a:solidFill>
              </a:rPr>
              <a:t>Mixed: cheaper, never more accurate</a:t>
            </a:r>
            <a:endParaRPr lang="en-US" sz="1300" dirty="0"/>
          </a:p>
        </p:txBody>
      </p:sp>
      <p:sp>
        <p:nvSpPr>
          <p:cNvPr id="12" name="Text 9"/>
          <p:cNvSpPr txBox="1"/>
          <p:nvPr/>
        </p:nvSpPr>
        <p:spPr>
          <a:xfrm>
            <a:off x="7086600" y="2880360"/>
            <a:ext cx="4572000" cy="310896"/>
          </a:xfrm>
          <a:prstGeom prst="rect">
            <a:avLst/>
          </a:prstGeom>
          <a:noFill/>
          <a:ln/>
        </p:spPr>
        <p:txBody>
          <a:bodyPr wrap="square" lIns="0" tIns="0" rIns="0" bIns="0" rtlCol="0" anchor="ctr"/>
          <a:lstStyle/>
          <a:p>
            <a:pPr indent="0" marL="0">
              <a:buNone/>
            </a:pPr>
            <a:r>
              <a:rPr lang="en-US" sz="1200" dirty="0">
                <a:solidFill>
                  <a:schemeClr val="tx1"/>
                </a:solidFill>
              </a:rPr>
              <a:t>0.46–0.47× wall-clock; L2 0.623–0.675 vs B1 0.402–0.549</a:t>
            </a:r>
            <a:endParaRPr lang="en-US" sz="1200" dirty="0"/>
          </a:p>
        </p:txBody>
      </p:sp>
      <p:sp>
        <p:nvSpPr>
          <p:cNvPr id="13" name="Shape 10"/>
          <p:cNvSpPr/>
          <p:nvPr/>
        </p:nvSpPr>
        <p:spPr>
          <a:xfrm>
            <a:off x="7086600" y="3273552"/>
            <a:ext cx="1371600" cy="274320"/>
          </a:xfrm>
          <a:prstGeom prst="roundRect">
            <a:avLst>
              <a:gd name="adj" fmla="val 50000"/>
            </a:avLst>
          </a:prstGeom>
          <a:solidFill>
            <a:schemeClr val="accent3"/>
          </a:solidFill>
          <a:ln/>
        </p:spPr>
      </p:sp>
      <p:sp>
        <p:nvSpPr>
          <p:cNvPr id="14" name="Text 11"/>
          <p:cNvSpPr txBox="1"/>
          <p:nvPr/>
        </p:nvSpPr>
        <p:spPr>
          <a:xfrm>
            <a:off x="7086600" y="3273552"/>
            <a:ext cx="1371600" cy="274320"/>
          </a:xfrm>
          <a:prstGeom prst="rect">
            <a:avLst/>
          </a:prstGeom>
          <a:noFill/>
          <a:ln/>
        </p:spPr>
        <p:txBody>
          <a:bodyPr wrap="square" lIns="0" tIns="0" rIns="0" bIns="0" rtlCol="0" anchor="ctr"/>
          <a:lstStyle/>
          <a:p>
            <a:pPr algn="ctr" indent="0" marL="0">
              <a:buNone/>
            </a:pPr>
            <a:r>
              <a:rPr lang="en-US" sz="1000" b="1" dirty="0">
                <a:solidFill>
                  <a:schemeClr val="bg1"/>
                </a:solidFill>
              </a:rPr>
              <a:t>DIAGNOSTIC</a:t>
            </a:r>
            <a:endParaRPr lang="en-US" sz="1000" dirty="0"/>
          </a:p>
        </p:txBody>
      </p:sp>
      <p:sp>
        <p:nvSpPr>
          <p:cNvPr id="15" name="Text 12"/>
          <p:cNvSpPr txBox="1"/>
          <p:nvPr/>
        </p:nvSpPr>
        <p:spPr>
          <a:xfrm>
            <a:off x="7086600" y="3584448"/>
            <a:ext cx="4572000" cy="292608"/>
          </a:xfrm>
          <a:prstGeom prst="rect">
            <a:avLst/>
          </a:prstGeom>
          <a:noFill/>
          <a:ln/>
        </p:spPr>
        <p:txBody>
          <a:bodyPr wrap="square" lIns="0" tIns="0" rIns="0" bIns="0" rtlCol="0" anchor="ctr"/>
          <a:lstStyle/>
          <a:p>
            <a:pPr indent="0" marL="0">
              <a:buNone/>
            </a:pPr>
            <a:r>
              <a:rPr lang="en-US" sz="1300" b="1" dirty="0">
                <a:solidFill>
                  <a:schemeClr val="tx2"/>
                </a:solidFill>
              </a:rPr>
              <a:t>Modal: longer persistence in 3/3 seeds</a:t>
            </a:r>
            <a:endParaRPr lang="en-US" sz="1300" dirty="0"/>
          </a:p>
        </p:txBody>
      </p:sp>
      <p:sp>
        <p:nvSpPr>
          <p:cNvPr id="16" name="Text 13"/>
          <p:cNvSpPr txBox="1"/>
          <p:nvPr/>
        </p:nvSpPr>
        <p:spPr>
          <a:xfrm>
            <a:off x="7086600" y="3858768"/>
            <a:ext cx="4572000" cy="310896"/>
          </a:xfrm>
          <a:prstGeom prst="rect">
            <a:avLst/>
          </a:prstGeom>
          <a:noFill/>
          <a:ln/>
        </p:spPr>
        <p:txBody>
          <a:bodyPr wrap="square" lIns="0" tIns="0" rIns="0" bIns="0" rtlCol="0" anchor="ctr"/>
          <a:lstStyle/>
          <a:p>
            <a:pPr indent="0" marL="0">
              <a:buNone/>
            </a:pPr>
            <a:r>
              <a:rPr lang="en-US" sz="1200" dirty="0">
                <a:solidFill>
                  <a:schemeClr val="tx1"/>
                </a:solidFill>
              </a:rPr>
              <a:t>×2.42, ×2.13, ×1.19 vs B1; collapses at 0.296–0.370 s, not 1 s</a:t>
            </a:r>
            <a:endParaRPr lang="en-US" sz="1200" dirty="0"/>
          </a:p>
        </p:txBody>
      </p:sp>
      <p:sp>
        <p:nvSpPr>
          <p:cNvPr id="17" name="Shape 14"/>
          <p:cNvSpPr/>
          <p:nvPr/>
        </p:nvSpPr>
        <p:spPr>
          <a:xfrm>
            <a:off x="7086600" y="4251960"/>
            <a:ext cx="1371600" cy="274320"/>
          </a:xfrm>
          <a:prstGeom prst="roundRect">
            <a:avLst>
              <a:gd name="adj" fmla="val 50000"/>
            </a:avLst>
          </a:prstGeom>
          <a:solidFill>
            <a:schemeClr val="accent3"/>
          </a:solidFill>
          <a:ln/>
        </p:spPr>
      </p:sp>
      <p:sp>
        <p:nvSpPr>
          <p:cNvPr id="18" name="Text 15"/>
          <p:cNvSpPr txBox="1"/>
          <p:nvPr/>
        </p:nvSpPr>
        <p:spPr>
          <a:xfrm>
            <a:off x="7086600" y="4251960"/>
            <a:ext cx="1371600" cy="274320"/>
          </a:xfrm>
          <a:prstGeom prst="rect">
            <a:avLst/>
          </a:prstGeom>
          <a:noFill/>
          <a:ln/>
        </p:spPr>
        <p:txBody>
          <a:bodyPr wrap="square" lIns="0" tIns="0" rIns="0" bIns="0" rtlCol="0" anchor="ctr"/>
          <a:lstStyle/>
          <a:p>
            <a:pPr algn="ctr" indent="0" marL="0">
              <a:buNone/>
            </a:pPr>
            <a:r>
              <a:rPr lang="en-US" sz="1000" b="1" dirty="0">
                <a:solidFill>
                  <a:schemeClr val="bg1"/>
                </a:solidFill>
              </a:rPr>
              <a:t>DIAGNOSTIC</a:t>
            </a:r>
            <a:endParaRPr lang="en-US" sz="1000" dirty="0"/>
          </a:p>
        </p:txBody>
      </p:sp>
      <p:sp>
        <p:nvSpPr>
          <p:cNvPr id="19" name="Text 16"/>
          <p:cNvSpPr txBox="1"/>
          <p:nvPr/>
        </p:nvSpPr>
        <p:spPr>
          <a:xfrm>
            <a:off x="7086600" y="4562856"/>
            <a:ext cx="4572000" cy="292608"/>
          </a:xfrm>
          <a:prstGeom prst="rect">
            <a:avLst/>
          </a:prstGeom>
          <a:noFill/>
          <a:ln/>
        </p:spPr>
        <p:txBody>
          <a:bodyPr wrap="square" lIns="0" tIns="0" rIns="0" bIns="0" rtlCol="0" anchor="ctr"/>
          <a:lstStyle/>
          <a:p>
            <a:pPr indent="0" marL="0">
              <a:buNone/>
            </a:pPr>
            <a:r>
              <a:rPr lang="en-US" sz="1300" b="1" dirty="0">
                <a:solidFill>
                  <a:schemeClr val="tx2"/>
                </a:solidFill>
              </a:rPr>
              <a:t>Modal improves, then degrades</a:t>
            </a:r>
            <a:endParaRPr lang="en-US" sz="1300" dirty="0"/>
          </a:p>
        </p:txBody>
      </p:sp>
      <p:sp>
        <p:nvSpPr>
          <p:cNvPr id="20" name="Text 17"/>
          <p:cNvSpPr txBox="1"/>
          <p:nvPr/>
        </p:nvSpPr>
        <p:spPr>
          <a:xfrm>
            <a:off x="7086600" y="4837176"/>
            <a:ext cx="4572000" cy="310896"/>
          </a:xfrm>
          <a:prstGeom prst="rect">
            <a:avLst/>
          </a:prstGeom>
          <a:noFill/>
          <a:ln/>
        </p:spPr>
        <p:txBody>
          <a:bodyPr wrap="square" lIns="0" tIns="0" rIns="0" bIns="0" rtlCol="0" anchor="ctr"/>
          <a:lstStyle/>
          <a:p>
            <a:pPr indent="0" marL="0">
              <a:buNone/>
            </a:pPr>
            <a:r>
              <a:rPr lang="en-US" sz="1200" dirty="0">
                <a:solidFill>
                  <a:schemeClr val="tx1"/>
                </a:solidFill>
              </a:rPr>
              <a:t>peaks at 8.16–8.62 cycles (384k–512k), then retreats by 640k</a:t>
            </a:r>
            <a:endParaRPr lang="en-US" sz="1200" dirty="0"/>
          </a:p>
        </p:txBody>
      </p:sp>
      <p:sp>
        <p:nvSpPr>
          <p:cNvPr id="21" name="Shape 18"/>
          <p:cNvSpPr/>
          <p:nvPr/>
        </p:nvSpPr>
        <p:spPr>
          <a:xfrm>
            <a:off x="7086600" y="5230368"/>
            <a:ext cx="1371600" cy="274320"/>
          </a:xfrm>
          <a:prstGeom prst="roundRect">
            <a:avLst>
              <a:gd name="adj" fmla="val 50000"/>
            </a:avLst>
          </a:prstGeom>
          <a:solidFill>
            <a:schemeClr val="accent1"/>
          </a:solidFill>
          <a:ln/>
        </p:spPr>
      </p:sp>
      <p:sp>
        <p:nvSpPr>
          <p:cNvPr id="22" name="Text 19"/>
          <p:cNvSpPr txBox="1"/>
          <p:nvPr/>
        </p:nvSpPr>
        <p:spPr>
          <a:xfrm>
            <a:off x="7086600" y="5230368"/>
            <a:ext cx="1371600" cy="274320"/>
          </a:xfrm>
          <a:prstGeom prst="rect">
            <a:avLst/>
          </a:prstGeom>
          <a:noFill/>
          <a:ln/>
        </p:spPr>
        <p:txBody>
          <a:bodyPr wrap="square" lIns="0" tIns="0" rIns="0" bIns="0" rtlCol="0" anchor="ctr"/>
          <a:lstStyle/>
          <a:p>
            <a:pPr algn="ctr" indent="0" marL="0">
              <a:buNone/>
            </a:pPr>
            <a:r>
              <a:rPr lang="en-US" sz="1000" b="1" dirty="0">
                <a:solidFill>
                  <a:schemeClr val="bg1"/>
                </a:solidFill>
              </a:rPr>
              <a:t>BENCHMARK</a:t>
            </a:r>
            <a:endParaRPr lang="en-US" sz="1000" dirty="0"/>
          </a:p>
        </p:txBody>
      </p:sp>
      <p:sp>
        <p:nvSpPr>
          <p:cNvPr id="23" name="Text 20"/>
          <p:cNvSpPr txBox="1"/>
          <p:nvPr/>
        </p:nvSpPr>
        <p:spPr>
          <a:xfrm>
            <a:off x="7086600" y="5541264"/>
            <a:ext cx="4572000" cy="292608"/>
          </a:xfrm>
          <a:prstGeom prst="rect">
            <a:avLst/>
          </a:prstGeom>
          <a:noFill/>
          <a:ln/>
        </p:spPr>
        <p:txBody>
          <a:bodyPr wrap="square" lIns="0" tIns="0" rIns="0" bIns="0" rtlCol="0" anchor="ctr"/>
          <a:lstStyle/>
          <a:p>
            <a:pPr indent="0" marL="0">
              <a:buNone/>
            </a:pPr>
            <a:r>
              <a:rPr lang="en-US" sz="1300" b="1" dirty="0">
                <a:solidFill>
                  <a:schemeClr val="tx2"/>
                </a:solidFill>
              </a:rPr>
              <a:t>B1 seed variability</a:t>
            </a:r>
            <a:endParaRPr lang="en-US" sz="1300" dirty="0"/>
          </a:p>
        </p:txBody>
      </p:sp>
      <p:sp>
        <p:nvSpPr>
          <p:cNvPr id="24" name="Text 21"/>
          <p:cNvSpPr txBox="1"/>
          <p:nvPr/>
        </p:nvSpPr>
        <p:spPr>
          <a:xfrm>
            <a:off x="7086600" y="5815584"/>
            <a:ext cx="4572000" cy="310896"/>
          </a:xfrm>
          <a:prstGeom prst="rect">
            <a:avLst/>
          </a:prstGeom>
          <a:noFill/>
          <a:ln/>
        </p:spPr>
        <p:txBody>
          <a:bodyPr wrap="square" lIns="0" tIns="0" rIns="0" bIns="0" rtlCol="0" anchor="ctr"/>
          <a:lstStyle/>
          <a:p>
            <a:pPr indent="0" marL="0">
              <a:buNone/>
            </a:pPr>
            <a:r>
              <a:rPr lang="en-US" sz="1200" dirty="0">
                <a:solidFill>
                  <a:schemeClr val="tx1"/>
                </a:solidFill>
              </a:rPr>
              <a:t>3.11–5.10 cycles; L2 0.402–0.549</a:t>
            </a:r>
            <a:endParaRPr lang="en-US" sz="12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B2-E02: the optimizer test (modal diagnostic)</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results_batch2/B2-E02_RESULTS.csv; figures/B2-E02_q_of_t.png (seed 1234); reports/B2-E02_REPORT.md · commit cdd87b5</a:t>
            </a:r>
            <a:endParaRPr lang="en-US" sz="1000" dirty="0"/>
          </a:p>
        </p:txBody>
      </p:sp>
      <p:sp>
        <p:nvSpPr>
          <p:cNvPr id="4" name="status-bg"/>
          <p:cNvSpPr/>
          <p:nvPr/>
        </p:nvSpPr>
        <p:spPr>
          <a:xfrm>
            <a:off x="9265615" y="530352"/>
            <a:ext cx="2377440" cy="347472"/>
          </a:xfrm>
          <a:prstGeom prst="roundRect">
            <a:avLst>
              <a:gd name="adj" fmla="val 50000"/>
            </a:avLst>
          </a:prstGeom>
          <a:solidFill>
            <a:schemeClr val="accent3"/>
          </a:solidFill>
          <a:ln/>
        </p:spPr>
      </p:sp>
      <p:sp>
        <p:nvSpPr>
          <p:cNvPr id="5" name="status"/>
          <p:cNvSpPr txBox="1"/>
          <p:nvPr/>
        </p:nvSpPr>
        <p:spPr>
          <a:xfrm>
            <a:off x="9265615" y="530352"/>
            <a:ext cx="2377440" cy="347472"/>
          </a:xfrm>
          <a:prstGeom prst="rect">
            <a:avLst/>
          </a:prstGeom>
          <a:noFill/>
          <a:ln/>
        </p:spPr>
        <p:txBody>
          <a:bodyPr wrap="square" lIns="0" tIns="0" rIns="0" bIns="0" rtlCol="0" anchor="ctr"/>
          <a:lstStyle/>
          <a:p>
            <a:pPr algn="ctr" indent="0" marL="0">
              <a:buNone/>
            </a:pPr>
            <a:r>
              <a:rPr lang="en-US" sz="1100" b="1" spc="100" kern="0" dirty="0">
                <a:solidFill>
                  <a:schemeClr val="bg1"/>
                </a:solidFill>
              </a:rPr>
              <a:t>DIAGNOSTIC</a:t>
            </a:r>
            <a:endParaRPr lang="en-US" sz="1100" dirty="0"/>
          </a:p>
        </p:txBody>
      </p:sp>
      <p:pic>
        <p:nvPicPr>
          <p:cNvPr id="6" name="Image 0" descr="Modal q(t): Adam control vs Adam to L-BFGS, seed 1234">    </p:cNvPr>
          <p:cNvPicPr>
            <a:picLocks noChangeAspect="1"/>
          </p:cNvPicPr>
          <p:nvPr/>
        </p:nvPicPr>
        <p:blipFill>
          <a:blip r:embed="rId1"/>
          <a:stretch>
            <a:fillRect/>
          </a:stretch>
        </p:blipFill>
        <p:spPr>
          <a:xfrm>
            <a:off x="502920" y="1280160"/>
            <a:ext cx="5760720" cy="2994491"/>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166360" cy="914400"/>
        </p:xfrm>
        <a:graphic>
          <a:graphicData uri="http://schemas.openxmlformats.org/drawingml/2006/table">
            <a:tbl>
              <a:tblPr/>
              <a:tblGrid>
                <a:gridCol w="1508760"/>
                <a:gridCol w="1051560"/>
                <a:gridCol w="868680"/>
                <a:gridCol w="868680"/>
                <a:gridCol w="868680"/>
              </a:tblGrid>
              <a:tr h="502920">
                <a:tc>
                  <a:txBody>
                    <a:bodyPr/>
                    <a:lstStyle/>
                    <a:p>
                      <a:pPr algn="l" indent="0" marL="0">
                        <a:buNone/>
                      </a:pPr>
                      <a:r>
                        <a:rPr lang="en-US" sz="1200" b="1" dirty="0">
                          <a:solidFill>
                            <a:schemeClr val="bg1"/>
                          </a:solidFill>
                        </a:rPr>
                        <a:t>Arm (3 seeds)</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Persistence [cycles]</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L2</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Decay [s⁻¹]</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Rel. wall-clock</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tx1"/>
                          </a:solidFill>
                        </a:rPr>
                        <a:t>M0 Adam + decay</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6.1–7.6</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0.27–0.33</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5.4–6.1</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1.00</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502920">
                <a:tc>
                  <a:txBody>
                    <a:bodyPr/>
                    <a:lstStyle/>
                    <a:p>
                      <a:pPr algn="l" indent="0" marL="0">
                        <a:buNone/>
                      </a:pPr>
                      <a:r>
                        <a:rPr lang="en-US" sz="1200" b="1" dirty="0">
                          <a:solidFill>
                            <a:schemeClr val="accent2"/>
                          </a:solidFill>
                        </a:rPr>
                        <a:t>Adam → L-BFGS</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b="1" dirty="0">
                          <a:solidFill>
                            <a:schemeClr val="accent2"/>
                          </a:solidFill>
                        </a:rPr>
                        <a:t>20.58</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b="1" dirty="0">
                          <a:solidFill>
                            <a:schemeClr val="accent2"/>
                          </a:solidFill>
                        </a:rPr>
                        <a:t>0.038–0.093</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b="1" dirty="0">
                          <a:solidFill>
                            <a:schemeClr val="accent2"/>
                          </a:solidFill>
                        </a:rPr>
                        <a:t>3.62–4.10</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b="1" dirty="0">
                          <a:solidFill>
                            <a:schemeClr val="accent2"/>
                          </a:solidFill>
                        </a:rPr>
                        <a:t>0.91–0.93</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502920">
                <a:tc>
                  <a:txBody>
                    <a:bodyPr/>
                    <a:lstStyle/>
                    <a:p>
                      <a:pPr algn="l" indent="0" marL="0">
                        <a:buNone/>
                      </a:pPr>
                      <a:r>
                        <a:rPr lang="en-US" sz="1200" dirty="0">
                          <a:solidFill>
                            <a:schemeClr val="tx1"/>
                          </a:solidFill>
                        </a:rPr>
                        <a:t>Causal weighting</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2.1–4.6</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0.56–1.56</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fit not meaningful</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200" dirty="0">
                          <a:solidFill>
                            <a:schemeClr val="tx1"/>
                          </a:solidFill>
                        </a:rPr>
                        <a:t>1.00–1.01</a:t>
                      </a:r>
                      <a:endParaRPr lang="en-US" sz="1200" dirty="0"/>
                    </a:p>
                  </a:txBody>
                  <a:tcPr marL="45720" marR="45720" marT="45720" marB="45720"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bl>
          </a:graphicData>
        </a:graphic>
      </p:graphicFrame>
      <p:sp>
        <p:nvSpPr>
          <p:cNvPr id="8" name="card"/>
          <p:cNvSpPr/>
          <p:nvPr/>
        </p:nvSpPr>
        <p:spPr>
          <a:xfrm>
            <a:off x="6492240" y="3429000"/>
            <a:ext cx="2011680" cy="1417320"/>
          </a:xfrm>
          <a:prstGeom prst="roundRect">
            <a:avLst>
              <a:gd name="adj" fmla="val 5161"/>
            </a:avLst>
          </a:prstGeom>
          <a:solidFill>
            <a:schemeClr val="bg2"/>
          </a:solidFill>
          <a:ln/>
        </p:spPr>
      </p:sp>
      <p:sp>
        <p:nvSpPr>
          <p:cNvPr id="9" name="Text 5"/>
          <p:cNvSpPr txBox="1"/>
          <p:nvPr/>
        </p:nvSpPr>
        <p:spPr>
          <a:xfrm>
            <a:off x="6629400" y="3474720"/>
            <a:ext cx="1783080" cy="132588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20.58</a:t>
            </a:r>
            <a:endParaRPr lang="en-US" sz="3200" dirty="0"/>
          </a:p>
          <a:p>
            <a:pPr indent="0" marL="0">
              <a:buNone/>
            </a:pPr>
            <a:r>
              <a:rPr lang="en-US" sz="1200" dirty="0">
                <a:solidFill>
                  <a:schemeClr val="tx1"/>
                </a:solidFill>
              </a:rPr>
              <a:t>cycles = full 1-s window, 3/3 seeds</a:t>
            </a:r>
            <a:endParaRPr lang="en-US" sz="3200" dirty="0"/>
          </a:p>
        </p:txBody>
      </p:sp>
      <p:sp>
        <p:nvSpPr>
          <p:cNvPr id="10" name="card"/>
          <p:cNvSpPr/>
          <p:nvPr/>
        </p:nvSpPr>
        <p:spPr>
          <a:xfrm>
            <a:off x="8686800" y="3429000"/>
            <a:ext cx="2971800" cy="1417320"/>
          </a:xfrm>
          <a:prstGeom prst="roundRect">
            <a:avLst>
              <a:gd name="adj" fmla="val 5161"/>
            </a:avLst>
          </a:prstGeom>
          <a:solidFill>
            <a:schemeClr val="bg2"/>
          </a:solidFill>
          <a:ln/>
        </p:spPr>
      </p:sp>
      <p:sp>
        <p:nvSpPr>
          <p:cNvPr id="11" name="Text 7"/>
          <p:cNvSpPr txBox="1"/>
          <p:nvPr/>
        </p:nvSpPr>
        <p:spPr>
          <a:xfrm>
            <a:off x="8823960" y="3474720"/>
            <a:ext cx="2743200" cy="1325880"/>
          </a:xfrm>
          <a:prstGeom prst="rect">
            <a:avLst/>
          </a:prstGeom>
          <a:noFill/>
          <a:ln/>
        </p:spPr>
        <p:txBody>
          <a:bodyPr wrap="square" lIns="0" tIns="0" rIns="0" bIns="0" rtlCol="0" anchor="ctr"/>
          <a:lstStyle/>
          <a:p>
            <a:pPr indent="0" marL="0">
              <a:buNone/>
            </a:pPr>
            <a:r>
              <a:rPr lang="en-US" sz="1800" b="1" dirty="0">
                <a:solidFill>
                  <a:schemeClr val="accent2"/>
                </a:solidFill>
              </a:rPr>
              <a:t>0.27–0.33 → 0.038–0.093</a:t>
            </a:r>
            <a:endParaRPr lang="en-US" sz="1800" dirty="0"/>
          </a:p>
          <a:p>
            <a:pPr indent="0" marL="0">
              <a:buNone/>
            </a:pPr>
            <a:r>
              <a:rPr lang="en-US" sz="1200" dirty="0">
                <a:solidFill>
                  <a:schemeClr val="tx1"/>
                </a:solidFill>
              </a:rPr>
              <a:t>relative L2: Adam control → Adam → L-BFGS</a:t>
            </a:r>
            <a:endParaRPr lang="en-US" sz="1800" dirty="0"/>
          </a:p>
        </p:txBody>
      </p:sp>
      <p:sp>
        <p:nvSpPr>
          <p:cNvPr id="12" name="Shape 8"/>
          <p:cNvSpPr/>
          <p:nvPr/>
        </p:nvSpPr>
        <p:spPr>
          <a:xfrm>
            <a:off x="6492240" y="5029200"/>
            <a:ext cx="5166360" cy="1097280"/>
          </a:xfrm>
          <a:prstGeom prst="roundRect">
            <a:avLst>
              <a:gd name="adj" fmla="val 6667"/>
            </a:avLst>
          </a:prstGeom>
          <a:solidFill>
            <a:schemeClr val="accent3"/>
          </a:solidFill>
          <a:ln/>
        </p:spPr>
      </p:sp>
      <p:sp>
        <p:nvSpPr>
          <p:cNvPr id="13" name="Text 9"/>
          <p:cNvSpPr txBox="1"/>
          <p:nvPr/>
        </p:nvSpPr>
        <p:spPr>
          <a:xfrm>
            <a:off x="6675120" y="5074920"/>
            <a:ext cx="4846320" cy="1005840"/>
          </a:xfrm>
          <a:prstGeom prst="rect">
            <a:avLst/>
          </a:prstGeom>
          <a:noFill/>
          <a:ln/>
        </p:spPr>
        <p:txBody>
          <a:bodyPr wrap="square" lIns="0" tIns="0" rIns="0" bIns="0" rtlCol="0" anchor="ctr"/>
          <a:lstStyle/>
          <a:p>
            <a:pPr indent="0" marL="0">
              <a:buNone/>
            </a:pPr>
            <a:r>
              <a:rPr lang="en-US" sz="1500" b="1" dirty="0">
                <a:solidFill>
                  <a:schemeClr val="bg1"/>
                </a:solidFill>
              </a:rPr>
              <a:t>Diagnostic only — not yet a valid full-field solution.</a:t>
            </a:r>
            <a:endParaRPr lang="en-US" sz="1500" dirty="0"/>
          </a:p>
          <a:p>
            <a:pPr indent="0" marL="0">
              <a:buNone/>
            </a:pPr>
            <a:r>
              <a:rPr lang="en-US" sz="1200" dirty="0">
                <a:solidFill>
                  <a:schemeClr val="bg1"/>
                </a:solidFill>
              </a:rPr>
              <a:t>Exact spatial mode supplied · 623,360 vs 640,000 PDE evaluations · +29–30 % peak RAM</a:t>
            </a:r>
            <a:endParaRPr lang="en-US" sz="15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Transfer to the full field: the key negative result</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results_batch2/B2-E02T_RESULTS.csv, B2-E02T_SNAPSHOTS.csv, B2-E02T_CLASSIFICATION.json; reports/B2-E02_REPORT.md §4 · commit cdd87b5</a:t>
            </a:r>
            <a:endParaRPr lang="en-US" sz="1000" dirty="0"/>
          </a:p>
        </p:txBody>
      </p:sp>
      <p:sp>
        <p:nvSpPr>
          <p:cNvPr id="4" name="status-bg"/>
          <p:cNvSpPr/>
          <p:nvPr/>
        </p:nvSpPr>
        <p:spPr>
          <a:xfrm>
            <a:off x="9265615" y="530352"/>
            <a:ext cx="2377440" cy="347472"/>
          </a:xfrm>
          <a:prstGeom prst="roundRect">
            <a:avLst>
              <a:gd name="adj" fmla="val 50000"/>
            </a:avLst>
          </a:prstGeom>
          <a:solidFill>
            <a:schemeClr val="accent4"/>
          </a:solidFill>
          <a:ln/>
        </p:spPr>
      </p:sp>
      <p:sp>
        <p:nvSpPr>
          <p:cNvPr id="5" name="status"/>
          <p:cNvSpPr txBox="1"/>
          <p:nvPr/>
        </p:nvSpPr>
        <p:spPr>
          <a:xfrm>
            <a:off x="9265615" y="530352"/>
            <a:ext cx="2377440" cy="347472"/>
          </a:xfrm>
          <a:prstGeom prst="rect">
            <a:avLst/>
          </a:prstGeom>
          <a:noFill/>
          <a:ln/>
        </p:spPr>
        <p:txBody>
          <a:bodyPr wrap="square" lIns="0" tIns="0" rIns="0" bIns="0" rtlCol="0" anchor="ctr"/>
          <a:lstStyle/>
          <a:p>
            <a:pPr algn="ctr" indent="0" marL="0">
              <a:buNone/>
            </a:pPr>
            <a:r>
              <a:rPr lang="en-US" sz="1100" b="1" spc="100" kern="0" dirty="0">
                <a:solidFill>
                  <a:schemeClr val="bg1"/>
                </a:solidFill>
              </a:rPr>
              <a:t>FAILED ON THIS BENCHMARK</a:t>
            </a:r>
            <a:endParaRPr lang="en-US" sz="1100" dirty="0"/>
          </a:p>
        </p:txBody>
      </p:sp>
      <p:graphicFrame>
        <p:nvGraphicFramePr>
          <p:cNvPr id="6" name="Chart 0" descr=""/>
          <p:cNvGraphicFramePr/>
          <p:nvPr/>
        </p:nvGraphicFramePr>
        <p:xfrm>
          <a:off x="457200" y="123444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852160"/>
            <a:ext cx="5943600" cy="320040"/>
          </a:xfrm>
          <a:prstGeom prst="rect">
            <a:avLst/>
          </a:prstGeom>
          <a:noFill/>
          <a:ln/>
        </p:spPr>
        <p:txBody>
          <a:bodyPr wrap="square" lIns="0" tIns="0" rIns="0" bIns="0" rtlCol="0" anchor="ctr"/>
          <a:lstStyle/>
          <a:p>
            <a:pPr indent="0" marL="0">
              <a:buNone/>
            </a:pPr>
            <a:r>
              <a:rPr lang="en-US" sz="1100" i="1" dirty="0">
                <a:solidFill>
                  <a:srgbClr val="5E6B7A"/>
                </a:solidFill>
              </a:rPr>
              <a:t>end = 640,000 (B1) / 623,360 (Adam → L-BFGS) evaluations; identical up to 256k</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12280" y="1280160"/>
          <a:ext cx="4846320" cy="914400"/>
        </p:xfrm>
        <a:graphic>
          <a:graphicData uri="http://schemas.openxmlformats.org/drawingml/2006/table">
            <a:tbl>
              <a:tblPr/>
              <a:tblGrid>
                <a:gridCol w="731520"/>
                <a:gridCol w="1554480"/>
                <a:gridCol w="1188720"/>
                <a:gridCol w="1371600"/>
              </a:tblGrid>
              <a:tr h="457200">
                <a:tc>
                  <a:txBody>
                    <a:bodyPr/>
                    <a:lstStyle/>
                    <a:p>
                      <a:pPr algn="l" indent="0" marL="0">
                        <a:buNone/>
                      </a:pPr>
                      <a:r>
                        <a:rPr lang="en-US" sz="1300" b="1" dirty="0">
                          <a:solidFill>
                            <a:schemeClr val="bg1"/>
                          </a:solidFill>
                        </a:rPr>
                        <a:t>Seed</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Persistence change [cycles]</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L2 vs B1</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PDE residual vs B1</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solidFill>
                      <a:schemeClr val="tx2"/>
                    </a:solidFill>
                  </a:tcPr>
                </a:tc>
              </a:tr>
              <a:tr h="457200">
                <a:tc>
                  <a:txBody>
                    <a:bodyPr/>
                    <a:lstStyle/>
                    <a:p>
                      <a:pPr algn="l" indent="0" marL="0">
                        <a:buNone/>
                      </a:pPr>
                      <a:r>
                        <a:rPr lang="en-US" sz="1300" dirty="0">
                          <a:solidFill>
                            <a:schemeClr val="tx1"/>
                          </a:solidFill>
                        </a:rPr>
                        <a:t>1234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−1.6</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×1.28</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×1.55</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algn="l" indent="0" marL="0">
                        <a:buNone/>
                      </a:pPr>
                      <a:r>
                        <a:rPr lang="en-US" sz="1300" dirty="0">
                          <a:solidFill>
                            <a:schemeClr val="tx1"/>
                          </a:solidFill>
                        </a:rPr>
                        <a:t>1235</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−2.4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×1.54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×2.38</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r h="457200">
                <a:tc>
                  <a:txBody>
                    <a:bodyPr/>
                    <a:lstStyle/>
                    <a:p>
                      <a:pPr algn="l" indent="0" marL="0">
                        <a:buNone/>
                      </a:pPr>
                      <a:r>
                        <a:rPr lang="en-US" sz="1300" dirty="0">
                          <a:solidFill>
                            <a:schemeClr val="tx1"/>
                          </a:solidFill>
                        </a:rPr>
                        <a:t>1236</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−2.6</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×1.44</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c>
                  <a:txBody>
                    <a:bodyPr/>
                    <a:lstStyle/>
                    <a:p>
                      <a:pPr algn="r" indent="0" marL="0">
                        <a:buNone/>
                      </a:pPr>
                      <a:r>
                        <a:rPr lang="en-US" sz="1300" b="1" dirty="0">
                          <a:solidFill>
                            <a:schemeClr val="accent4"/>
                          </a:solidFill>
                        </a:rPr>
                        <a:t>×1.22</a:t>
                      </a:r>
                      <a:endParaRPr lang="en-US" sz="1300" dirty="0"/>
                    </a:p>
                  </a:txBody>
                  <a:tcPr marL="54864" marR="54864" marT="54864" marB="54864" anchor="ctr">
                    <a:lnL w="9525" cap="flat" cmpd="sng" algn="ctr">
                      <a:solidFill>
                        <a:srgbClr val="D9E0E6"/>
                      </a:solidFill>
                      <a:prstDash val="solid"/>
                      <a:round/>
                      <a:headEnd type="none" w="med" len="med"/>
                      <a:tailEnd type="none" w="med" len="med"/>
                    </a:lnL>
                    <a:lnR w="9525" cap="flat" cmpd="sng" algn="ctr">
                      <a:solidFill>
                        <a:srgbClr val="D9E0E6"/>
                      </a:solidFill>
                      <a:prstDash val="solid"/>
                      <a:round/>
                      <a:headEnd type="none" w="med" len="med"/>
                      <a:tailEnd type="none" w="med" len="med"/>
                    </a:lnR>
                    <a:lnT w="9525" cap="flat" cmpd="sng" algn="ctr">
                      <a:solidFill>
                        <a:srgbClr val="D9E0E6"/>
                      </a:solidFill>
                      <a:prstDash val="solid"/>
                      <a:round/>
                      <a:headEnd type="none" w="med" len="med"/>
                      <a:tailEnd type="none" w="med" len="med"/>
                    </a:lnT>
                    <a:lnB w="9525" cap="flat" cmpd="sng" algn="ctr">
                      <a:solidFill>
                        <a:srgbClr val="D9E0E6"/>
                      </a:solidFill>
                      <a:prstDash val="solid"/>
                      <a:round/>
                      <a:headEnd type="none" w="med" len="med"/>
                      <a:tailEnd type="none" w="med" len="med"/>
                    </a:lnB>
                  </a:tcPr>
                </a:tc>
              </a:tr>
            </a:tbl>
          </a:graphicData>
        </a:graphic>
      </p:graphicFrame>
      <p:sp>
        <p:nvSpPr>
          <p:cNvPr id="9" name="Text 5"/>
          <p:cNvSpPr txBox="1"/>
          <p:nvPr/>
        </p:nvSpPr>
        <p:spPr>
          <a:xfrm>
            <a:off x="6812280" y="3246120"/>
            <a:ext cx="4846320" cy="731520"/>
          </a:xfrm>
          <a:prstGeom prst="rect">
            <a:avLst/>
          </a:prstGeom>
          <a:noFill/>
          <a:ln/>
        </p:spPr>
        <p:txBody>
          <a:bodyPr wrap="square" lIns="0" tIns="0" rIns="0" bIns="0" rtlCol="0" anchor="ctr"/>
          <a:lstStyle/>
          <a:p>
            <a:pPr indent="0" marL="0">
              <a:buNone/>
            </a:pPr>
            <a:r>
              <a:rPr lang="en-US" sz="1300" dirty="0">
                <a:solidFill>
                  <a:schemeClr val="tx1"/>
                </a:solidFill>
              </a:rPr>
              <a:t>Cheaper in time (0.87–0.89× wall-clock) but 1.61–1.63× peak RAM, and worse on every accuracy metric in 3/3 seeds.</a:t>
            </a:r>
            <a:endParaRPr lang="en-US" sz="1300" dirty="0"/>
          </a:p>
        </p:txBody>
      </p:sp>
      <p:sp>
        <p:nvSpPr>
          <p:cNvPr id="10" name="Shape 6"/>
          <p:cNvSpPr/>
          <p:nvPr/>
        </p:nvSpPr>
        <p:spPr>
          <a:xfrm>
            <a:off x="6812280" y="4160520"/>
            <a:ext cx="4846320" cy="1920240"/>
          </a:xfrm>
          <a:prstGeom prst="roundRect">
            <a:avLst>
              <a:gd name="adj" fmla="val 3810"/>
            </a:avLst>
          </a:prstGeom>
          <a:solidFill>
            <a:schemeClr val="tx2"/>
          </a:solidFill>
          <a:ln/>
        </p:spPr>
      </p:sp>
      <p:sp>
        <p:nvSpPr>
          <p:cNvPr id="11" name="Text 7"/>
          <p:cNvSpPr txBox="1"/>
          <p:nvPr/>
        </p:nvSpPr>
        <p:spPr>
          <a:xfrm>
            <a:off x="7040880" y="4206240"/>
            <a:ext cx="4434840" cy="18288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The optimizer that solves the isolated temporal problem does not automatically solve the coupled space–time problem.</a:t>
            </a:r>
            <a:endParaRPr lang="en-US" sz="18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B2-E03: sparse collocation alone is not the root cause</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results_batch2/B2-E03_RESULTS.csv, B2-E03_CLASSIFICATION.json (CASE D); reports/B2-E03_REPORT.md · commit cdd87b5</a:t>
            </a:r>
            <a:endParaRPr lang="en-US" sz="1000" dirty="0"/>
          </a:p>
        </p:txBody>
      </p:sp>
      <p:graphicFrame>
        <p:nvGraphicFramePr>
          <p:cNvPr id="4" name="Chart 0" descr=""/>
          <p:cNvGraphicFramePr/>
          <p:nvPr/>
        </p:nvGraphicFramePr>
        <p:xfrm>
          <a:off x="457200" y="1234440"/>
          <a:ext cx="566928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234440"/>
          <a:ext cx="5577840" cy="32461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4572000"/>
            <a:ext cx="11109960" cy="411480"/>
          </a:xfrm>
          <a:prstGeom prst="rect">
            <a:avLst/>
          </a:prstGeom>
          <a:noFill/>
          <a:ln/>
        </p:spPr>
        <p:txBody>
          <a:bodyPr wrap="square" lIns="0" tIns="0" rIns="0" bIns="0" rtlCol="0" anchor="ctr"/>
          <a:lstStyle/>
          <a:p>
            <a:pPr indent="0" marL="0">
              <a:buNone/>
            </a:pPr>
            <a:r>
              <a:rPr lang="en-US" sz="1300" b="1" dirty="0">
                <a:solidFill>
                  <a:schemeClr val="tx1"/>
                </a:solidFill>
              </a:rPr>
              <a:t>Residual gap G: </a:t>
            </a:r>
            <a:pPr indent="0" marL="0">
              <a:buNone/>
            </a:pPr>
            <a:r>
              <a:rPr lang="en-US" sz="1300" dirty="0">
                <a:solidFill>
                  <a:schemeClr val="tx1"/>
                </a:solidFill>
              </a:rPr>
              <a:t>L-BFGS fixed 640 35–76× · Adam fixed 640 4–6× · L-BFGS resampled 1.8–2.8× · L-BFGS 2,560 pool 1.2–1.4× · B1 1.1×</a:t>
            </a:r>
            <a:endParaRPr lang="en-US" sz="1300" dirty="0"/>
          </a:p>
        </p:txBody>
      </p:sp>
      <p:sp>
        <p:nvSpPr>
          <p:cNvPr id="7" name="Text 3"/>
          <p:cNvSpPr txBox="1"/>
          <p:nvPr/>
        </p:nvSpPr>
        <p:spPr>
          <a:xfrm>
            <a:off x="548640" y="4956048"/>
            <a:ext cx="11109960" cy="320040"/>
          </a:xfrm>
          <a:prstGeom prst="rect">
            <a:avLst/>
          </a:prstGeom>
          <a:noFill/>
          <a:ln/>
        </p:spPr>
        <p:txBody>
          <a:bodyPr wrap="square" lIns="0" tIns="0" rIns="0" bIns="0" rtlCol="0" anchor="ctr"/>
          <a:lstStyle/>
          <a:p>
            <a:pPr indent="0" marL="0">
              <a:buNone/>
            </a:pPr>
            <a:r>
              <a:rPr lang="en-US" sz="1100" i="1" dirty="0">
                <a:solidFill>
                  <a:srgbClr val="5E6B7A"/>
                </a:solidFill>
              </a:rPr>
              <a:t>L-BFGS 2,560 pool, seed 1234: diverged at 576,640 evaluations (no bar; excluded by pre-registered Amendment 1).</a:t>
            </a:r>
            <a:endParaRPr lang="en-US" sz="1100" dirty="0"/>
          </a:p>
        </p:txBody>
      </p:sp>
      <p:sp>
        <p:nvSpPr>
          <p:cNvPr id="8" name="Shape 4"/>
          <p:cNvSpPr/>
          <p:nvPr/>
        </p:nvSpPr>
        <p:spPr>
          <a:xfrm>
            <a:off x="548640" y="5349240"/>
            <a:ext cx="11109960" cy="868680"/>
          </a:xfrm>
          <a:prstGeom prst="roundRect">
            <a:avLst>
              <a:gd name="adj" fmla="val 8421"/>
            </a:avLst>
          </a:prstGeom>
          <a:solidFill>
            <a:schemeClr val="tx2"/>
          </a:solidFill>
          <a:ln/>
        </p:spPr>
      </p:sp>
      <p:sp>
        <p:nvSpPr>
          <p:cNvPr id="9" name="Text 5"/>
          <p:cNvSpPr txBox="1"/>
          <p:nvPr/>
        </p:nvSpPr>
        <p:spPr>
          <a:xfrm>
            <a:off x="777240" y="5376672"/>
            <a:ext cx="10698480" cy="822960"/>
          </a:xfrm>
          <a:prstGeom prst="rect">
            <a:avLst/>
          </a:prstGeom>
          <a:noFill/>
          <a:ln/>
        </p:spPr>
        <p:txBody>
          <a:bodyPr wrap="square" lIns="0" tIns="0" rIns="0" bIns="0" rtlCol="0" anchor="ctr"/>
          <a:lstStyle/>
          <a:p>
            <a:pPr indent="0" marL="0">
              <a:buNone/>
            </a:pPr>
            <a:r>
              <a:rPr lang="en-US" sz="1500" b="1" dirty="0">
                <a:solidFill>
                  <a:schemeClr val="bg1"/>
                </a:solidFill>
              </a:rPr>
              <a:t>More collocation coverage removed the train/dense residual gap without restoring dynamic propagation. </a:t>
            </a:r>
            <a:pPr indent="0" marL="0">
              <a:buNone/>
            </a:pPr>
            <a:r>
              <a:rPr lang="en-US" sz="1500" dirty="0">
                <a:solidFill>
                  <a:schemeClr val="bg1"/>
                </a:solidFill>
              </a:rPr>
              <a:t>Sparse collocation alone is not the root cause — no stage-2 variant beat B1 (pre-registered CASE D).</a:t>
            </a:r>
            <a:endParaRPr lang="en-US" sz="15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Where we are: no optimized full-field PINN yet</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B2-E01 seed replication (B2-E01S_SEED_RESULTS.csv); B2-E02_RESULTS.csv; references/batch1/tables/phaseZ4_20K_checkpoints.csv · commit cdd87b5</a:t>
            </a:r>
            <a:endParaRPr lang="en-US" sz="1000" dirty="0"/>
          </a:p>
        </p:txBody>
      </p:sp>
      <p:sp>
        <p:nvSpPr>
          <p:cNvPr id="4" name="Shape 2"/>
          <p:cNvSpPr/>
          <p:nvPr/>
        </p:nvSpPr>
        <p:spPr>
          <a:xfrm>
            <a:off x="548640" y="1353312"/>
            <a:ext cx="438912" cy="438912"/>
          </a:xfrm>
          <a:prstGeom prst="ellipse">
            <a:avLst/>
          </a:prstGeom>
          <a:solidFill>
            <a:schemeClr val="accent2"/>
          </a:solidFill>
          <a:ln/>
        </p:spPr>
      </p:sp>
      <p:sp>
        <p:nvSpPr>
          <p:cNvPr id="5" name="Text 3"/>
          <p:cNvSpPr txBox="1"/>
          <p:nvPr/>
        </p:nvSpPr>
        <p:spPr>
          <a:xfrm>
            <a:off x="548640" y="135331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43000" y="1280160"/>
            <a:ext cx="3520440" cy="585216"/>
          </a:xfrm>
          <a:prstGeom prst="rect">
            <a:avLst/>
          </a:prstGeom>
          <a:noFill/>
          <a:ln/>
        </p:spPr>
        <p:txBody>
          <a:bodyPr wrap="square" lIns="0" tIns="0" rIns="0" bIns="0" rtlCol="0" anchor="ctr"/>
          <a:lstStyle/>
          <a:p>
            <a:pPr indent="0" marL="0">
              <a:buNone/>
            </a:pPr>
            <a:r>
              <a:rPr lang="en-US" sz="1400" dirty="0">
                <a:solidFill>
                  <a:schemeClr val="tx1"/>
                </a:solidFill>
              </a:rPr>
              <a:t>Benchmark established</a:t>
            </a:r>
            <a:endParaRPr lang="en-US" sz="1400" dirty="0"/>
          </a:p>
        </p:txBody>
      </p:sp>
      <p:sp>
        <p:nvSpPr>
          <p:cNvPr id="7" name="Shape 5"/>
          <p:cNvSpPr/>
          <p:nvPr/>
        </p:nvSpPr>
        <p:spPr>
          <a:xfrm>
            <a:off x="4709160" y="1435608"/>
            <a:ext cx="1600200" cy="274320"/>
          </a:xfrm>
          <a:prstGeom prst="roundRect">
            <a:avLst>
              <a:gd name="adj" fmla="val 50000"/>
            </a:avLst>
          </a:prstGeom>
          <a:solidFill>
            <a:schemeClr val="accent2"/>
          </a:solidFill>
          <a:ln/>
        </p:spPr>
      </p:sp>
      <p:sp>
        <p:nvSpPr>
          <p:cNvPr id="8" name="Text 6"/>
          <p:cNvSpPr txBox="1"/>
          <p:nvPr/>
        </p:nvSpPr>
        <p:spPr>
          <a:xfrm>
            <a:off x="4709160" y="1435608"/>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9" name="Shape 7"/>
          <p:cNvSpPr/>
          <p:nvPr/>
        </p:nvSpPr>
        <p:spPr>
          <a:xfrm>
            <a:off x="548640" y="1975104"/>
            <a:ext cx="438912" cy="438912"/>
          </a:xfrm>
          <a:prstGeom prst="ellipse">
            <a:avLst/>
          </a:prstGeom>
          <a:solidFill>
            <a:schemeClr val="accent2"/>
          </a:solidFill>
          <a:ln/>
        </p:spPr>
      </p:sp>
      <p:sp>
        <p:nvSpPr>
          <p:cNvPr id="10" name="Text 8"/>
          <p:cNvSpPr txBox="1"/>
          <p:nvPr/>
        </p:nvSpPr>
        <p:spPr>
          <a:xfrm>
            <a:off x="548640" y="1975104"/>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1143000" y="1901952"/>
            <a:ext cx="3520440" cy="585216"/>
          </a:xfrm>
          <a:prstGeom prst="rect">
            <a:avLst/>
          </a:prstGeom>
          <a:noFill/>
          <a:ln/>
        </p:spPr>
        <p:txBody>
          <a:bodyPr wrap="square" lIns="0" tIns="0" rIns="0" bIns="0" rtlCol="0" anchor="ctr"/>
          <a:lstStyle/>
          <a:p>
            <a:pPr indent="0" marL="0">
              <a:buNone/>
            </a:pPr>
            <a:r>
              <a:rPr lang="en-US" sz="1400" dirty="0">
                <a:solidFill>
                  <a:schemeClr val="tx1"/>
                </a:solidFill>
              </a:rPr>
              <a:t>Reproducibility established</a:t>
            </a:r>
            <a:endParaRPr lang="en-US" sz="1400" dirty="0"/>
          </a:p>
        </p:txBody>
      </p:sp>
      <p:sp>
        <p:nvSpPr>
          <p:cNvPr id="12" name="Shape 10"/>
          <p:cNvSpPr/>
          <p:nvPr/>
        </p:nvSpPr>
        <p:spPr>
          <a:xfrm>
            <a:off x="4709160" y="2057400"/>
            <a:ext cx="1600200" cy="274320"/>
          </a:xfrm>
          <a:prstGeom prst="roundRect">
            <a:avLst>
              <a:gd name="adj" fmla="val 50000"/>
            </a:avLst>
          </a:prstGeom>
          <a:solidFill>
            <a:schemeClr val="accent2"/>
          </a:solidFill>
          <a:ln/>
        </p:spPr>
      </p:sp>
      <p:sp>
        <p:nvSpPr>
          <p:cNvPr id="13" name="Text 11"/>
          <p:cNvSpPr txBox="1"/>
          <p:nvPr/>
        </p:nvSpPr>
        <p:spPr>
          <a:xfrm>
            <a:off x="4709160" y="2057400"/>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14" name="Shape 12"/>
          <p:cNvSpPr/>
          <p:nvPr/>
        </p:nvSpPr>
        <p:spPr>
          <a:xfrm>
            <a:off x="548640" y="2596896"/>
            <a:ext cx="438912" cy="438912"/>
          </a:xfrm>
          <a:prstGeom prst="ellipse">
            <a:avLst/>
          </a:prstGeom>
          <a:solidFill>
            <a:schemeClr val="accent2"/>
          </a:solidFill>
          <a:ln/>
        </p:spPr>
      </p:sp>
      <p:sp>
        <p:nvSpPr>
          <p:cNvPr id="15" name="Text 13"/>
          <p:cNvSpPr txBox="1"/>
          <p:nvPr/>
        </p:nvSpPr>
        <p:spPr>
          <a:xfrm>
            <a:off x="548640" y="25968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143000" y="2523744"/>
            <a:ext cx="3520440" cy="585216"/>
          </a:xfrm>
          <a:prstGeom prst="rect">
            <a:avLst/>
          </a:prstGeom>
          <a:noFill/>
          <a:ln/>
        </p:spPr>
        <p:txBody>
          <a:bodyPr wrap="square" lIns="0" tIns="0" rIns="0" bIns="0" rtlCol="0" anchor="ctr"/>
          <a:lstStyle/>
          <a:p>
            <a:pPr indent="0" marL="0">
              <a:buNone/>
            </a:pPr>
            <a:r>
              <a:rPr lang="en-US" sz="1400" dirty="0">
                <a:solidFill>
                  <a:schemeClr val="tx1"/>
                </a:solidFill>
              </a:rPr>
              <a:t>Failure mechanisms narrowed (refinement ongoing)</a:t>
            </a:r>
            <a:endParaRPr lang="en-US" sz="1400" dirty="0"/>
          </a:p>
        </p:txBody>
      </p:sp>
      <p:sp>
        <p:nvSpPr>
          <p:cNvPr id="17" name="Shape 15"/>
          <p:cNvSpPr/>
          <p:nvPr/>
        </p:nvSpPr>
        <p:spPr>
          <a:xfrm>
            <a:off x="4709160" y="2679192"/>
            <a:ext cx="1600200" cy="274320"/>
          </a:xfrm>
          <a:prstGeom prst="roundRect">
            <a:avLst>
              <a:gd name="adj" fmla="val 50000"/>
            </a:avLst>
          </a:prstGeom>
          <a:solidFill>
            <a:schemeClr val="accent2"/>
          </a:solidFill>
          <a:ln/>
        </p:spPr>
      </p:sp>
      <p:sp>
        <p:nvSpPr>
          <p:cNvPr id="18" name="Text 16"/>
          <p:cNvSpPr txBox="1"/>
          <p:nvPr/>
        </p:nvSpPr>
        <p:spPr>
          <a:xfrm>
            <a:off x="4709160" y="2679192"/>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ACHIEVED</a:t>
            </a:r>
            <a:endParaRPr lang="en-US" sz="1000" dirty="0"/>
          </a:p>
        </p:txBody>
      </p:sp>
      <p:sp>
        <p:nvSpPr>
          <p:cNvPr id="19" name="Shape 17"/>
          <p:cNvSpPr/>
          <p:nvPr/>
        </p:nvSpPr>
        <p:spPr>
          <a:xfrm>
            <a:off x="548640" y="3218688"/>
            <a:ext cx="438912" cy="438912"/>
          </a:xfrm>
          <a:prstGeom prst="ellipse">
            <a:avLst/>
          </a:prstGeom>
          <a:solidFill>
            <a:schemeClr val="accent3"/>
          </a:solidFill>
          <a:ln/>
        </p:spPr>
      </p:sp>
      <p:sp>
        <p:nvSpPr>
          <p:cNvPr id="20" name="Text 18"/>
          <p:cNvSpPr txBox="1"/>
          <p:nvPr/>
        </p:nvSpPr>
        <p:spPr>
          <a:xfrm>
            <a:off x="548640" y="321868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143000" y="3145536"/>
            <a:ext cx="3520440" cy="585216"/>
          </a:xfrm>
          <a:prstGeom prst="rect">
            <a:avLst/>
          </a:prstGeom>
          <a:noFill/>
          <a:ln/>
        </p:spPr>
        <p:txBody>
          <a:bodyPr wrap="square" lIns="0" tIns="0" rIns="0" bIns="0" rtlCol="0" anchor="ctr"/>
          <a:lstStyle/>
          <a:p>
            <a:pPr indent="0" marL="0">
              <a:buNone/>
            </a:pPr>
            <a:r>
              <a:rPr lang="en-US" sz="1400" dirty="0">
                <a:solidFill>
                  <a:schemeClr val="tx1"/>
                </a:solidFill>
              </a:rPr>
              <a:t>Candidate optimization mechanisms identified</a:t>
            </a:r>
            <a:endParaRPr lang="en-US" sz="1400" dirty="0"/>
          </a:p>
        </p:txBody>
      </p:sp>
      <p:sp>
        <p:nvSpPr>
          <p:cNvPr id="22" name="Shape 20"/>
          <p:cNvSpPr/>
          <p:nvPr/>
        </p:nvSpPr>
        <p:spPr>
          <a:xfrm>
            <a:off x="4709160" y="3300984"/>
            <a:ext cx="1600200" cy="274320"/>
          </a:xfrm>
          <a:prstGeom prst="roundRect">
            <a:avLst>
              <a:gd name="adj" fmla="val 50000"/>
            </a:avLst>
          </a:prstGeom>
          <a:solidFill>
            <a:schemeClr val="accent3"/>
          </a:solidFill>
          <a:ln/>
        </p:spPr>
      </p:sp>
      <p:sp>
        <p:nvSpPr>
          <p:cNvPr id="23" name="Text 21"/>
          <p:cNvSpPr txBox="1"/>
          <p:nvPr/>
        </p:nvSpPr>
        <p:spPr>
          <a:xfrm>
            <a:off x="4709160" y="3300984"/>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PARTIAL</a:t>
            </a:r>
            <a:endParaRPr lang="en-US" sz="1000" dirty="0"/>
          </a:p>
        </p:txBody>
      </p:sp>
      <p:sp>
        <p:nvSpPr>
          <p:cNvPr id="24" name="Shape 22"/>
          <p:cNvSpPr/>
          <p:nvPr/>
        </p:nvSpPr>
        <p:spPr>
          <a:xfrm>
            <a:off x="548640" y="3840480"/>
            <a:ext cx="438912" cy="438912"/>
          </a:xfrm>
          <a:prstGeom prst="ellipse">
            <a:avLst/>
          </a:prstGeom>
          <a:solidFill>
            <a:schemeClr val="accent5"/>
          </a:solidFill>
          <a:ln/>
        </p:spPr>
      </p:sp>
      <p:sp>
        <p:nvSpPr>
          <p:cNvPr id="25" name="Text 23"/>
          <p:cNvSpPr txBox="1"/>
          <p:nvPr/>
        </p:nvSpPr>
        <p:spPr>
          <a:xfrm>
            <a:off x="548640" y="38404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1143000" y="3767328"/>
            <a:ext cx="3520440" cy="585216"/>
          </a:xfrm>
          <a:prstGeom prst="rect">
            <a:avLst/>
          </a:prstGeom>
          <a:noFill/>
          <a:ln/>
        </p:spPr>
        <p:txBody>
          <a:bodyPr wrap="square" lIns="0" tIns="0" rIns="0" bIns="0" rtlCol="0" anchor="ctr"/>
          <a:lstStyle/>
          <a:p>
            <a:pPr indent="0" marL="0">
              <a:buNone/>
            </a:pPr>
            <a:r>
              <a:rPr lang="en-US" sz="1400" b="1" dirty="0">
                <a:solidFill>
                  <a:schemeClr val="tx1"/>
                </a:solidFill>
              </a:rPr>
              <a:t>Reproducible full-field improvement</a:t>
            </a:r>
            <a:endParaRPr lang="en-US" sz="1400" dirty="0"/>
          </a:p>
        </p:txBody>
      </p:sp>
      <p:sp>
        <p:nvSpPr>
          <p:cNvPr id="27" name="Shape 25"/>
          <p:cNvSpPr/>
          <p:nvPr/>
        </p:nvSpPr>
        <p:spPr>
          <a:xfrm>
            <a:off x="4709160" y="3922776"/>
            <a:ext cx="1600200" cy="274320"/>
          </a:xfrm>
          <a:prstGeom prst="roundRect">
            <a:avLst>
              <a:gd name="adj" fmla="val 50000"/>
            </a:avLst>
          </a:prstGeom>
          <a:solidFill>
            <a:schemeClr val="accent5"/>
          </a:solidFill>
          <a:ln/>
        </p:spPr>
      </p:sp>
      <p:sp>
        <p:nvSpPr>
          <p:cNvPr id="28" name="Text 26"/>
          <p:cNvSpPr txBox="1"/>
          <p:nvPr/>
        </p:nvSpPr>
        <p:spPr>
          <a:xfrm>
            <a:off x="4709160" y="3922776"/>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NOT YET DONE</a:t>
            </a:r>
            <a:endParaRPr lang="en-US" sz="1000" dirty="0"/>
          </a:p>
        </p:txBody>
      </p:sp>
      <p:sp>
        <p:nvSpPr>
          <p:cNvPr id="29" name="Shape 27"/>
          <p:cNvSpPr/>
          <p:nvPr/>
        </p:nvSpPr>
        <p:spPr>
          <a:xfrm>
            <a:off x="548640" y="4462272"/>
            <a:ext cx="438912" cy="438912"/>
          </a:xfrm>
          <a:prstGeom prst="ellipse">
            <a:avLst/>
          </a:prstGeom>
          <a:solidFill>
            <a:schemeClr val="accent5"/>
          </a:solidFill>
          <a:ln/>
        </p:spPr>
      </p:sp>
      <p:sp>
        <p:nvSpPr>
          <p:cNvPr id="30" name="Text 28"/>
          <p:cNvSpPr txBox="1"/>
          <p:nvPr/>
        </p:nvSpPr>
        <p:spPr>
          <a:xfrm>
            <a:off x="548640" y="446227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1143000" y="4389120"/>
            <a:ext cx="3520440" cy="585216"/>
          </a:xfrm>
          <a:prstGeom prst="rect">
            <a:avLst/>
          </a:prstGeom>
          <a:noFill/>
          <a:ln/>
        </p:spPr>
        <p:txBody>
          <a:bodyPr wrap="square" lIns="0" tIns="0" rIns="0" bIns="0" rtlCol="0" anchor="ctr"/>
          <a:lstStyle/>
          <a:p>
            <a:pPr indent="0" marL="0">
              <a:buNone/>
            </a:pPr>
            <a:r>
              <a:rPr lang="en-US" sz="1400" dirty="0">
                <a:solidFill>
                  <a:schemeClr val="tx1"/>
                </a:solidFill>
              </a:rPr>
              <a:t>Compute-efficient optimized PINN</a:t>
            </a:r>
            <a:endParaRPr lang="en-US" sz="1400" dirty="0"/>
          </a:p>
        </p:txBody>
      </p:sp>
      <p:sp>
        <p:nvSpPr>
          <p:cNvPr id="32" name="Shape 30"/>
          <p:cNvSpPr/>
          <p:nvPr/>
        </p:nvSpPr>
        <p:spPr>
          <a:xfrm>
            <a:off x="4709160" y="4544568"/>
            <a:ext cx="1600200" cy="274320"/>
          </a:xfrm>
          <a:prstGeom prst="roundRect">
            <a:avLst>
              <a:gd name="adj" fmla="val 50000"/>
            </a:avLst>
          </a:prstGeom>
          <a:solidFill>
            <a:schemeClr val="accent5"/>
          </a:solidFill>
          <a:ln/>
        </p:spPr>
      </p:sp>
      <p:sp>
        <p:nvSpPr>
          <p:cNvPr id="33" name="Text 31"/>
          <p:cNvSpPr txBox="1"/>
          <p:nvPr/>
        </p:nvSpPr>
        <p:spPr>
          <a:xfrm>
            <a:off x="4709160" y="4544568"/>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NOT YET DONE</a:t>
            </a:r>
            <a:endParaRPr lang="en-US" sz="1000" dirty="0"/>
          </a:p>
        </p:txBody>
      </p:sp>
      <p:sp>
        <p:nvSpPr>
          <p:cNvPr id="34" name="Shape 32"/>
          <p:cNvSpPr/>
          <p:nvPr/>
        </p:nvSpPr>
        <p:spPr>
          <a:xfrm>
            <a:off x="548640" y="5084064"/>
            <a:ext cx="438912" cy="438912"/>
          </a:xfrm>
          <a:prstGeom prst="ellipse">
            <a:avLst/>
          </a:prstGeom>
          <a:solidFill>
            <a:schemeClr val="accent5"/>
          </a:solidFill>
          <a:ln/>
        </p:spPr>
      </p:sp>
      <p:sp>
        <p:nvSpPr>
          <p:cNvPr id="35" name="Text 33"/>
          <p:cNvSpPr txBox="1"/>
          <p:nvPr/>
        </p:nvSpPr>
        <p:spPr>
          <a:xfrm>
            <a:off x="548640" y="5084064"/>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4"/>
          <p:cNvSpPr txBox="1"/>
          <p:nvPr/>
        </p:nvSpPr>
        <p:spPr>
          <a:xfrm>
            <a:off x="1143000" y="5010912"/>
            <a:ext cx="3520440" cy="585216"/>
          </a:xfrm>
          <a:prstGeom prst="rect">
            <a:avLst/>
          </a:prstGeom>
          <a:noFill/>
          <a:ln/>
        </p:spPr>
        <p:txBody>
          <a:bodyPr wrap="square" lIns="0" tIns="0" rIns="0" bIns="0" rtlCol="0" anchor="ctr"/>
          <a:lstStyle/>
          <a:p>
            <a:pPr indent="0" marL="0">
              <a:buNone/>
            </a:pPr>
            <a:r>
              <a:rPr lang="en-US" sz="1400" dirty="0">
                <a:solidFill>
                  <a:schemeClr val="tx1"/>
                </a:solidFill>
              </a:rPr>
              <a:t>Railway validation</a:t>
            </a:r>
            <a:endParaRPr lang="en-US" sz="1400" dirty="0"/>
          </a:p>
        </p:txBody>
      </p:sp>
      <p:sp>
        <p:nvSpPr>
          <p:cNvPr id="37" name="Shape 35"/>
          <p:cNvSpPr/>
          <p:nvPr/>
        </p:nvSpPr>
        <p:spPr>
          <a:xfrm>
            <a:off x="4709160" y="5166360"/>
            <a:ext cx="1600200" cy="274320"/>
          </a:xfrm>
          <a:prstGeom prst="roundRect">
            <a:avLst>
              <a:gd name="adj" fmla="val 50000"/>
            </a:avLst>
          </a:prstGeom>
          <a:solidFill>
            <a:schemeClr val="accent5"/>
          </a:solidFill>
          <a:ln/>
        </p:spPr>
      </p:sp>
      <p:sp>
        <p:nvSpPr>
          <p:cNvPr id="38" name="Text 36"/>
          <p:cNvSpPr txBox="1"/>
          <p:nvPr/>
        </p:nvSpPr>
        <p:spPr>
          <a:xfrm>
            <a:off x="4709160" y="5166360"/>
            <a:ext cx="1600200" cy="274320"/>
          </a:xfrm>
          <a:prstGeom prst="rect">
            <a:avLst/>
          </a:prstGeom>
          <a:noFill/>
          <a:ln/>
        </p:spPr>
        <p:txBody>
          <a:bodyPr wrap="square" lIns="0" tIns="0" rIns="0" bIns="0" rtlCol="0" anchor="ctr"/>
          <a:lstStyle/>
          <a:p>
            <a:pPr algn="ctr" indent="0" marL="0">
              <a:buNone/>
            </a:pPr>
            <a:r>
              <a:rPr lang="en-US" sz="1000" b="1" dirty="0">
                <a:solidFill>
                  <a:schemeClr val="bg1"/>
                </a:solidFill>
              </a:rPr>
              <a:t>NOT YET DONE</a:t>
            </a:r>
            <a:endParaRPr lang="en-US" sz="1000" dirty="0"/>
          </a:p>
        </p:txBody>
      </p:sp>
      <p:sp>
        <p:nvSpPr>
          <p:cNvPr id="39" name="card"/>
          <p:cNvSpPr/>
          <p:nvPr/>
        </p:nvSpPr>
        <p:spPr>
          <a:xfrm>
            <a:off x="6675120" y="1280160"/>
            <a:ext cx="4983480" cy="1965960"/>
          </a:xfrm>
          <a:prstGeom prst="roundRect">
            <a:avLst>
              <a:gd name="adj" fmla="val 3721"/>
            </a:avLst>
          </a:prstGeom>
          <a:solidFill>
            <a:schemeClr val="bg2"/>
          </a:solidFill>
          <a:ln/>
        </p:spPr>
      </p:sp>
      <p:sp>
        <p:nvSpPr>
          <p:cNvPr id="40" name="Text 38"/>
          <p:cNvSpPr txBox="1"/>
          <p:nvPr/>
        </p:nvSpPr>
        <p:spPr>
          <a:xfrm>
            <a:off x="6858000" y="1371600"/>
            <a:ext cx="4663440" cy="365760"/>
          </a:xfrm>
          <a:prstGeom prst="rect">
            <a:avLst/>
          </a:prstGeom>
          <a:noFill/>
          <a:ln/>
        </p:spPr>
        <p:txBody>
          <a:bodyPr wrap="square" lIns="0" tIns="0" rIns="0" bIns="0" rtlCol="0" anchor="ctr"/>
          <a:lstStyle/>
          <a:p>
            <a:pPr indent="0" marL="0">
              <a:buNone/>
            </a:pPr>
            <a:r>
              <a:rPr lang="en-US" sz="1400" b="1" dirty="0">
                <a:solidFill>
                  <a:schemeClr val="tx2"/>
                </a:solidFill>
              </a:rPr>
              <a:t>Full-field reference (B1, 640k evaluations)</a:t>
            </a:r>
            <a:endParaRPr lang="en-US" sz="1400" dirty="0"/>
          </a:p>
        </p:txBody>
      </p:sp>
      <p:sp>
        <p:nvSpPr>
          <p:cNvPr id="41" name="Text 39"/>
          <p:cNvSpPr txBox="1"/>
          <p:nvPr/>
        </p:nvSpPr>
        <p:spPr>
          <a:xfrm>
            <a:off x="6858000" y="1737360"/>
            <a:ext cx="2377440" cy="10972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L2 0.526</a:t>
            </a:r>
            <a:endParaRPr lang="en-US" sz="2600" dirty="0"/>
          </a:p>
          <a:p>
            <a:pPr indent="0" marL="0">
              <a:buNone/>
            </a:pPr>
            <a:r>
              <a:rPr lang="en-US" sz="2600" b="1" dirty="0">
                <a:solidFill>
                  <a:schemeClr val="accent1"/>
                </a:solidFill>
                <a:latin typeface="Cambria" pitchFamily="34" charset="0"/>
                <a:ea typeface="Cambria" pitchFamily="34" charset="-122"/>
                <a:cs typeface="Cambria" pitchFamily="34" charset="-120"/>
              </a:rPr>
              <a:t>3.15 cycles</a:t>
            </a:r>
            <a:endParaRPr lang="en-US" sz="2600" dirty="0"/>
          </a:p>
        </p:txBody>
      </p:sp>
      <p:sp>
        <p:nvSpPr>
          <p:cNvPr id="42" name="Text 40"/>
          <p:cNvSpPr txBox="1"/>
          <p:nvPr/>
        </p:nvSpPr>
        <p:spPr>
          <a:xfrm>
            <a:off x="9281160" y="1783080"/>
            <a:ext cx="2286000" cy="1097280"/>
          </a:xfrm>
          <a:prstGeom prst="rect">
            <a:avLst/>
          </a:prstGeom>
          <a:noFill/>
          <a:ln/>
        </p:spPr>
        <p:txBody>
          <a:bodyPr wrap="square" lIns="0" tIns="0" rIns="0" bIns="0" rtlCol="0" anchor="ctr"/>
          <a:lstStyle/>
          <a:p>
            <a:pPr indent="0" marL="0">
              <a:buNone/>
            </a:pPr>
            <a:r>
              <a:rPr lang="en-US" sz="1200" dirty="0">
                <a:solidFill>
                  <a:schemeClr val="tx1"/>
                </a:solidFill>
              </a:rPr>
              <a:t>seed 1234; across 3 seeds L2 0.402–0.549, 3.11–5.10 of 20.58 cycles</a:t>
            </a:r>
            <a:endParaRPr lang="en-US" sz="1200" dirty="0"/>
          </a:p>
        </p:txBody>
      </p:sp>
      <p:sp>
        <p:nvSpPr>
          <p:cNvPr id="43" name="card"/>
          <p:cNvSpPr/>
          <p:nvPr/>
        </p:nvSpPr>
        <p:spPr>
          <a:xfrm>
            <a:off x="6675120" y="3383280"/>
            <a:ext cx="4983480" cy="1965960"/>
          </a:xfrm>
          <a:prstGeom prst="roundRect">
            <a:avLst>
              <a:gd name="adj" fmla="val 3721"/>
            </a:avLst>
          </a:prstGeom>
          <a:solidFill>
            <a:schemeClr val="bg2"/>
          </a:solidFill>
          <a:ln/>
        </p:spPr>
      </p:sp>
      <p:sp>
        <p:nvSpPr>
          <p:cNvPr id="44" name="Text 42"/>
          <p:cNvSpPr txBox="1"/>
          <p:nvPr/>
        </p:nvSpPr>
        <p:spPr>
          <a:xfrm>
            <a:off x="6858000" y="3474720"/>
            <a:ext cx="4663440" cy="365760"/>
          </a:xfrm>
          <a:prstGeom prst="rect">
            <a:avLst/>
          </a:prstGeom>
          <a:noFill/>
          <a:ln/>
        </p:spPr>
        <p:txBody>
          <a:bodyPr wrap="square" lIns="0" tIns="0" rIns="0" bIns="0" rtlCol="0" anchor="ctr"/>
          <a:lstStyle/>
          <a:p>
            <a:pPr indent="0" marL="0">
              <a:buNone/>
            </a:pPr>
            <a:r>
              <a:rPr lang="en-US" sz="1400" b="1" dirty="0">
                <a:solidFill>
                  <a:schemeClr val="tx2"/>
                </a:solidFill>
              </a:rPr>
              <a:t>Best modal diagnostic (Adam → L-BFGS)</a:t>
            </a:r>
            <a:endParaRPr lang="en-US" sz="1400" dirty="0"/>
          </a:p>
        </p:txBody>
      </p:sp>
      <p:sp>
        <p:nvSpPr>
          <p:cNvPr id="45" name="Text 43"/>
          <p:cNvSpPr txBox="1"/>
          <p:nvPr/>
        </p:nvSpPr>
        <p:spPr>
          <a:xfrm>
            <a:off x="6858000" y="3840480"/>
            <a:ext cx="2834640" cy="109728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L2 0.038–0.093</a:t>
            </a:r>
            <a:endParaRPr lang="en-US" sz="2600" dirty="0"/>
          </a:p>
          <a:p>
            <a:pPr indent="0" marL="0">
              <a:buNone/>
            </a:pPr>
            <a:r>
              <a:rPr lang="en-US" sz="2600" b="1" dirty="0">
                <a:solidFill>
                  <a:schemeClr val="accent3"/>
                </a:solidFill>
                <a:latin typeface="Cambria" pitchFamily="34" charset="0"/>
                <a:ea typeface="Cambria" pitchFamily="34" charset="-122"/>
                <a:cs typeface="Cambria" pitchFamily="34" charset="-120"/>
              </a:rPr>
              <a:t>20.58 cycles</a:t>
            </a:r>
            <a:endParaRPr lang="en-US" sz="2600" dirty="0"/>
          </a:p>
        </p:txBody>
      </p:sp>
      <p:sp>
        <p:nvSpPr>
          <p:cNvPr id="46" name="Text 44"/>
          <p:cNvSpPr txBox="1"/>
          <p:nvPr/>
        </p:nvSpPr>
        <p:spPr>
          <a:xfrm>
            <a:off x="9738360" y="3886200"/>
            <a:ext cx="1828800" cy="1097280"/>
          </a:xfrm>
          <a:prstGeom prst="rect">
            <a:avLst/>
          </a:prstGeom>
          <a:noFill/>
          <a:ln/>
        </p:spPr>
        <p:txBody>
          <a:bodyPr wrap="square" lIns="0" tIns="0" rIns="0" bIns="0" rtlCol="0" anchor="ctr"/>
          <a:lstStyle/>
          <a:p>
            <a:pPr indent="0" marL="0">
              <a:buNone/>
            </a:pPr>
            <a:r>
              <a:rPr lang="en-US" sz="1200" dirty="0">
                <a:solidFill>
                  <a:schemeClr val="tx1"/>
                </a:solidFill>
              </a:rPr>
              <a:t>3/3 seeds · exact spatial mode supplied — not the optimized PINN</a:t>
            </a:r>
            <a:endParaRPr lang="en-US" sz="1200" dirty="0"/>
          </a:p>
        </p:txBody>
      </p:sp>
      <p:sp>
        <p:nvSpPr>
          <p:cNvPr id="47" name="Shape 45"/>
          <p:cNvSpPr/>
          <p:nvPr/>
        </p:nvSpPr>
        <p:spPr>
          <a:xfrm>
            <a:off x="6675120" y="5486400"/>
            <a:ext cx="4983480" cy="685800"/>
          </a:xfrm>
          <a:prstGeom prst="roundRect">
            <a:avLst>
              <a:gd name="adj" fmla="val 10667"/>
            </a:avLst>
          </a:prstGeom>
          <a:solidFill>
            <a:schemeClr val="tx2"/>
          </a:solidFill>
          <a:ln/>
        </p:spPr>
      </p:sp>
      <p:sp>
        <p:nvSpPr>
          <p:cNvPr id="48" name="Text 46"/>
          <p:cNvSpPr txBox="1"/>
          <p:nvPr/>
        </p:nvSpPr>
        <p:spPr>
          <a:xfrm>
            <a:off x="6858000" y="5486400"/>
            <a:ext cx="4663440" cy="685800"/>
          </a:xfrm>
          <a:prstGeom prst="rect">
            <a:avLst/>
          </a:prstGeom>
          <a:noFill/>
          <a:ln/>
        </p:spPr>
        <p:txBody>
          <a:bodyPr wrap="square" lIns="0" tIns="0" rIns="0" bIns="0" rtlCol="0" anchor="ctr"/>
          <a:lstStyle/>
          <a:p>
            <a:pPr indent="0" marL="0">
              <a:buNone/>
            </a:pPr>
            <a:r>
              <a:rPr lang="en-US" sz="1400" b="1" dirty="0">
                <a:solidFill>
                  <a:schemeClr val="bg1"/>
                </a:solidFill>
              </a:rPr>
              <a:t>Closing this gap on the coupled full field is the central open problem.</a:t>
            </a:r>
            <a:endParaRPr lang="en-US" sz="1400" dirty="0"/>
          </a:p>
        </p:txBody>
      </p:sp>
      <p:sp>
        <p:nvSpPr>
          <p:cNvPr id="49" name="Text 47"/>
          <p:cNvSpPr txBox="1"/>
          <p:nvPr/>
        </p:nvSpPr>
        <p:spPr>
          <a:xfrm>
            <a:off x="548640" y="5715000"/>
            <a:ext cx="5852160" cy="548640"/>
          </a:xfrm>
          <a:prstGeom prst="rect">
            <a:avLst/>
          </a:prstGeom>
          <a:noFill/>
          <a:ln/>
        </p:spPr>
        <p:txBody>
          <a:bodyPr wrap="square" lIns="0" tIns="0" rIns="0" bIns="0" rtlCol="0" anchor="ctr"/>
          <a:lstStyle/>
          <a:p>
            <a:pPr indent="0" marL="0">
              <a:buNone/>
            </a:pPr>
            <a:r>
              <a:rPr lang="en-US" sz="1200" i="1" dirty="0">
                <a:solidFill>
                  <a:srgbClr val="5E6B7A"/>
                </a:solidFill>
              </a:rPr>
              <a:t>Batch-1 best full-field run: L2 0.263, 8.09 cycles at 4× compute (2.56M evaluations, 1 seed), still collapsing at 0.393 s.</a:t>
            </a:r>
            <a:endParaRPr lang="en-US" sz="12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Path to the railway application</a:t>
            </a:r>
            <a:endParaRPr lang="en-US" sz="3000" dirty="0"/>
          </a:p>
        </p:txBody>
      </p:sp>
      <p:sp>
        <p:nvSpPr>
          <p:cNvPr id="3" name="Text 0"/>
          <p:cNvSpPr/>
          <p:nvPr>
            <p:ph idx="101" type="body" hasCustomPrompt="1"/>
          </p:nvPr>
        </p:nvSpPr>
        <p:spPr>
          <a:xfrm>
            <a:off x="548640" y="6382512"/>
            <a:ext cx="10607040" cy="329184"/>
          </a:xfrm>
          <a:prstGeom prst="rect">
            <a:avLst/>
          </a:prstGeom>
          <a:noFill/>
          <a:ln/>
        </p:spPr>
        <p:txBody>
          <a:bodyPr wrap="square" lIns="0" tIns="0" rIns="0" bIns="0" rtlCol="0" anchor="ctr"/>
          <a:lstStyle/>
          <a:p>
            <a:pPr algn="l" indent="0" marL="0">
              <a:buNone/>
            </a:pPr>
            <a:r>
              <a:rPr lang="en-US" sz="1000" dirty="0">
                <a:solidFill>
                  <a:schemeClr val="accent5"/>
                </a:solidFill>
              </a:rPr>
              <a:t>Source: planned validation path (not executed); literature context: docs/LITERATURE_MATRIX.md (H2, H3: Kapoor et al., beams on Winkler foundation, moving loads) · commit cdd87b5</a:t>
            </a:r>
            <a:endParaRPr lang="en-US" sz="1000" dirty="0"/>
          </a:p>
        </p:txBody>
      </p:sp>
      <p:sp>
        <p:nvSpPr>
          <p:cNvPr id="4" name="status-bg"/>
          <p:cNvSpPr/>
          <p:nvPr/>
        </p:nvSpPr>
        <p:spPr>
          <a:xfrm>
            <a:off x="9265615" y="530352"/>
            <a:ext cx="2377440" cy="347472"/>
          </a:xfrm>
          <a:prstGeom prst="roundRect">
            <a:avLst>
              <a:gd name="adj" fmla="val 50000"/>
            </a:avLst>
          </a:prstGeom>
          <a:solidFill>
            <a:schemeClr val="accent5"/>
          </a:solidFill>
          <a:ln/>
        </p:spPr>
      </p:sp>
      <p:sp>
        <p:nvSpPr>
          <p:cNvPr id="5" name="status"/>
          <p:cNvSpPr txBox="1"/>
          <p:nvPr/>
        </p:nvSpPr>
        <p:spPr>
          <a:xfrm>
            <a:off x="9265615" y="530352"/>
            <a:ext cx="2377440" cy="347472"/>
          </a:xfrm>
          <a:prstGeom prst="rect">
            <a:avLst/>
          </a:prstGeom>
          <a:noFill/>
          <a:ln/>
        </p:spPr>
        <p:txBody>
          <a:bodyPr wrap="square" lIns="0" tIns="0" rIns="0" bIns="0" rtlCol="0" anchor="ctr"/>
          <a:lstStyle/>
          <a:p>
            <a:pPr algn="ctr" indent="0" marL="0">
              <a:buNone/>
            </a:pPr>
            <a:r>
              <a:rPr lang="en-US" sz="1100" b="1" spc="100" kern="0" dirty="0">
                <a:solidFill>
                  <a:schemeClr val="bg1"/>
                </a:solidFill>
              </a:rPr>
              <a:t>FUTURE WORK</a:t>
            </a:r>
            <a:endParaRPr lang="en-US" sz="1100" dirty="0"/>
          </a:p>
        </p:txBody>
      </p:sp>
      <p:sp>
        <p:nvSpPr>
          <p:cNvPr id="6" name="Shape 4"/>
          <p:cNvSpPr/>
          <p:nvPr/>
        </p:nvSpPr>
        <p:spPr>
          <a:xfrm>
            <a:off x="548640" y="1280160"/>
            <a:ext cx="5120640" cy="731520"/>
          </a:xfrm>
          <a:prstGeom prst="roundRect">
            <a:avLst>
              <a:gd name="adj" fmla="val 10000"/>
            </a:avLst>
          </a:prstGeom>
          <a:solidFill>
            <a:schemeClr val="accent1"/>
          </a:solidFill>
          <a:ln/>
        </p:spPr>
      </p:sp>
      <p:sp>
        <p:nvSpPr>
          <p:cNvPr id="7" name="Text 5"/>
          <p:cNvSpPr txBox="1"/>
          <p:nvPr/>
        </p:nvSpPr>
        <p:spPr>
          <a:xfrm>
            <a:off x="731520" y="1280160"/>
            <a:ext cx="4754880" cy="731520"/>
          </a:xfrm>
          <a:prstGeom prst="rect">
            <a:avLst/>
          </a:prstGeom>
          <a:noFill/>
          <a:ln/>
        </p:spPr>
        <p:txBody>
          <a:bodyPr wrap="square" lIns="0" tIns="0" rIns="0" bIns="0" rtlCol="0" anchor="ctr"/>
          <a:lstStyle/>
          <a:p>
            <a:pPr indent="0" marL="0">
              <a:buNone/>
            </a:pPr>
            <a:r>
              <a:rPr lang="en-US" sz="1500" b="1" dirty="0">
                <a:solidFill>
                  <a:schemeClr val="bg1"/>
                </a:solidFill>
              </a:rPr>
              <a:t>Beam-vibration benchmark</a:t>
            </a:r>
            <a:endParaRPr lang="en-US" sz="1500" dirty="0"/>
          </a:p>
          <a:p>
            <a:pPr indent="0" marL="0">
              <a:buNone/>
            </a:pPr>
            <a:r>
              <a:rPr lang="en-US" sz="1200" dirty="0">
                <a:solidFill>
                  <a:schemeClr val="bg1"/>
                </a:solidFill>
              </a:rPr>
              <a:t>current work (in progress)</a:t>
            </a:r>
            <a:endParaRPr lang="en-US" sz="1500" dirty="0"/>
          </a:p>
        </p:txBody>
      </p:sp>
      <p:sp>
        <p:nvSpPr>
          <p:cNvPr id="8" name="Shape 6"/>
          <p:cNvSpPr/>
          <p:nvPr/>
        </p:nvSpPr>
        <p:spPr>
          <a:xfrm>
            <a:off x="2971800" y="2029968"/>
            <a:ext cx="274320" cy="201168"/>
          </a:xfrm>
          <a:prstGeom prst="downArrow">
            <a:avLst/>
          </a:prstGeom>
          <a:solidFill>
            <a:schemeClr val="accent5"/>
          </a:solidFill>
          <a:ln/>
        </p:spPr>
      </p:sp>
      <p:sp>
        <p:nvSpPr>
          <p:cNvPr id="9" name="Shape 7"/>
          <p:cNvSpPr/>
          <p:nvPr/>
        </p:nvSpPr>
        <p:spPr>
          <a:xfrm>
            <a:off x="548640" y="2258568"/>
            <a:ext cx="5120640" cy="731520"/>
          </a:xfrm>
          <a:prstGeom prst="roundRect">
            <a:avLst>
              <a:gd name="adj" fmla="val 10000"/>
            </a:avLst>
          </a:prstGeom>
          <a:solidFill>
            <a:schemeClr val="bg2"/>
          </a:solidFill>
          <a:ln w="12700">
            <a:solidFill>
              <a:schemeClr val="accent5"/>
            </a:solidFill>
            <a:prstDash val="dash"/>
          </a:ln>
        </p:spPr>
      </p:sp>
      <p:sp>
        <p:nvSpPr>
          <p:cNvPr id="10" name="Text 8"/>
          <p:cNvSpPr txBox="1"/>
          <p:nvPr/>
        </p:nvSpPr>
        <p:spPr>
          <a:xfrm>
            <a:off x="731520" y="2258568"/>
            <a:ext cx="4754880" cy="731520"/>
          </a:xfrm>
          <a:prstGeom prst="rect">
            <a:avLst/>
          </a:prstGeom>
          <a:noFill/>
          <a:ln/>
        </p:spPr>
        <p:txBody>
          <a:bodyPr wrap="square" lIns="0" tIns="0" rIns="0" bIns="0" rtlCol="0" anchor="ctr"/>
          <a:lstStyle/>
          <a:p>
            <a:pPr indent="0" marL="0">
              <a:buNone/>
            </a:pPr>
            <a:r>
              <a:rPr lang="en-US" sz="1500" b="1" dirty="0">
                <a:solidFill>
                  <a:schemeClr val="tx1"/>
                </a:solidFill>
              </a:rPr>
              <a:t>Full-field optimized PINN</a:t>
            </a:r>
            <a:endParaRPr lang="en-US" sz="1500" dirty="0"/>
          </a:p>
          <a:p>
            <a:pPr indent="0" marL="0">
              <a:buNone/>
            </a:pPr>
            <a:r>
              <a:rPr lang="en-US" sz="1200" dirty="0">
                <a:solidFill>
                  <a:schemeClr val="tx1"/>
                </a:solidFill>
              </a:rPr>
              <a:t>not yet achieved</a:t>
            </a:r>
            <a:endParaRPr lang="en-US" sz="1500" dirty="0"/>
          </a:p>
        </p:txBody>
      </p:sp>
      <p:sp>
        <p:nvSpPr>
          <p:cNvPr id="11" name="Shape 9"/>
          <p:cNvSpPr/>
          <p:nvPr/>
        </p:nvSpPr>
        <p:spPr>
          <a:xfrm>
            <a:off x="2971800" y="3008376"/>
            <a:ext cx="274320" cy="201168"/>
          </a:xfrm>
          <a:prstGeom prst="downArrow">
            <a:avLst/>
          </a:prstGeom>
          <a:solidFill>
            <a:schemeClr val="accent5"/>
          </a:solidFill>
          <a:ln/>
        </p:spPr>
      </p:sp>
      <p:sp>
        <p:nvSpPr>
          <p:cNvPr id="12" name="Shape 10"/>
          <p:cNvSpPr/>
          <p:nvPr/>
        </p:nvSpPr>
        <p:spPr>
          <a:xfrm>
            <a:off x="548640" y="3236976"/>
            <a:ext cx="5120640" cy="731520"/>
          </a:xfrm>
          <a:prstGeom prst="roundRect">
            <a:avLst>
              <a:gd name="adj" fmla="val 10000"/>
            </a:avLst>
          </a:prstGeom>
          <a:solidFill>
            <a:schemeClr val="bg2"/>
          </a:solidFill>
          <a:ln w="12700">
            <a:solidFill>
              <a:schemeClr val="accent5"/>
            </a:solidFill>
            <a:prstDash val="dash"/>
          </a:ln>
        </p:spPr>
      </p:sp>
      <p:sp>
        <p:nvSpPr>
          <p:cNvPr id="13" name="Text 11"/>
          <p:cNvSpPr txBox="1"/>
          <p:nvPr/>
        </p:nvSpPr>
        <p:spPr>
          <a:xfrm>
            <a:off x="731520" y="3236976"/>
            <a:ext cx="4754880" cy="731520"/>
          </a:xfrm>
          <a:prstGeom prst="rect">
            <a:avLst/>
          </a:prstGeom>
          <a:noFill/>
          <a:ln/>
        </p:spPr>
        <p:txBody>
          <a:bodyPr wrap="square" lIns="0" tIns="0" rIns="0" bIns="0" rtlCol="0" anchor="ctr"/>
          <a:lstStyle/>
          <a:p>
            <a:pPr indent="0" marL="0">
              <a:buNone/>
            </a:pPr>
            <a:r>
              <a:rPr lang="en-US" sz="1500" b="1" dirty="0">
                <a:solidFill>
                  <a:schemeClr val="tx1"/>
                </a:solidFill>
              </a:rPr>
              <a:t>Railway vibration / structural dynamics</a:t>
            </a:r>
            <a:endParaRPr lang="en-US" sz="1500" dirty="0"/>
          </a:p>
          <a:p>
            <a:pPr indent="0" marL="0">
              <a:buNone/>
            </a:pPr>
            <a:r>
              <a:rPr lang="en-US" sz="1200" dirty="0">
                <a:solidFill>
                  <a:schemeClr val="tx1"/>
                </a:solidFill>
              </a:rPr>
              <a:t>future</a:t>
            </a:r>
            <a:endParaRPr lang="en-US" sz="1500" dirty="0"/>
          </a:p>
        </p:txBody>
      </p:sp>
      <p:sp>
        <p:nvSpPr>
          <p:cNvPr id="14" name="Shape 12"/>
          <p:cNvSpPr/>
          <p:nvPr/>
        </p:nvSpPr>
        <p:spPr>
          <a:xfrm>
            <a:off x="2971800" y="3986784"/>
            <a:ext cx="274320" cy="201168"/>
          </a:xfrm>
          <a:prstGeom prst="downArrow">
            <a:avLst/>
          </a:prstGeom>
          <a:solidFill>
            <a:schemeClr val="accent5"/>
          </a:solidFill>
          <a:ln/>
        </p:spPr>
      </p:sp>
      <p:sp>
        <p:nvSpPr>
          <p:cNvPr id="15" name="Shape 13"/>
          <p:cNvSpPr/>
          <p:nvPr/>
        </p:nvSpPr>
        <p:spPr>
          <a:xfrm>
            <a:off x="548640" y="4215384"/>
            <a:ext cx="5120640" cy="731520"/>
          </a:xfrm>
          <a:prstGeom prst="roundRect">
            <a:avLst>
              <a:gd name="adj" fmla="val 10000"/>
            </a:avLst>
          </a:prstGeom>
          <a:solidFill>
            <a:schemeClr val="bg2"/>
          </a:solidFill>
          <a:ln w="12700">
            <a:solidFill>
              <a:schemeClr val="accent5"/>
            </a:solidFill>
            <a:prstDash val="dash"/>
          </a:ln>
        </p:spPr>
      </p:sp>
      <p:sp>
        <p:nvSpPr>
          <p:cNvPr id="16" name="Text 14"/>
          <p:cNvSpPr txBox="1"/>
          <p:nvPr/>
        </p:nvSpPr>
        <p:spPr>
          <a:xfrm>
            <a:off x="731520" y="4215384"/>
            <a:ext cx="4754880" cy="731520"/>
          </a:xfrm>
          <a:prstGeom prst="rect">
            <a:avLst/>
          </a:prstGeom>
          <a:noFill/>
          <a:ln/>
        </p:spPr>
        <p:txBody>
          <a:bodyPr wrap="square" lIns="0" tIns="0" rIns="0" bIns="0" rtlCol="0" anchor="ctr"/>
          <a:lstStyle/>
          <a:p>
            <a:pPr indent="0" marL="0">
              <a:buNone/>
            </a:pPr>
            <a:r>
              <a:rPr lang="en-US" sz="1500" b="1" dirty="0">
                <a:solidFill>
                  <a:schemeClr val="tx1"/>
                </a:solidFill>
              </a:rPr>
              <a:t>Wheelset / axle / bearing vibration</a:t>
            </a:r>
            <a:endParaRPr lang="en-US" sz="1500" dirty="0"/>
          </a:p>
          <a:p>
            <a:pPr indent="0" marL="0">
              <a:buNone/>
            </a:pPr>
            <a:r>
              <a:rPr lang="en-US" sz="1200" dirty="0">
                <a:solidFill>
                  <a:schemeClr val="tx1"/>
                </a:solidFill>
              </a:rPr>
              <a:t>future</a:t>
            </a:r>
            <a:endParaRPr lang="en-US" sz="1500" dirty="0"/>
          </a:p>
        </p:txBody>
      </p:sp>
      <p:sp>
        <p:nvSpPr>
          <p:cNvPr id="17" name="Shape 15"/>
          <p:cNvSpPr/>
          <p:nvPr/>
        </p:nvSpPr>
        <p:spPr>
          <a:xfrm>
            <a:off x="2971800" y="4965192"/>
            <a:ext cx="274320" cy="201168"/>
          </a:xfrm>
          <a:prstGeom prst="downArrow">
            <a:avLst/>
          </a:prstGeom>
          <a:solidFill>
            <a:schemeClr val="accent5"/>
          </a:solidFill>
          <a:ln/>
        </p:spPr>
      </p:sp>
      <p:sp>
        <p:nvSpPr>
          <p:cNvPr id="18" name="Shape 16"/>
          <p:cNvSpPr/>
          <p:nvPr/>
        </p:nvSpPr>
        <p:spPr>
          <a:xfrm>
            <a:off x="548640" y="5193792"/>
            <a:ext cx="5120640" cy="731520"/>
          </a:xfrm>
          <a:prstGeom prst="roundRect">
            <a:avLst>
              <a:gd name="adj" fmla="val 10000"/>
            </a:avLst>
          </a:prstGeom>
          <a:solidFill>
            <a:schemeClr val="bg2"/>
          </a:solidFill>
          <a:ln w="12700">
            <a:solidFill>
              <a:schemeClr val="accent5"/>
            </a:solidFill>
            <a:prstDash val="dash"/>
          </a:ln>
        </p:spPr>
      </p:sp>
      <p:sp>
        <p:nvSpPr>
          <p:cNvPr id="19" name="Text 17"/>
          <p:cNvSpPr txBox="1"/>
          <p:nvPr/>
        </p:nvSpPr>
        <p:spPr>
          <a:xfrm>
            <a:off x="731520" y="5193792"/>
            <a:ext cx="4754880" cy="731520"/>
          </a:xfrm>
          <a:prstGeom prst="rect">
            <a:avLst/>
          </a:prstGeom>
          <a:noFill/>
          <a:ln/>
        </p:spPr>
        <p:txBody>
          <a:bodyPr wrap="square" lIns="0" tIns="0" rIns="0" bIns="0" rtlCol="0" anchor="ctr"/>
          <a:lstStyle/>
          <a:p>
            <a:pPr indent="0" marL="0">
              <a:buNone/>
            </a:pPr>
            <a:r>
              <a:rPr lang="en-US" sz="1500" b="1" dirty="0">
                <a:solidFill>
                  <a:schemeClr val="tx1"/>
                </a:solidFill>
              </a:rPr>
              <a:t>Physics-informed condition monitoring</a:t>
            </a:r>
            <a:endParaRPr lang="en-US" sz="1500" dirty="0"/>
          </a:p>
          <a:p>
            <a:pPr indent="0" marL="0">
              <a:buNone/>
            </a:pPr>
            <a:r>
              <a:rPr lang="en-US" sz="1200" dirty="0">
                <a:solidFill>
                  <a:schemeClr val="tx1"/>
                </a:solidFill>
              </a:rPr>
              <a:t>future</a:t>
            </a:r>
            <a:endParaRPr lang="en-US" sz="1500" dirty="0"/>
          </a:p>
        </p:txBody>
      </p:sp>
      <p:sp>
        <p:nvSpPr>
          <p:cNvPr id="20" name="Shape 18"/>
          <p:cNvSpPr/>
          <p:nvPr/>
        </p:nvSpPr>
        <p:spPr>
          <a:xfrm>
            <a:off x="6217920" y="1325880"/>
            <a:ext cx="731520" cy="731520"/>
          </a:xfrm>
          <a:prstGeom prst="ellipse">
            <a:avLst/>
          </a:prstGeom>
          <a:solidFill>
            <a:schemeClr val="accent1"/>
          </a:solidFill>
          <a:ln/>
        </p:spPr>
      </p:sp>
      <p:pic>
        <p:nvPicPr>
          <p:cNvPr id="21" name="Image 0" descr="preencoded.png">    </p:cNvPr>
          <p:cNvPicPr>
            <a:picLocks noChangeAspect="1"/>
          </p:cNvPicPr>
          <p:nvPr/>
        </p:nvPicPr>
        <p:blipFill>
          <a:blip r:embed="rId1"/>
          <a:stretch>
            <a:fillRect/>
          </a:stretch>
        </p:blipFill>
        <p:spPr>
          <a:xfrm>
            <a:off x="6393485" y="1501445"/>
            <a:ext cx="380390" cy="380390"/>
          </a:xfrm>
          <a:prstGeom prst="rect">
            <a:avLst/>
          </a:prstGeom>
        </p:spPr>
      </p:pic>
      <p:sp>
        <p:nvSpPr>
          <p:cNvPr id="22" name="Text 19"/>
          <p:cNvSpPr txBox="1"/>
          <p:nvPr/>
        </p:nvSpPr>
        <p:spPr>
          <a:xfrm>
            <a:off x="7132320" y="1417320"/>
            <a:ext cx="44805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Why start from a beam benchmark</a:t>
            </a:r>
            <a:endParaRPr lang="en-US" sz="1800" dirty="0"/>
          </a:p>
        </p:txBody>
      </p:sp>
      <p:sp>
        <p:nvSpPr>
          <p:cNvPr id="23" name="Text 20"/>
          <p:cNvSpPr txBox="1"/>
          <p:nvPr/>
        </p:nvSpPr>
        <p:spPr>
          <a:xfrm>
            <a:off x="6217920" y="2240280"/>
            <a:ext cx="544068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Exact solution available, so dynamic fidelity (frequency, damping, persistence) is measurable</a:t>
            </a:r>
            <a:endParaRPr lang="en-US" sz="1400" dirty="0"/>
          </a:p>
          <a:p>
            <a:pPr marL="342900" indent="-342900">
              <a:spcAft>
                <a:spcPts val="1000"/>
              </a:spcAft>
              <a:buSzPct val="100000"/>
              <a:buChar char="•"/>
            </a:pPr>
            <a:r>
              <a:rPr lang="en-US" sz="1400" dirty="0">
                <a:solidFill>
                  <a:schemeClr val="tx1"/>
                </a:solidFill>
              </a:rPr>
              <a:t>Euler–Bernoulli beam models are standard building blocks of track and bridge dynamics in the PINN literature (e.g. beams on Winkler foundations, moving loads)</a:t>
            </a:r>
            <a:endParaRPr lang="en-US" sz="1400" dirty="0"/>
          </a:p>
          <a:p>
            <a:pPr marL="342900" indent="-342900">
              <a:spcAft>
                <a:spcPts val="1000"/>
              </a:spcAft>
              <a:buSzPct val="100000"/>
              <a:buChar char="•"/>
            </a:pPr>
            <a:r>
              <a:rPr lang="en-US" sz="1400" dirty="0">
                <a:solidFill>
                  <a:schemeClr val="tx1"/>
                </a:solidFill>
              </a:rPr>
              <a:t>A method must first preserve dynamics on controlled physics before it is trusted on noisy railway measurements</a:t>
            </a:r>
            <a:endParaRPr lang="en-US" sz="1400" dirty="0"/>
          </a:p>
        </p:txBody>
      </p:sp>
      <p:sp>
        <p:nvSpPr>
          <p:cNvPr id="24" name="Shape 21"/>
          <p:cNvSpPr/>
          <p:nvPr/>
        </p:nvSpPr>
        <p:spPr>
          <a:xfrm>
            <a:off x="6217920" y="5074920"/>
            <a:ext cx="5440680" cy="1051560"/>
          </a:xfrm>
          <a:prstGeom prst="roundRect">
            <a:avLst>
              <a:gd name="adj" fmla="val 6957"/>
            </a:avLst>
          </a:prstGeom>
          <a:solidFill>
            <a:schemeClr val="bg2"/>
          </a:solidFill>
          <a:ln w="12700">
            <a:solidFill>
              <a:schemeClr val="accent5"/>
            </a:solidFill>
            <a:prstDash val="solid"/>
          </a:ln>
        </p:spPr>
      </p:sp>
      <p:sp>
        <p:nvSpPr>
          <p:cNvPr id="25" name="Text 22"/>
          <p:cNvSpPr txBox="1"/>
          <p:nvPr/>
        </p:nvSpPr>
        <p:spPr>
          <a:xfrm>
            <a:off x="6400800" y="5120640"/>
            <a:ext cx="5074920" cy="960120"/>
          </a:xfrm>
          <a:prstGeom prst="rect">
            <a:avLst/>
          </a:prstGeom>
          <a:noFill/>
          <a:ln/>
        </p:spPr>
        <p:txBody>
          <a:bodyPr wrap="square" lIns="0" tIns="0" rIns="0" bIns="0" rtlCol="0" anchor="ctr"/>
          <a:lstStyle/>
          <a:p>
            <a:pPr indent="0" marL="0">
              <a:buNone/>
            </a:pPr>
            <a:r>
              <a:rPr lang="en-US" sz="1400" b="1" dirty="0">
                <a:solidFill>
                  <a:schemeClr val="tx2"/>
                </a:solidFill>
              </a:rPr>
              <a:t>No railway experiment, dataset or deployment has been performed yet. Railway work starts only after a validated full-field method exists.</a:t>
            </a:r>
            <a:endParaRPr lang="en-US" sz="14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lstStyle/>
          <a:p>
            <a:pPr algn="l" indent="0" marL="0">
              <a:buNone/>
            </a:pPr>
            <a:r>
              <a:rPr lang="en-US" sz="3200" b="1" dirty="0">
                <a:solidFill>
                  <a:schemeClr val="bg1"/>
                </a:solidFill>
                <a:latin typeface="Cambria" pitchFamily="34" charset="0"/>
                <a:ea typeface="Cambria" pitchFamily="34" charset="-122"/>
                <a:cs typeface="Cambria" pitchFamily="34" charset="-120"/>
              </a:rPr>
              <a:t>Takeaways</a:t>
            </a:r>
            <a:endParaRPr lang="en-US" sz="3200" dirty="0"/>
          </a:p>
        </p:txBody>
      </p:sp>
      <p:sp>
        <p:nvSpPr>
          <p:cNvPr id="3" name="Text 0"/>
          <p:cNvSpPr/>
          <p:nvPr>
            <p:ph idx="101" type="body" hasCustomPrompt="1"/>
          </p:nvPr>
        </p:nvSpPr>
        <p:spPr>
          <a:xfrm>
            <a:off x="640080" y="6382512"/>
            <a:ext cx="10424160" cy="329184"/>
          </a:xfrm>
          <a:prstGeom prst="rect">
            <a:avLst/>
          </a:prstGeom>
          <a:noFill/>
          <a:ln/>
        </p:spPr>
        <p:txBody>
          <a:bodyPr wrap="square" lIns="0" tIns="0" rIns="0" bIns="0" rtlCol="0" anchor="ctr"/>
          <a:lstStyle/>
          <a:p>
            <a:pPr algn="l" indent="0" marL="0">
              <a:buNone/>
            </a:pPr>
            <a:r>
              <a:rPr lang="en-US" sz="1000" dirty="0">
                <a:solidFill>
                  <a:srgbClr val="C9DCE6"/>
                </a:solidFill>
              </a:rPr>
              <a:t>Source: B2-E01–B2-E03 reports and CSVs; frozen baseline commit cdd87b5 · ROOT d31864a unchanged</a:t>
            </a:r>
            <a:endParaRPr lang="en-US" sz="1000" dirty="0"/>
          </a:p>
        </p:txBody>
      </p:sp>
      <p:sp>
        <p:nvSpPr>
          <p:cNvPr id="4" name="Shape 2"/>
          <p:cNvSpPr/>
          <p:nvPr/>
        </p:nvSpPr>
        <p:spPr>
          <a:xfrm>
            <a:off x="640080" y="1399032"/>
            <a:ext cx="640080" cy="640080"/>
          </a:xfrm>
          <a:prstGeom prst="ellipse">
            <a:avLst/>
          </a:prstGeom>
          <a:solidFill>
            <a:schemeClr val="accent1"/>
          </a:solidFill>
          <a:ln/>
        </p:spPr>
      </p:sp>
      <p:sp>
        <p:nvSpPr>
          <p:cNvPr id="5" name="Text 3"/>
          <p:cNvSpPr txBox="1"/>
          <p:nvPr/>
        </p:nvSpPr>
        <p:spPr>
          <a:xfrm>
            <a:off x="640080" y="1399032"/>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508760" y="1325880"/>
            <a:ext cx="10058400" cy="9144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We have not found the final optimized PINN yet.</a:t>
            </a:r>
            <a:endParaRPr lang="en-US" sz="2200" dirty="0"/>
          </a:p>
        </p:txBody>
      </p:sp>
      <p:sp>
        <p:nvSpPr>
          <p:cNvPr id="7" name="Shape 5"/>
          <p:cNvSpPr/>
          <p:nvPr/>
        </p:nvSpPr>
        <p:spPr>
          <a:xfrm>
            <a:off x="640080" y="2587752"/>
            <a:ext cx="640080" cy="640080"/>
          </a:xfrm>
          <a:prstGeom prst="ellipse">
            <a:avLst/>
          </a:prstGeom>
          <a:solidFill>
            <a:schemeClr val="accent1"/>
          </a:solidFill>
          <a:ln/>
        </p:spPr>
      </p:sp>
      <p:sp>
        <p:nvSpPr>
          <p:cNvPr id="8" name="Text 6"/>
          <p:cNvSpPr txBox="1"/>
          <p:nvPr/>
        </p:nvSpPr>
        <p:spPr>
          <a:xfrm>
            <a:off x="640080" y="2587752"/>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508760" y="2514600"/>
            <a:ext cx="10058400" cy="9144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We have ruled out several obvious explanations — precision, derivative order alone, collocation density, the L-BFGS switch alone — and identified a strong gap between temporal-only and coupled space–time learning.</a:t>
            </a:r>
            <a:endParaRPr lang="en-US" sz="1900" dirty="0"/>
          </a:p>
        </p:txBody>
      </p:sp>
      <p:sp>
        <p:nvSpPr>
          <p:cNvPr id="10" name="Shape 8"/>
          <p:cNvSpPr/>
          <p:nvPr/>
        </p:nvSpPr>
        <p:spPr>
          <a:xfrm>
            <a:off x="640080" y="3776472"/>
            <a:ext cx="640080" cy="640080"/>
          </a:xfrm>
          <a:prstGeom prst="ellipse">
            <a:avLst/>
          </a:prstGeom>
          <a:solidFill>
            <a:schemeClr val="accent1"/>
          </a:solidFill>
          <a:ln/>
        </p:spPr>
      </p:sp>
      <p:sp>
        <p:nvSpPr>
          <p:cNvPr id="11" name="Text 9"/>
          <p:cNvSpPr txBox="1"/>
          <p:nvPr/>
        </p:nvSpPr>
        <p:spPr>
          <a:xfrm>
            <a:off x="640080" y="3776472"/>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2" name="Text 10"/>
          <p:cNvSpPr txBox="1"/>
          <p:nvPr/>
        </p:nvSpPr>
        <p:spPr>
          <a:xfrm>
            <a:off x="1508760" y="3703320"/>
            <a:ext cx="10058400" cy="9144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The next breakthrough must improve the full-field solution, not merely the diagnostic modal problem.</a:t>
            </a:r>
            <a:endParaRPr lang="en-US" sz="2200" dirty="0"/>
          </a:p>
        </p:txBody>
      </p:sp>
      <p:sp>
        <p:nvSpPr>
          <p:cNvPr id="13" name="Text 11"/>
          <p:cNvSpPr txBox="1"/>
          <p:nvPr/>
        </p:nvSpPr>
        <p:spPr>
          <a:xfrm>
            <a:off x="640080" y="4937760"/>
            <a:ext cx="3657600" cy="320040"/>
          </a:xfrm>
          <a:prstGeom prst="rect">
            <a:avLst/>
          </a:prstGeom>
          <a:noFill/>
          <a:ln/>
        </p:spPr>
        <p:txBody>
          <a:bodyPr wrap="square" lIns="0" tIns="0" rIns="0" bIns="0" rtlCol="0" anchor="ctr"/>
          <a:lstStyle/>
          <a:p>
            <a:pPr indent="0" marL="0">
              <a:buNone/>
            </a:pPr>
            <a:r>
              <a:rPr lang="en-US" sz="1400" dirty="0">
                <a:solidFill>
                  <a:srgbClr val="C9DCE6"/>
                </a:solidFill>
              </a:rPr>
              <a:t>Research objective</a:t>
            </a:r>
            <a:endParaRPr lang="en-US" sz="1400" dirty="0"/>
          </a:p>
        </p:txBody>
      </p:sp>
      <p:sp>
        <p:nvSpPr>
          <p:cNvPr id="14" name="Shape 12"/>
          <p:cNvSpPr/>
          <p:nvPr/>
        </p:nvSpPr>
        <p:spPr>
          <a:xfrm>
            <a:off x="640080" y="5349240"/>
            <a:ext cx="2423160" cy="685800"/>
          </a:xfrm>
          <a:prstGeom prst="roundRect">
            <a:avLst>
              <a:gd name="adj" fmla="val 10667"/>
            </a:avLst>
          </a:prstGeom>
          <a:solidFill>
            <a:srgbClr val="14213D"/>
          </a:solidFill>
          <a:ln w="15875">
            <a:solidFill>
              <a:srgbClr val="7FC3DC"/>
            </a:solidFill>
            <a:prstDash val="solid"/>
          </a:ln>
        </p:spPr>
      </p:sp>
      <p:sp>
        <p:nvSpPr>
          <p:cNvPr id="15" name="Text 13"/>
          <p:cNvSpPr txBox="1"/>
          <p:nvPr/>
        </p:nvSpPr>
        <p:spPr>
          <a:xfrm>
            <a:off x="640080" y="5349240"/>
            <a:ext cx="2423160" cy="685800"/>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Lower error</a:t>
            </a:r>
            <a:endParaRPr lang="en-US" sz="1500" dirty="0"/>
          </a:p>
        </p:txBody>
      </p:sp>
      <p:sp>
        <p:nvSpPr>
          <p:cNvPr id="16" name="Text 14"/>
          <p:cNvSpPr txBox="1"/>
          <p:nvPr/>
        </p:nvSpPr>
        <p:spPr>
          <a:xfrm>
            <a:off x="3063240" y="5349240"/>
            <a:ext cx="320040" cy="685800"/>
          </a:xfrm>
          <a:prstGeom prst="rect">
            <a:avLst/>
          </a:prstGeom>
          <a:noFill/>
          <a:ln/>
        </p:spPr>
        <p:txBody>
          <a:bodyPr wrap="square" lIns="0" tIns="0" rIns="0" bIns="0" rtlCol="0" anchor="ctr"/>
          <a:lstStyle/>
          <a:p>
            <a:pPr algn="ctr" indent="0" marL="0">
              <a:buNone/>
            </a:pPr>
            <a:r>
              <a:rPr lang="en-US" sz="2000" b="1" dirty="0">
                <a:solidFill>
                  <a:srgbClr val="7FC3DC"/>
                </a:solidFill>
              </a:rPr>
              <a:t>+</a:t>
            </a:r>
            <a:endParaRPr lang="en-US" sz="2000" dirty="0"/>
          </a:p>
        </p:txBody>
      </p:sp>
      <p:sp>
        <p:nvSpPr>
          <p:cNvPr id="17" name="Shape 15"/>
          <p:cNvSpPr/>
          <p:nvPr/>
        </p:nvSpPr>
        <p:spPr>
          <a:xfrm>
            <a:off x="3383280" y="5349240"/>
            <a:ext cx="2423160" cy="685800"/>
          </a:xfrm>
          <a:prstGeom prst="roundRect">
            <a:avLst>
              <a:gd name="adj" fmla="val 10667"/>
            </a:avLst>
          </a:prstGeom>
          <a:solidFill>
            <a:srgbClr val="14213D"/>
          </a:solidFill>
          <a:ln w="15875">
            <a:solidFill>
              <a:srgbClr val="7FC3DC"/>
            </a:solidFill>
            <a:prstDash val="solid"/>
          </a:ln>
        </p:spPr>
      </p:sp>
      <p:sp>
        <p:nvSpPr>
          <p:cNvPr id="18" name="Text 16"/>
          <p:cNvSpPr txBox="1"/>
          <p:nvPr/>
        </p:nvSpPr>
        <p:spPr>
          <a:xfrm>
            <a:off x="3383280" y="5349240"/>
            <a:ext cx="2423160" cy="685800"/>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Longer physical fidelity</a:t>
            </a:r>
            <a:endParaRPr lang="en-US" sz="1500" dirty="0"/>
          </a:p>
        </p:txBody>
      </p:sp>
      <p:sp>
        <p:nvSpPr>
          <p:cNvPr id="19" name="Text 17"/>
          <p:cNvSpPr txBox="1"/>
          <p:nvPr/>
        </p:nvSpPr>
        <p:spPr>
          <a:xfrm>
            <a:off x="5806440" y="5349240"/>
            <a:ext cx="320040" cy="685800"/>
          </a:xfrm>
          <a:prstGeom prst="rect">
            <a:avLst/>
          </a:prstGeom>
          <a:noFill/>
          <a:ln/>
        </p:spPr>
        <p:txBody>
          <a:bodyPr wrap="square" lIns="0" tIns="0" rIns="0" bIns="0" rtlCol="0" anchor="ctr"/>
          <a:lstStyle/>
          <a:p>
            <a:pPr algn="ctr" indent="0" marL="0">
              <a:buNone/>
            </a:pPr>
            <a:r>
              <a:rPr lang="en-US" sz="2000" b="1" dirty="0">
                <a:solidFill>
                  <a:srgbClr val="7FC3DC"/>
                </a:solidFill>
              </a:rPr>
              <a:t>+</a:t>
            </a:r>
            <a:endParaRPr lang="en-US" sz="2000" dirty="0"/>
          </a:p>
        </p:txBody>
      </p:sp>
      <p:sp>
        <p:nvSpPr>
          <p:cNvPr id="20" name="Shape 18"/>
          <p:cNvSpPr/>
          <p:nvPr/>
        </p:nvSpPr>
        <p:spPr>
          <a:xfrm>
            <a:off x="6126480" y="5349240"/>
            <a:ext cx="2423160" cy="685800"/>
          </a:xfrm>
          <a:prstGeom prst="roundRect">
            <a:avLst>
              <a:gd name="adj" fmla="val 10667"/>
            </a:avLst>
          </a:prstGeom>
          <a:solidFill>
            <a:srgbClr val="14213D"/>
          </a:solidFill>
          <a:ln w="15875">
            <a:solidFill>
              <a:srgbClr val="7FC3DC"/>
            </a:solidFill>
            <a:prstDash val="solid"/>
          </a:ln>
        </p:spPr>
      </p:sp>
      <p:sp>
        <p:nvSpPr>
          <p:cNvPr id="21" name="Text 19"/>
          <p:cNvSpPr txBox="1"/>
          <p:nvPr/>
        </p:nvSpPr>
        <p:spPr>
          <a:xfrm>
            <a:off x="6126480" y="5349240"/>
            <a:ext cx="2423160" cy="685800"/>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Less compute</a:t>
            </a:r>
            <a:endParaRPr lang="en-US" sz="1500" dirty="0"/>
          </a:p>
        </p:txBody>
      </p:sp>
      <p:sp>
        <p:nvSpPr>
          <p:cNvPr id="22" name="Text 20"/>
          <p:cNvSpPr txBox="1"/>
          <p:nvPr/>
        </p:nvSpPr>
        <p:spPr>
          <a:xfrm>
            <a:off x="8549640" y="5349240"/>
            <a:ext cx="320040" cy="685800"/>
          </a:xfrm>
          <a:prstGeom prst="rect">
            <a:avLst/>
          </a:prstGeom>
          <a:noFill/>
          <a:ln/>
        </p:spPr>
        <p:txBody>
          <a:bodyPr wrap="square" lIns="0" tIns="0" rIns="0" bIns="0" rtlCol="0" anchor="ctr"/>
          <a:lstStyle/>
          <a:p>
            <a:pPr algn="ctr" indent="0" marL="0">
              <a:buNone/>
            </a:pPr>
            <a:r>
              <a:rPr lang="en-US" sz="2000" b="1" dirty="0">
                <a:solidFill>
                  <a:srgbClr val="7FC3DC"/>
                </a:solidFill>
              </a:rPr>
              <a:t>+</a:t>
            </a:r>
            <a:endParaRPr lang="en-US" sz="2000" dirty="0"/>
          </a:p>
        </p:txBody>
      </p:sp>
      <p:sp>
        <p:nvSpPr>
          <p:cNvPr id="23" name="Shape 21"/>
          <p:cNvSpPr/>
          <p:nvPr/>
        </p:nvSpPr>
        <p:spPr>
          <a:xfrm>
            <a:off x="8869680" y="5349240"/>
            <a:ext cx="2423160" cy="685800"/>
          </a:xfrm>
          <a:prstGeom prst="roundRect">
            <a:avLst>
              <a:gd name="adj" fmla="val 10667"/>
            </a:avLst>
          </a:prstGeom>
          <a:solidFill>
            <a:srgbClr val="14213D"/>
          </a:solidFill>
          <a:ln w="15875">
            <a:solidFill>
              <a:srgbClr val="7FC3DC"/>
            </a:solidFill>
            <a:prstDash val="solid"/>
          </a:ln>
        </p:spPr>
      </p:sp>
      <p:sp>
        <p:nvSpPr>
          <p:cNvPr id="24" name="Text 22"/>
          <p:cNvSpPr txBox="1"/>
          <p:nvPr/>
        </p:nvSpPr>
        <p:spPr>
          <a:xfrm>
            <a:off x="8869680" y="5349240"/>
            <a:ext cx="2423160" cy="685800"/>
          </a:xfrm>
          <a:prstGeom prst="rect">
            <a:avLst/>
          </a:prstGeom>
          <a:noFill/>
          <a:ln/>
        </p:spPr>
        <p:txBody>
          <a:bodyPr wrap="square" lIns="25400" tIns="25400" rIns="25400" bIns="25400" rtlCol="0" anchor="ctr"/>
          <a:lstStyle/>
          <a:p>
            <a:pPr algn="ctr" indent="0" marL="0">
              <a:buNone/>
            </a:pPr>
            <a:r>
              <a:rPr lang="en-US" sz="1500" b="1" dirty="0">
                <a:solidFill>
                  <a:schemeClr val="bg1"/>
                </a:solidFill>
              </a:rPr>
              <a:t>Transfer to railway physics</a:t>
            </a:r>
            <a:endParaRPr lang="en-US" sz="1500" dirty="0"/>
          </a:p>
        </p:txBody>
      </p:sp>
      <p:sp>
        <p:nvSpPr>
          <p:cNvPr id="25" name="Slide Number Placeholder 0"/>
          <p:cNvSpPr>
            <a:spLocks noGrp="1"/>
          </p:cNvSpPr>
          <p:nvPr>
            <p:ph type="sldNum" sz="quarter" idx="4294967295"/>
          </p:nvPr>
        </p:nvSpPr>
        <p:spPr>
          <a:xfrm>
            <a:off x="11292840" y="6382512"/>
            <a:ext cx="365760" cy="329184"/>
          </a:xfrm>
          <a:prstGeom prst="rect">
            <a:avLst/>
          </a:prstGeom>
          <a:extLst>
            <a:ext uri="{C572A759-6A51-4108-AA02-DFA0A04FC94B}">
              <ma14:wrappingTextBoxFlag xmlns:ma14="http://schemas.microsoft.com/office/mac/drawingml/2011/main" val="0"/>
            </a:ext>
          </a:extLst>
        </p:spPr>
        <p:txBody>
          <a:bodyPr/>
          <a:lstStyle>
            <a:lvl1pPr>
              <a:defRPr sz="1000">
                <a:solidFill>
                  <a:srgbClr val="C9DCE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INN-RP Engineering">
  <a:themeElements>
    <a:clrScheme name="PINN-RP Engineering">
      <a:dk1>
        <a:srgbClr val="1B2430"/>
      </a:dk1>
      <a:lt1>
        <a:srgbClr val="FFFFFF"/>
      </a:lt1>
      <a:dk2>
        <a:srgbClr val="14213D"/>
      </a:dk2>
      <a:lt2>
        <a:srgbClr val="EEF2F5"/>
      </a:lt2>
      <a:accent1>
        <a:srgbClr val="1F6F8B"/>
      </a:accent1>
      <a:accent2>
        <a:srgbClr val="2E7D5B"/>
      </a:accent2>
      <a:accent3>
        <a:srgbClr val="B7791F"/>
      </a:accent3>
      <a:accent4>
        <a:srgbClr val="B03A2E"/>
      </a:accent4>
      <a:accent5>
        <a:srgbClr val="5E6B7A"/>
      </a:accent5>
      <a:accent6>
        <a:srgbClr val="7FA7BA"/>
      </a:accent6>
      <a:hlink>
        <a:srgbClr val="1F6F8B"/>
      </a:hlink>
      <a:folHlink>
        <a:srgbClr val="5E6B7A"/>
      </a:folHlink>
    </a:clrScheme>
    <a:fontScheme name="PINN-RP Engineer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a Compute-Efficient Physics-Informed Neural Network</dc:title>
  <dc:subject>Research progress report (completed work through B2-E03, commit cdd87b5)</dc:subject>
  <dc:creator>PINN-RP</dc:creator>
  <cp:lastModifiedBy>PINN-RP</cp:lastModifiedBy>
  <cp:revision>1</cp:revision>
  <dcterms:created xsi:type="dcterms:W3CDTF">2026-10-08T04:52:25Z</dcterms:created>
  <dcterms:modified xsi:type="dcterms:W3CDTF">2026-10-08T04:52:25Z</dcterms:modified>
</cp:coreProperties>
</file>